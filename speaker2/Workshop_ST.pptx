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9" r:id="rId4"/>
  </p:sldMasterIdLst>
  <p:notesMasterIdLst>
    <p:notesMasterId r:id="rId39"/>
  </p:notesMasterIdLst>
  <p:sldIdLst>
    <p:sldId id="256" r:id="rId5"/>
    <p:sldId id="283" r:id="rId6"/>
    <p:sldId id="293" r:id="rId7"/>
    <p:sldId id="274" r:id="rId8"/>
    <p:sldId id="309" r:id="rId9"/>
    <p:sldId id="295" r:id="rId10"/>
    <p:sldId id="305" r:id="rId11"/>
    <p:sldId id="296" r:id="rId12"/>
    <p:sldId id="327" r:id="rId13"/>
    <p:sldId id="312" r:id="rId14"/>
    <p:sldId id="313" r:id="rId15"/>
    <p:sldId id="298" r:id="rId16"/>
    <p:sldId id="315" r:id="rId17"/>
    <p:sldId id="316" r:id="rId18"/>
    <p:sldId id="272" r:id="rId19"/>
    <p:sldId id="314" r:id="rId20"/>
    <p:sldId id="318" r:id="rId21"/>
    <p:sldId id="311" r:id="rId22"/>
    <p:sldId id="323" r:id="rId23"/>
    <p:sldId id="320" r:id="rId24"/>
    <p:sldId id="297" r:id="rId25"/>
    <p:sldId id="326" r:id="rId26"/>
    <p:sldId id="319" r:id="rId27"/>
    <p:sldId id="321" r:id="rId28"/>
    <p:sldId id="263" r:id="rId29"/>
    <p:sldId id="325" r:id="rId30"/>
    <p:sldId id="260" r:id="rId31"/>
    <p:sldId id="324" r:id="rId32"/>
    <p:sldId id="269" r:id="rId33"/>
    <p:sldId id="328" r:id="rId34"/>
    <p:sldId id="292" r:id="rId35"/>
    <p:sldId id="262" r:id="rId36"/>
    <p:sldId id="258" r:id="rId37"/>
    <p:sldId id="310"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C46F505-54D9-4445-9A38-C855C69AD50C}">
          <p14:sldIdLst>
            <p14:sldId id="256"/>
            <p14:sldId id="283"/>
            <p14:sldId id="293"/>
            <p14:sldId id="274"/>
            <p14:sldId id="309"/>
            <p14:sldId id="295"/>
            <p14:sldId id="305"/>
            <p14:sldId id="296"/>
            <p14:sldId id="327"/>
          </p14:sldIdLst>
        </p14:section>
        <p14:section name="Workshop" id="{3663CA86-3765-1A45-9B63-A97EAE06C2FD}">
          <p14:sldIdLst>
            <p14:sldId id="312"/>
            <p14:sldId id="313"/>
            <p14:sldId id="298"/>
            <p14:sldId id="315"/>
            <p14:sldId id="316"/>
            <p14:sldId id="272"/>
            <p14:sldId id="314"/>
            <p14:sldId id="318"/>
            <p14:sldId id="311"/>
            <p14:sldId id="323"/>
            <p14:sldId id="320"/>
            <p14:sldId id="297"/>
            <p14:sldId id="326"/>
            <p14:sldId id="319"/>
            <p14:sldId id="321"/>
            <p14:sldId id="263"/>
            <p14:sldId id="325"/>
            <p14:sldId id="260"/>
            <p14:sldId id="324"/>
            <p14:sldId id="269"/>
            <p14:sldId id="328"/>
            <p14:sldId id="292"/>
            <p14:sldId id="262"/>
            <p14:sldId id="258"/>
            <p14:sldId id="31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D2129"/>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854" autoAdjust="0"/>
    <p:restoredTop sz="82388" autoAdjust="0"/>
  </p:normalViewPr>
  <p:slideViewPr>
    <p:cSldViewPr snapToGrid="0">
      <p:cViewPr>
        <p:scale>
          <a:sx n="62" d="100"/>
          <a:sy n="62" d="100"/>
        </p:scale>
        <p:origin x="2384" y="1464"/>
      </p:cViewPr>
      <p:guideLst/>
    </p:cSldViewPr>
  </p:slideViewPr>
  <p:notesTextViewPr>
    <p:cViewPr>
      <p:scale>
        <a:sx n="95" d="100"/>
        <a:sy n="95"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notesMaster" Target="notesMasters/notes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1A02B67-C242-444E-96AC-45A5A282E831}" type="datetimeFigureOut">
              <a:rPr lang="en-SG" smtClean="0"/>
              <a:t>16/3/26</a:t>
            </a:fld>
            <a:endParaRPr lang="en-SG"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0E04DD9-733F-4347-B3BE-CD54B8750232}" type="slidenum">
              <a:rPr lang="en-SG" smtClean="0"/>
              <a:t>‹#›</a:t>
            </a:fld>
            <a:endParaRPr lang="en-SG" dirty="0"/>
          </a:p>
        </p:txBody>
      </p:sp>
    </p:spTree>
    <p:extLst>
      <p:ext uri="{BB962C8B-B14F-4D97-AF65-F5344CB8AC3E}">
        <p14:creationId xmlns:p14="http://schemas.microsoft.com/office/powerpoint/2010/main" val="39201626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Snijders and </a:t>
            </a:r>
            <a:r>
              <a:rPr lang="en-SG" dirty="0" err="1"/>
              <a:t>bokers</a:t>
            </a:r>
            <a:r>
              <a:rPr lang="en-SG" dirty="0"/>
              <a:t> 20</a:t>
            </a:r>
          </a:p>
          <a:p>
            <a:endParaRPr lang="en-SG" dirty="0"/>
          </a:p>
          <a:p>
            <a:r>
              <a:rPr lang="en-SG" dirty="0"/>
              <a:t>Median odds ratio </a:t>
            </a:r>
            <a:r>
              <a:rPr lang="en-SG" dirty="0" err="1"/>
              <a:t>merlo</a:t>
            </a:r>
            <a:r>
              <a:rPr lang="en-SG" dirty="0"/>
              <a:t> 2006</a:t>
            </a:r>
          </a:p>
        </p:txBody>
      </p:sp>
      <p:sp>
        <p:nvSpPr>
          <p:cNvPr id="4" name="Slide Number Placeholder 3"/>
          <p:cNvSpPr>
            <a:spLocks noGrp="1"/>
          </p:cNvSpPr>
          <p:nvPr>
            <p:ph type="sldNum" sz="quarter" idx="5"/>
          </p:nvPr>
        </p:nvSpPr>
        <p:spPr/>
        <p:txBody>
          <a:bodyPr/>
          <a:lstStyle/>
          <a:p>
            <a:fld id="{90E04DD9-733F-4347-B3BE-CD54B8750232}" type="slidenum">
              <a:rPr lang="en-SG" smtClean="0"/>
              <a:t>2</a:t>
            </a:fld>
            <a:endParaRPr lang="en-SG"/>
          </a:p>
        </p:txBody>
      </p:sp>
    </p:spTree>
    <p:extLst>
      <p:ext uri="{BB962C8B-B14F-4D97-AF65-F5344CB8AC3E}">
        <p14:creationId xmlns:p14="http://schemas.microsoft.com/office/powerpoint/2010/main" val="10676888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SG" sz="1200" dirty="0">
              <a:solidFill>
                <a:schemeClr val="bg1"/>
              </a:solidFill>
              <a:latin typeface="Times-Roman"/>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E04DD9-733F-4347-B3BE-CD54B8750232}" type="slidenum">
              <a:rPr kumimoji="0" lang="en-SG"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SG"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975529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90E04DD9-733F-4347-B3BE-CD54B8750232}" type="slidenum">
              <a:rPr lang="en-SG" smtClean="0"/>
              <a:t>4</a:t>
            </a:fld>
            <a:endParaRPr lang="en-SG"/>
          </a:p>
        </p:txBody>
      </p:sp>
    </p:spTree>
    <p:extLst>
      <p:ext uri="{BB962C8B-B14F-4D97-AF65-F5344CB8AC3E}">
        <p14:creationId xmlns:p14="http://schemas.microsoft.com/office/powerpoint/2010/main" val="22034795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98FAFA-E0F5-6DB3-5A86-33FF16F609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71BB6E-163B-5300-4882-61E6140C04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A01A52-9319-8B99-A52A-CFCF7BEDEB06}"/>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663D1A49-4B23-FC88-BA3F-B2D6F267175E}"/>
              </a:ext>
            </a:extLst>
          </p:cNvPr>
          <p:cNvSpPr>
            <a:spLocks noGrp="1"/>
          </p:cNvSpPr>
          <p:nvPr>
            <p:ph type="sldNum" sz="quarter" idx="5"/>
          </p:nvPr>
        </p:nvSpPr>
        <p:spPr/>
        <p:txBody>
          <a:bodyPr/>
          <a:lstStyle/>
          <a:p>
            <a:fld id="{90E04DD9-733F-4347-B3BE-CD54B8750232}" type="slidenum">
              <a:rPr lang="en-SG" smtClean="0"/>
              <a:t>5</a:t>
            </a:fld>
            <a:endParaRPr lang="en-SG"/>
          </a:p>
        </p:txBody>
      </p:sp>
    </p:spTree>
    <p:extLst>
      <p:ext uri="{BB962C8B-B14F-4D97-AF65-F5344CB8AC3E}">
        <p14:creationId xmlns:p14="http://schemas.microsoft.com/office/powerpoint/2010/main" val="24128896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But what if we now consider a third factor, sugar consumption?</a:t>
            </a:r>
            <a:br>
              <a:rPr lang="en-SG" dirty="0"/>
            </a:br>
            <a:r>
              <a:rPr lang="en-SG" dirty="0"/>
              <a:t>We know that income is associated with dental caries, but does sugar consumption, that varies based on income status, make a difference? </a:t>
            </a:r>
          </a:p>
          <a:p>
            <a:r>
              <a:rPr lang="en-SG" dirty="0"/>
              <a:t>And how much of the effect goes through this mediated pathway?</a:t>
            </a:r>
          </a:p>
          <a:p>
            <a:endParaRPr lang="en-SG" dirty="0"/>
          </a:p>
          <a:p>
            <a:r>
              <a:rPr lang="en-SG" dirty="0"/>
              <a:t>Higher income, buy less junk food</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E04DD9-733F-4347-B3BE-CD54B8750232}" type="slidenum">
              <a:rPr kumimoji="0" lang="en-SG"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SG"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128041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F2653A-34CE-CF99-5D2C-A6085EE108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6F6278-34D7-8771-A770-647E8369368C}"/>
              </a:ext>
            </a:extLst>
          </p:cNvPr>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a:extLst>
                  <a:ext uri="{FF2B5EF4-FFF2-40B4-BE49-F238E27FC236}">
                    <a16:creationId xmlns:a16="http://schemas.microsoft.com/office/drawing/2014/main" id="{7B879B9F-5788-FE4B-4B49-A9521B0CB8FA}"/>
                  </a:ext>
                </a:extLst>
              </p:cNvPr>
              <p:cNvSpPr>
                <a:spLocks noGrp="1"/>
              </p:cNvSpPr>
              <p:nvPr>
                <p:ph type="body" idx="1"/>
              </p:nvPr>
            </p:nvSpPr>
            <p:spPr/>
            <p:txBody>
              <a:bodyPr/>
              <a:lstStyle/>
              <a:p>
                <a:r>
                  <a:rPr lang="en-SG" sz="1200" b="0" i="0" u="none" strike="noStrike" kern="1200" dirty="0">
                    <a:solidFill>
                      <a:schemeClr val="tx1"/>
                    </a:solidFill>
                    <a:effectLst/>
                    <a:latin typeface="+mn-lt"/>
                    <a:ea typeface="+mn-ea"/>
                    <a:cs typeface="+mn-cs"/>
                  </a:rPr>
                  <a:t>Causal mediation is used when you don’t just want to know </a:t>
                </a:r>
                <a:r>
                  <a:rPr lang="en-SG" sz="1200" b="1" i="0" u="none" strike="noStrike" kern="1200" dirty="0">
                    <a:solidFill>
                      <a:schemeClr val="tx1"/>
                    </a:solidFill>
                    <a:effectLst/>
                    <a:latin typeface="+mn-lt"/>
                    <a:ea typeface="+mn-ea"/>
                    <a:cs typeface="+mn-cs"/>
                  </a:rPr>
                  <a:t>whether</a:t>
                </a:r>
                <a:r>
                  <a:rPr lang="en-SG" sz="1200" b="0" i="0" u="none" strike="noStrike" kern="1200" dirty="0">
                    <a:solidFill>
                      <a:schemeClr val="tx1"/>
                    </a:solidFill>
                    <a:effectLst/>
                    <a:latin typeface="+mn-lt"/>
                    <a:ea typeface="+mn-ea"/>
                    <a:cs typeface="+mn-cs"/>
                  </a:rPr>
                  <a:t> </a:t>
                </a:r>
                <a14:m>
                  <m:oMath xmlns:m="http://schemas.openxmlformats.org/officeDocument/2006/math">
                    <m:r>
                      <a:rPr lang="en-SG" sz="1200" i="1" kern="1200">
                        <a:solidFill>
                          <a:schemeClr val="tx1"/>
                        </a:solidFill>
                        <a:latin typeface="+mn-lt"/>
                        <a:ea typeface="+mn-ea"/>
                        <a:cs typeface="+mn-cs"/>
                      </a:rPr>
                      <m:t>𝑋</m:t>
                    </m:r>
                  </m:oMath>
                </a14:m>
                <a:r>
                  <a:rPr lang="en-SG" sz="1200" b="0" i="0" u="none" strike="noStrike" kern="1200" dirty="0">
                    <a:solidFill>
                      <a:schemeClr val="tx1"/>
                    </a:solidFill>
                    <a:effectLst/>
                    <a:latin typeface="+mn-lt"/>
                    <a:ea typeface="+mn-ea"/>
                    <a:cs typeface="+mn-cs"/>
                  </a:rPr>
                  <a:t> affects </a:t>
                </a:r>
                <a14:m>
                  <m:oMath xmlns:m="http://schemas.openxmlformats.org/officeDocument/2006/math">
                    <m:r>
                      <a:rPr lang="en-SG" sz="1200" i="1" kern="1200">
                        <a:solidFill>
                          <a:schemeClr val="tx1"/>
                        </a:solidFill>
                        <a:latin typeface="+mn-lt"/>
                        <a:ea typeface="+mn-ea"/>
                        <a:cs typeface="+mn-cs"/>
                      </a:rPr>
                      <m:t>𝑌</m:t>
                    </m:r>
                  </m:oMath>
                </a14:m>
                <a:r>
                  <a:rPr lang="en-SG" sz="1200" b="0" i="0" u="none" strike="noStrike" kern="1200" dirty="0">
                    <a:solidFill>
                      <a:schemeClr val="tx1"/>
                    </a:solidFill>
                    <a:effectLst/>
                    <a:latin typeface="+mn-lt"/>
                    <a:ea typeface="+mn-ea"/>
                    <a:cs typeface="+mn-cs"/>
                  </a:rPr>
                  <a:t>, but </a:t>
                </a:r>
                <a:r>
                  <a:rPr lang="en-SG" sz="1200" b="1" i="0" u="none" strike="noStrike" kern="1200" dirty="0">
                    <a:solidFill>
                      <a:schemeClr val="tx1"/>
                    </a:solidFill>
                    <a:effectLst/>
                    <a:latin typeface="+mn-lt"/>
                    <a:ea typeface="+mn-ea"/>
                    <a:cs typeface="+mn-cs"/>
                  </a:rPr>
                  <a:t>how</a:t>
                </a:r>
                <a:r>
                  <a:rPr lang="en-SG" sz="1200" b="0" i="0" u="none" strike="noStrike" kern="1200" dirty="0">
                    <a:solidFill>
                      <a:schemeClr val="tx1"/>
                    </a:solidFill>
                    <a:effectLst/>
                    <a:latin typeface="+mn-lt"/>
                    <a:ea typeface="+mn-ea"/>
                    <a:cs typeface="+mn-cs"/>
                  </a:rPr>
                  <a:t> and </a:t>
                </a:r>
                <a:r>
                  <a:rPr lang="en-SG" sz="1200" b="1" i="0" u="none" strike="noStrike" kern="1200" dirty="0">
                    <a:solidFill>
                      <a:schemeClr val="tx1"/>
                    </a:solidFill>
                    <a:effectLst/>
                    <a:latin typeface="+mn-lt"/>
                    <a:ea typeface="+mn-ea"/>
                    <a:cs typeface="+mn-cs"/>
                  </a:rPr>
                  <a:t>through what pathway</a:t>
                </a:r>
                <a:r>
                  <a:rPr lang="en-SG" sz="1200" b="0" i="0" u="none" strike="noStrike" kern="1200" dirty="0">
                    <a:solidFill>
                      <a:schemeClr val="tx1"/>
                    </a:solidFill>
                    <a:effectLst/>
                    <a:latin typeface="+mn-lt"/>
                    <a:ea typeface="+mn-ea"/>
                    <a:cs typeface="+mn-cs"/>
                  </a:rPr>
                  <a:t> the effect happens—specifically, how much of the effect operates through a mediator </a:t>
                </a:r>
                <a14:m>
                  <m:oMath xmlns:m="http://schemas.openxmlformats.org/officeDocument/2006/math">
                    <m:r>
                      <a:rPr lang="en-SG" sz="1200" i="1" kern="1200">
                        <a:solidFill>
                          <a:schemeClr val="tx1"/>
                        </a:solidFill>
                        <a:latin typeface="+mn-lt"/>
                        <a:ea typeface="+mn-ea"/>
                        <a:cs typeface="+mn-cs"/>
                      </a:rPr>
                      <m:t>𝑀</m:t>
                    </m:r>
                  </m:oMath>
                </a14:m>
                <a:r>
                  <a:rPr lang="en-SG" sz="1200" b="0" i="0" u="none" strike="noStrike" kern="1200" dirty="0">
                    <a:solidFill>
                      <a:schemeClr val="tx1"/>
                    </a:solidFill>
                    <a:effectLst/>
                    <a:latin typeface="+mn-lt"/>
                    <a:ea typeface="+mn-ea"/>
                    <a:cs typeface="+mn-cs"/>
                  </a:rPr>
                  <a:t>.</a:t>
                </a:r>
              </a:p>
              <a:p>
                <a:r>
                  <a:rPr lang="en-SG" sz="1200" b="0" i="0" u="none" strike="noStrike" kern="1200" dirty="0">
                    <a:solidFill>
                      <a:schemeClr val="tx1"/>
                    </a:solidFill>
                    <a:effectLst/>
                    <a:latin typeface="+mn-lt"/>
                    <a:ea typeface="+mn-ea"/>
                    <a:cs typeface="+mn-cs"/>
                  </a:rPr>
                  <a:t>Why use causal mediation (what it gives you)</a:t>
                </a:r>
              </a:p>
              <a:p>
                <a:r>
                  <a:rPr lang="en-SG" sz="1200" b="1" i="0" u="none" strike="noStrike" kern="1200" dirty="0">
                    <a:solidFill>
                      <a:schemeClr val="tx1"/>
                    </a:solidFill>
                    <a:effectLst/>
                    <a:latin typeface="+mn-lt"/>
                    <a:ea typeface="+mn-ea"/>
                    <a:cs typeface="+mn-cs"/>
                  </a:rPr>
                  <a:t>Mechanism / explanation</a:t>
                </a:r>
                <a:endParaRPr lang="en-SG" sz="1200" b="0" i="0" u="none" strike="noStrike" kern="1200" dirty="0">
                  <a:solidFill>
                    <a:schemeClr val="tx1"/>
                  </a:solidFill>
                  <a:effectLst/>
                  <a:latin typeface="+mn-lt"/>
                  <a:ea typeface="+mn-ea"/>
                  <a:cs typeface="+mn-cs"/>
                </a:endParaRPr>
              </a:p>
              <a:p>
                <a:pPr lvl="1"/>
                <a:r>
                  <a:rPr lang="en-SG" sz="1200" b="0" i="0" u="none" strike="noStrike" kern="1200" dirty="0">
                    <a:solidFill>
                      <a:schemeClr val="tx1"/>
                    </a:solidFill>
                    <a:effectLst/>
                    <a:latin typeface="+mn-lt"/>
                    <a:ea typeface="+mn-ea"/>
                    <a:cs typeface="+mn-cs"/>
                  </a:rPr>
                  <a:t>It decomposes the total causal effect of </a:t>
                </a:r>
                <a14:m>
                  <m:oMath xmlns:m="http://schemas.openxmlformats.org/officeDocument/2006/math">
                    <m:r>
                      <a:rPr lang="en-SG" sz="1200" i="1" kern="1200">
                        <a:solidFill>
                          <a:schemeClr val="tx1"/>
                        </a:solidFill>
                        <a:latin typeface="+mn-lt"/>
                        <a:ea typeface="+mn-ea"/>
                        <a:cs typeface="+mn-cs"/>
                      </a:rPr>
                      <m:t>𝑋</m:t>
                    </m:r>
                  </m:oMath>
                </a14:m>
                <a:r>
                  <a:rPr lang="en-SG" sz="1200" b="0" i="0" u="none" strike="noStrike" kern="1200" dirty="0">
                    <a:solidFill>
                      <a:schemeClr val="tx1"/>
                    </a:solidFill>
                    <a:effectLst/>
                    <a:latin typeface="+mn-lt"/>
                    <a:ea typeface="+mn-ea"/>
                    <a:cs typeface="+mn-cs"/>
                  </a:rPr>
                  <a:t> on </a:t>
                </a:r>
                <a14:m>
                  <m:oMath xmlns:m="http://schemas.openxmlformats.org/officeDocument/2006/math">
                    <m:r>
                      <a:rPr lang="en-SG" sz="1200" i="1" kern="1200">
                        <a:solidFill>
                          <a:schemeClr val="tx1"/>
                        </a:solidFill>
                        <a:latin typeface="+mn-lt"/>
                        <a:ea typeface="+mn-ea"/>
                        <a:cs typeface="+mn-cs"/>
                      </a:rPr>
                      <m:t>𝑌</m:t>
                    </m:r>
                  </m:oMath>
                </a14:m>
                <a:r>
                  <a:rPr lang="en-SG" sz="1200" b="0" i="0" u="none" strike="noStrike" kern="1200" dirty="0">
                    <a:solidFill>
                      <a:schemeClr val="tx1"/>
                    </a:solidFill>
                    <a:effectLst/>
                    <a:latin typeface="+mn-lt"/>
                    <a:ea typeface="+mn-ea"/>
                    <a:cs typeface="+mn-cs"/>
                  </a:rPr>
                  <a:t> into:</a:t>
                </a:r>
              </a:p>
              <a:p>
                <a:pPr lvl="2"/>
                <a:r>
                  <a:rPr lang="en-SG" sz="1200" b="0" i="0" u="none" strike="noStrike" kern="1200" dirty="0">
                    <a:solidFill>
                      <a:schemeClr val="tx1"/>
                    </a:solidFill>
                    <a:effectLst/>
                    <a:latin typeface="+mn-lt"/>
                    <a:ea typeface="+mn-ea"/>
                    <a:cs typeface="+mn-cs"/>
                  </a:rPr>
                  <a:t>an </a:t>
                </a:r>
                <a:r>
                  <a:rPr lang="en-SG" sz="1200" b="1" i="0" u="none" strike="noStrike" kern="1200" dirty="0">
                    <a:solidFill>
                      <a:schemeClr val="tx1"/>
                    </a:solidFill>
                    <a:effectLst/>
                    <a:latin typeface="+mn-lt"/>
                    <a:ea typeface="+mn-ea"/>
                    <a:cs typeface="+mn-cs"/>
                  </a:rPr>
                  <a:t>indirect effect</a:t>
                </a:r>
                <a:r>
                  <a:rPr lang="en-SG" sz="1200" b="0" i="0" u="none" strike="noStrike" kern="1200" dirty="0">
                    <a:solidFill>
                      <a:schemeClr val="tx1"/>
                    </a:solidFill>
                    <a:effectLst/>
                    <a:latin typeface="+mn-lt"/>
                    <a:ea typeface="+mn-ea"/>
                    <a:cs typeface="+mn-cs"/>
                  </a:rPr>
                  <a:t> (through </a:t>
                </a:r>
                <a14:m>
                  <m:oMath xmlns:m="http://schemas.openxmlformats.org/officeDocument/2006/math">
                    <m:r>
                      <a:rPr lang="en-SG" sz="1200" i="1" kern="1200">
                        <a:solidFill>
                          <a:schemeClr val="tx1"/>
                        </a:solidFill>
                        <a:latin typeface="+mn-lt"/>
                        <a:ea typeface="+mn-ea"/>
                        <a:cs typeface="+mn-cs"/>
                      </a:rPr>
                      <m:t>𝑀</m:t>
                    </m:r>
                  </m:oMath>
                </a14:m>
                <a:r>
                  <a:rPr lang="en-SG" sz="1200" b="0" i="0" u="none" strike="noStrike" kern="1200" dirty="0">
                    <a:solidFill>
                      <a:schemeClr val="tx1"/>
                    </a:solidFill>
                    <a:effectLst/>
                    <a:latin typeface="+mn-lt"/>
                    <a:ea typeface="+mn-ea"/>
                    <a:cs typeface="+mn-cs"/>
                  </a:rPr>
                  <a:t>)</a:t>
                </a:r>
              </a:p>
              <a:p>
                <a:pPr lvl="2"/>
                <a:r>
                  <a:rPr lang="en-SG" sz="1200" b="0" i="0" u="none" strike="noStrike" kern="1200" dirty="0">
                    <a:solidFill>
                      <a:schemeClr val="tx1"/>
                    </a:solidFill>
                    <a:effectLst/>
                    <a:latin typeface="+mn-lt"/>
                    <a:ea typeface="+mn-ea"/>
                    <a:cs typeface="+mn-cs"/>
                  </a:rPr>
                  <a:t>a </a:t>
                </a:r>
                <a:r>
                  <a:rPr lang="en-SG" sz="1200" b="1" i="0" u="none" strike="noStrike" kern="1200" dirty="0">
                    <a:solidFill>
                      <a:schemeClr val="tx1"/>
                    </a:solidFill>
                    <a:effectLst/>
                    <a:latin typeface="+mn-lt"/>
                    <a:ea typeface="+mn-ea"/>
                    <a:cs typeface="+mn-cs"/>
                  </a:rPr>
                  <a:t>direct effect</a:t>
                </a:r>
                <a:r>
                  <a:rPr lang="en-SG" sz="1200" b="0" i="0" u="none" strike="noStrike" kern="1200" dirty="0">
                    <a:solidFill>
                      <a:schemeClr val="tx1"/>
                    </a:solidFill>
                    <a:effectLst/>
                    <a:latin typeface="+mn-lt"/>
                    <a:ea typeface="+mn-ea"/>
                    <a:cs typeface="+mn-cs"/>
                  </a:rPr>
                  <a:t> (through other pathways)</a:t>
                </a:r>
              </a:p>
              <a:p>
                <a:pPr lvl="1"/>
                <a:r>
                  <a:rPr lang="en-SG" sz="1200" b="0" i="0" u="none" strike="noStrike" kern="1200" dirty="0">
                    <a:solidFill>
                      <a:schemeClr val="tx1"/>
                    </a:solidFill>
                    <a:effectLst/>
                    <a:latin typeface="+mn-lt"/>
                    <a:ea typeface="+mn-ea"/>
                    <a:cs typeface="+mn-cs"/>
                  </a:rPr>
                  <a:t>This answers questions like: “Is the intervention working because it changes </a:t>
                </a:r>
                <a14:m>
                  <m:oMath xmlns:m="http://schemas.openxmlformats.org/officeDocument/2006/math">
                    <m:r>
                      <a:rPr lang="en-SG" sz="1200" i="1" kern="1200">
                        <a:solidFill>
                          <a:schemeClr val="tx1"/>
                        </a:solidFill>
                        <a:latin typeface="+mn-lt"/>
                        <a:ea typeface="+mn-ea"/>
                        <a:cs typeface="+mn-cs"/>
                      </a:rPr>
                      <m:t>𝑀</m:t>
                    </m:r>
                  </m:oMath>
                </a14:m>
                <a:r>
                  <a:rPr lang="en-SG" sz="1200" b="0" i="0" u="none" strike="noStrike" kern="1200" dirty="0">
                    <a:solidFill>
                      <a:schemeClr val="tx1"/>
                    </a:solidFill>
                    <a:effectLst/>
                    <a:latin typeface="+mn-lt"/>
                    <a:ea typeface="+mn-ea"/>
                    <a:cs typeface="+mn-cs"/>
                  </a:rPr>
                  <a:t>, or despite </a:t>
                </a:r>
                <a14:m>
                  <m:oMath xmlns:m="http://schemas.openxmlformats.org/officeDocument/2006/math">
                    <m:r>
                      <a:rPr lang="en-SG" sz="1200" i="1" kern="1200">
                        <a:solidFill>
                          <a:schemeClr val="tx1"/>
                        </a:solidFill>
                        <a:latin typeface="+mn-lt"/>
                        <a:ea typeface="+mn-ea"/>
                        <a:cs typeface="+mn-cs"/>
                      </a:rPr>
                      <m:t>𝑀</m:t>
                    </m:r>
                  </m:oMath>
                </a14:m>
                <a:r>
                  <a:rPr lang="en-SG" sz="1200" b="0" i="0" u="none" strike="noStrike" kern="1200" dirty="0">
                    <a:solidFill>
                      <a:schemeClr val="tx1"/>
                    </a:solidFill>
                    <a:effectLst/>
                    <a:latin typeface="+mn-lt"/>
                    <a:ea typeface="+mn-ea"/>
                    <a:cs typeface="+mn-cs"/>
                  </a:rPr>
                  <a:t>?”</a:t>
                </a:r>
              </a:p>
              <a:p>
                <a:r>
                  <a:rPr lang="en-SG" sz="1200" b="1" i="0" u="none" strike="noStrike" kern="1200" dirty="0">
                    <a:solidFill>
                      <a:schemeClr val="tx1"/>
                    </a:solidFill>
                    <a:effectLst/>
                    <a:latin typeface="+mn-lt"/>
                    <a:ea typeface="+mn-ea"/>
                    <a:cs typeface="+mn-cs"/>
                  </a:rPr>
                  <a:t>Better intervention design</a:t>
                </a:r>
                <a:endParaRPr lang="en-SG" sz="1200" b="0" i="0" u="none" strike="noStrike" kern="1200" dirty="0">
                  <a:solidFill>
                    <a:schemeClr val="tx1"/>
                  </a:solidFill>
                  <a:effectLst/>
                  <a:latin typeface="+mn-lt"/>
                  <a:ea typeface="+mn-ea"/>
                  <a:cs typeface="+mn-cs"/>
                </a:endParaRPr>
              </a:p>
              <a:p>
                <a:pPr lvl="1"/>
                <a:r>
                  <a:rPr lang="en-SG" sz="1200" b="0" i="0" u="none" strike="noStrike" kern="1200" dirty="0">
                    <a:solidFill>
                      <a:schemeClr val="tx1"/>
                    </a:solidFill>
                    <a:effectLst/>
                    <a:latin typeface="+mn-lt"/>
                    <a:ea typeface="+mn-ea"/>
                    <a:cs typeface="+mn-cs"/>
                  </a:rPr>
                  <a:t>If most of the effect is mediated by </a:t>
                </a:r>
                <a14:m>
                  <m:oMath xmlns:m="http://schemas.openxmlformats.org/officeDocument/2006/math">
                    <m:r>
                      <a:rPr lang="en-SG" sz="1200" i="1" kern="1200">
                        <a:solidFill>
                          <a:schemeClr val="tx1"/>
                        </a:solidFill>
                        <a:latin typeface="+mn-lt"/>
                        <a:ea typeface="+mn-ea"/>
                        <a:cs typeface="+mn-cs"/>
                      </a:rPr>
                      <m:t>𝑀</m:t>
                    </m:r>
                  </m:oMath>
                </a14:m>
                <a:r>
                  <a:rPr lang="en-SG" sz="1200" b="0" i="0" u="none" strike="noStrike" kern="1200" dirty="0">
                    <a:solidFill>
                      <a:schemeClr val="tx1"/>
                    </a:solidFill>
                    <a:effectLst/>
                    <a:latin typeface="+mn-lt"/>
                    <a:ea typeface="+mn-ea"/>
                    <a:cs typeface="+mn-cs"/>
                  </a:rPr>
                  <a:t>, you can strengthen the program components that move </a:t>
                </a:r>
                <a14:m>
                  <m:oMath xmlns:m="http://schemas.openxmlformats.org/officeDocument/2006/math">
                    <m:r>
                      <a:rPr lang="en-SG" sz="1200" i="1" kern="1200">
                        <a:solidFill>
                          <a:schemeClr val="tx1"/>
                        </a:solidFill>
                        <a:latin typeface="+mn-lt"/>
                        <a:ea typeface="+mn-ea"/>
                        <a:cs typeface="+mn-cs"/>
                      </a:rPr>
                      <m:t>𝑀</m:t>
                    </m:r>
                  </m:oMath>
                </a14:m>
                <a:r>
                  <a:rPr lang="en-SG" sz="1200" b="0" i="0" u="none" strike="noStrike" kern="1200" dirty="0">
                    <a:solidFill>
                      <a:schemeClr val="tx1"/>
                    </a:solidFill>
                    <a:effectLst/>
                    <a:latin typeface="+mn-lt"/>
                    <a:ea typeface="+mn-ea"/>
                    <a:cs typeface="+mn-cs"/>
                  </a:rPr>
                  <a:t>.</a:t>
                </a:r>
              </a:p>
              <a:p>
                <a:pPr lvl="1"/>
                <a:r>
                  <a:rPr lang="en-SG" sz="1200" b="0" i="0" u="none" strike="noStrike" kern="1200" dirty="0">
                    <a:solidFill>
                      <a:schemeClr val="tx1"/>
                    </a:solidFill>
                    <a:effectLst/>
                    <a:latin typeface="+mn-lt"/>
                    <a:ea typeface="+mn-ea"/>
                    <a:cs typeface="+mn-cs"/>
                  </a:rPr>
                  <a:t>If the mediated effect is small, then targeting </a:t>
                </a:r>
                <a14:m>
                  <m:oMath xmlns:m="http://schemas.openxmlformats.org/officeDocument/2006/math">
                    <m:r>
                      <a:rPr lang="en-SG" sz="1200" i="1" kern="1200">
                        <a:solidFill>
                          <a:schemeClr val="tx1"/>
                        </a:solidFill>
                        <a:latin typeface="+mn-lt"/>
                        <a:ea typeface="+mn-ea"/>
                        <a:cs typeface="+mn-cs"/>
                      </a:rPr>
                      <m:t>𝑀</m:t>
                    </m:r>
                  </m:oMath>
                </a14:m>
                <a:r>
                  <a:rPr lang="en-SG" sz="1200" b="0" i="0" u="none" strike="noStrike" kern="1200" dirty="0">
                    <a:solidFill>
                      <a:schemeClr val="tx1"/>
                    </a:solidFill>
                    <a:effectLst/>
                    <a:latin typeface="+mn-lt"/>
                    <a:ea typeface="+mn-ea"/>
                    <a:cs typeface="+mn-cs"/>
                  </a:rPr>
                  <a:t> may not improve outcomes much, and you might focus on other levers.</a:t>
                </a:r>
              </a:p>
              <a:p>
                <a:r>
                  <a:rPr lang="en-SG" sz="1200" b="1" i="0" u="none" strike="noStrike" kern="1200" dirty="0">
                    <a:solidFill>
                      <a:schemeClr val="tx1"/>
                    </a:solidFill>
                    <a:effectLst/>
                    <a:latin typeface="+mn-lt"/>
                    <a:ea typeface="+mn-ea"/>
                    <a:cs typeface="+mn-cs"/>
                  </a:rPr>
                  <a:t>Policy targeting and resource allocation</a:t>
                </a:r>
                <a:endParaRPr lang="en-SG" sz="1200" b="0" i="0" u="none" strike="noStrike" kern="1200" dirty="0">
                  <a:solidFill>
                    <a:schemeClr val="tx1"/>
                  </a:solidFill>
                  <a:effectLst/>
                  <a:latin typeface="+mn-lt"/>
                  <a:ea typeface="+mn-ea"/>
                  <a:cs typeface="+mn-cs"/>
                </a:endParaRPr>
              </a:p>
              <a:p>
                <a:pPr lvl="1"/>
                <a:r>
                  <a:rPr lang="en-SG" sz="1200" b="0" i="0" u="none" strike="noStrike" kern="1200" dirty="0">
                    <a:solidFill>
                      <a:schemeClr val="tx1"/>
                    </a:solidFill>
                    <a:effectLst/>
                    <a:latin typeface="+mn-lt"/>
                    <a:ea typeface="+mn-ea"/>
                    <a:cs typeface="+mn-cs"/>
                  </a:rPr>
                  <a:t>Helps decide </a:t>
                </a:r>
                <a:r>
                  <a:rPr lang="en-SG" sz="1200" b="0" i="1" u="none" strike="noStrike" kern="1200" dirty="0">
                    <a:solidFill>
                      <a:schemeClr val="tx1"/>
                    </a:solidFill>
                    <a:effectLst/>
                    <a:latin typeface="+mn-lt"/>
                    <a:ea typeface="+mn-ea"/>
                    <a:cs typeface="+mn-cs"/>
                  </a:rPr>
                  <a:t>where</a:t>
                </a:r>
                <a:r>
                  <a:rPr lang="en-SG" sz="1200" b="0" i="0" u="none" strike="noStrike" kern="1200" dirty="0">
                    <a:solidFill>
                      <a:schemeClr val="tx1"/>
                    </a:solidFill>
                    <a:effectLst/>
                    <a:latin typeface="+mn-lt"/>
                    <a:ea typeface="+mn-ea"/>
                    <a:cs typeface="+mn-cs"/>
                  </a:rPr>
                  <a:t> to invest: change </a:t>
                </a:r>
                <a14:m>
                  <m:oMath xmlns:m="http://schemas.openxmlformats.org/officeDocument/2006/math">
                    <m:r>
                      <a:rPr lang="en-SG" sz="1200" i="1" kern="1200">
                        <a:solidFill>
                          <a:schemeClr val="tx1"/>
                        </a:solidFill>
                        <a:latin typeface="+mn-lt"/>
                        <a:ea typeface="+mn-ea"/>
                        <a:cs typeface="+mn-cs"/>
                      </a:rPr>
                      <m:t>𝑋</m:t>
                    </m:r>
                  </m:oMath>
                </a14:m>
                <a:r>
                  <a:rPr lang="en-SG" sz="1200" b="0" i="0" u="none" strike="noStrike" kern="1200" dirty="0">
                    <a:solidFill>
                      <a:schemeClr val="tx1"/>
                    </a:solidFill>
                    <a:effectLst/>
                    <a:latin typeface="+mn-lt"/>
                    <a:ea typeface="+mn-ea"/>
                    <a:cs typeface="+mn-cs"/>
                  </a:rPr>
                  <a:t> broadly, or implement a more targeted strategy that acts on </a:t>
                </a:r>
                <a14:m>
                  <m:oMath xmlns:m="http://schemas.openxmlformats.org/officeDocument/2006/math">
                    <m:r>
                      <a:rPr lang="en-SG" sz="1200" i="1" kern="1200">
                        <a:solidFill>
                          <a:schemeClr val="tx1"/>
                        </a:solidFill>
                        <a:latin typeface="+mn-lt"/>
                        <a:ea typeface="+mn-ea"/>
                        <a:cs typeface="+mn-cs"/>
                      </a:rPr>
                      <m:t>𝑀</m:t>
                    </m:r>
                  </m:oMath>
                </a14:m>
                <a:r>
                  <a:rPr lang="en-SG" sz="1200" b="0" i="0" u="none" strike="noStrike" kern="1200" dirty="0">
                    <a:solidFill>
                      <a:schemeClr val="tx1"/>
                    </a:solidFill>
                    <a:effectLst/>
                    <a:latin typeface="+mn-lt"/>
                    <a:ea typeface="+mn-ea"/>
                    <a:cs typeface="+mn-cs"/>
                  </a:rPr>
                  <a:t>.</a:t>
                </a:r>
              </a:p>
              <a:p>
                <a:pPr lvl="1"/>
                <a:r>
                  <a:rPr lang="en-SG" sz="1200" b="0" i="0" u="none" strike="noStrike" kern="1200" dirty="0">
                    <a:solidFill>
                      <a:schemeClr val="tx1"/>
                    </a:solidFill>
                    <a:effectLst/>
                    <a:latin typeface="+mn-lt"/>
                    <a:ea typeface="+mn-ea"/>
                    <a:cs typeface="+mn-cs"/>
                  </a:rPr>
                  <a:t>Example: If the effect of education on health is largely through income, policies that raise income might substitute for (or complement) educational policies.</a:t>
                </a:r>
              </a:p>
              <a:p>
                <a:r>
                  <a:rPr lang="en-SG" sz="1200" b="1" i="0" u="none" strike="noStrike" kern="1200" dirty="0">
                    <a:solidFill>
                      <a:schemeClr val="tx1"/>
                    </a:solidFill>
                    <a:effectLst/>
                    <a:latin typeface="+mn-lt"/>
                    <a:ea typeface="+mn-ea"/>
                    <a:cs typeface="+mn-cs"/>
                  </a:rPr>
                  <a:t>Understanding heterogeneous effects / unintended pathways</a:t>
                </a:r>
                <a:endParaRPr lang="en-SG" sz="1200" b="0" i="0" u="none" strike="noStrike" kern="1200" dirty="0">
                  <a:solidFill>
                    <a:schemeClr val="tx1"/>
                  </a:solidFill>
                  <a:effectLst/>
                  <a:latin typeface="+mn-lt"/>
                  <a:ea typeface="+mn-ea"/>
                  <a:cs typeface="+mn-cs"/>
                </a:endParaRPr>
              </a:p>
              <a:p>
                <a:pPr lvl="1"/>
                <a:r>
                  <a:rPr lang="en-SG" sz="1200" b="0" i="0" u="none" strike="noStrike" kern="1200" dirty="0">
                    <a:solidFill>
                      <a:schemeClr val="tx1"/>
                    </a:solidFill>
                    <a:effectLst/>
                    <a:latin typeface="+mn-lt"/>
                    <a:ea typeface="+mn-ea"/>
                    <a:cs typeface="+mn-cs"/>
                  </a:rPr>
                  <a:t>You may find the “direct” pathway is harmful or beneficial even if the total effect is neutral.</a:t>
                </a:r>
              </a:p>
              <a:p>
                <a:pPr lvl="1"/>
                <a:r>
                  <a:rPr lang="en-SG" sz="1200" b="0" i="0" u="none" strike="noStrike" kern="1200" dirty="0">
                    <a:solidFill>
                      <a:schemeClr val="tx1"/>
                    </a:solidFill>
                    <a:effectLst/>
                    <a:latin typeface="+mn-lt"/>
                    <a:ea typeface="+mn-ea"/>
                    <a:cs typeface="+mn-cs"/>
                  </a:rPr>
                  <a:t>Example: a drug lowers disease via biomarker </a:t>
                </a:r>
                <a14:m>
                  <m:oMath xmlns:m="http://schemas.openxmlformats.org/officeDocument/2006/math">
                    <m:r>
                      <a:rPr lang="en-SG" sz="1200" i="1" kern="1200">
                        <a:solidFill>
                          <a:schemeClr val="tx1"/>
                        </a:solidFill>
                        <a:latin typeface="+mn-lt"/>
                        <a:ea typeface="+mn-ea"/>
                        <a:cs typeface="+mn-cs"/>
                      </a:rPr>
                      <m:t>𝑀</m:t>
                    </m:r>
                  </m:oMath>
                </a14:m>
                <a:r>
                  <a:rPr lang="en-SG" sz="1200" b="0" i="0" u="none" strike="noStrike" kern="1200" dirty="0">
                    <a:solidFill>
                      <a:schemeClr val="tx1"/>
                    </a:solidFill>
                    <a:effectLst/>
                    <a:latin typeface="+mn-lt"/>
                    <a:ea typeface="+mn-ea"/>
                    <a:cs typeface="+mn-cs"/>
                  </a:rPr>
                  <a:t> but increases side effects via other pathways.</a:t>
                </a:r>
              </a:p>
              <a:p>
                <a:r>
                  <a:rPr lang="en-SG" sz="1200" b="1" i="0" u="none" strike="noStrike" kern="1200" dirty="0">
                    <a:solidFill>
                      <a:schemeClr val="tx1"/>
                    </a:solidFill>
                    <a:effectLst/>
                    <a:latin typeface="+mn-lt"/>
                    <a:ea typeface="+mn-ea"/>
                    <a:cs typeface="+mn-cs"/>
                  </a:rPr>
                  <a:t>Separates causal mechanism from mere association</a:t>
                </a:r>
                <a:endParaRPr lang="en-SG" sz="1200" b="0" i="0" u="none" strike="noStrike" kern="1200" dirty="0">
                  <a:solidFill>
                    <a:schemeClr val="tx1"/>
                  </a:solidFill>
                  <a:effectLst/>
                  <a:latin typeface="+mn-lt"/>
                  <a:ea typeface="+mn-ea"/>
                  <a:cs typeface="+mn-cs"/>
                </a:endParaRPr>
              </a:p>
              <a:p>
                <a:pPr lvl="1"/>
                <a:r>
                  <a:rPr lang="en-SG" sz="1200" b="0" i="0" u="none" strike="noStrike" kern="1200" dirty="0">
                    <a:solidFill>
                      <a:schemeClr val="tx1"/>
                    </a:solidFill>
                    <a:effectLst/>
                    <a:latin typeface="+mn-lt"/>
                    <a:ea typeface="+mn-ea"/>
                    <a:cs typeface="+mn-cs"/>
                  </a:rPr>
                  <a:t>Many “mediation” analyses are just regression associations. Causal mediation explicitly states the causal </a:t>
                </a:r>
                <a:r>
                  <a:rPr lang="en-SG" sz="1200" b="0" i="0" u="none" strike="noStrike" kern="1200" dirty="0" err="1">
                    <a:solidFill>
                      <a:schemeClr val="tx1"/>
                    </a:solidFill>
                    <a:effectLst/>
                    <a:latin typeface="+mn-lt"/>
                    <a:ea typeface="+mn-ea"/>
                    <a:cs typeface="+mn-cs"/>
                  </a:rPr>
                  <a:t>estimands</a:t>
                </a:r>
                <a:r>
                  <a:rPr lang="en-SG" sz="1200" b="0" i="0" u="none" strike="noStrike" kern="1200" dirty="0">
                    <a:solidFill>
                      <a:schemeClr val="tx1"/>
                    </a:solidFill>
                    <a:effectLst/>
                    <a:latin typeface="+mn-lt"/>
                    <a:ea typeface="+mn-ea"/>
                    <a:cs typeface="+mn-cs"/>
                  </a:rPr>
                  <a:t> and the assumptions needed to interpret them causally, especially around </a:t>
                </a:r>
                <a:r>
                  <a:rPr lang="en-SG" sz="1200" b="1" i="0" u="none" strike="noStrike" kern="1200" dirty="0">
                    <a:solidFill>
                      <a:schemeClr val="tx1"/>
                    </a:solidFill>
                    <a:effectLst/>
                    <a:latin typeface="+mn-lt"/>
                    <a:ea typeface="+mn-ea"/>
                    <a:cs typeface="+mn-cs"/>
                  </a:rPr>
                  <a:t>mediator–outcome confounding</a:t>
                </a:r>
                <a:r>
                  <a:rPr lang="en-SG" sz="1200" b="0" i="0" u="none" strike="noStrike" kern="1200" dirty="0">
                    <a:solidFill>
                      <a:schemeClr val="tx1"/>
                    </a:solidFill>
                    <a:effectLst/>
                    <a:latin typeface="+mn-lt"/>
                    <a:ea typeface="+mn-ea"/>
                    <a:cs typeface="+mn-cs"/>
                  </a:rPr>
                  <a:t>.</a:t>
                </a:r>
              </a:p>
              <a:p>
                <a:r>
                  <a:rPr lang="en-SG" sz="1200" b="0" i="0" u="none" strike="noStrike" kern="1200" dirty="0">
                    <a:solidFill>
                      <a:schemeClr val="tx1"/>
                    </a:solidFill>
                    <a:effectLst/>
                    <a:latin typeface="+mn-lt"/>
                    <a:ea typeface="+mn-ea"/>
                    <a:cs typeface="+mn-cs"/>
                  </a:rPr>
                  <a:t>Why “causal” (and not just “mediation”)</a:t>
                </a:r>
              </a:p>
              <a:p>
                <a:r>
                  <a:rPr lang="en-SG" sz="1200" b="0" i="0" u="none" strike="noStrike" kern="1200" dirty="0">
                    <a:solidFill>
                      <a:schemeClr val="tx1"/>
                    </a:solidFill>
                    <a:effectLst/>
                    <a:latin typeface="+mn-lt"/>
                    <a:ea typeface="+mn-ea"/>
                    <a:cs typeface="+mn-cs"/>
                  </a:rPr>
                  <a:t>Because decomposing effects into “through </a:t>
                </a:r>
                <a14:m>
                  <m:oMath xmlns:m="http://schemas.openxmlformats.org/officeDocument/2006/math">
                    <m:r>
                      <a:rPr lang="en-SG" sz="1200" i="1" kern="1200">
                        <a:solidFill>
                          <a:schemeClr val="tx1"/>
                        </a:solidFill>
                        <a:latin typeface="+mn-lt"/>
                        <a:ea typeface="+mn-ea"/>
                        <a:cs typeface="+mn-cs"/>
                      </a:rPr>
                      <m:t>𝑀</m:t>
                    </m:r>
                  </m:oMath>
                </a14:m>
                <a:r>
                  <a:rPr lang="en-SG" sz="1200" b="0" i="0" u="none" strike="noStrike" kern="1200" dirty="0">
                    <a:solidFill>
                      <a:schemeClr val="tx1"/>
                    </a:solidFill>
                    <a:effectLst/>
                    <a:latin typeface="+mn-lt"/>
                    <a:ea typeface="+mn-ea"/>
                    <a:cs typeface="+mn-cs"/>
                  </a:rPr>
                  <a:t>” vs “not through </a:t>
                </a:r>
                <a14:m>
                  <m:oMath xmlns:m="http://schemas.openxmlformats.org/officeDocument/2006/math">
                    <m:r>
                      <a:rPr lang="en-SG" sz="1200" i="1" kern="1200">
                        <a:solidFill>
                          <a:schemeClr val="tx1"/>
                        </a:solidFill>
                        <a:latin typeface="+mn-lt"/>
                        <a:ea typeface="+mn-ea"/>
                        <a:cs typeface="+mn-cs"/>
                      </a:rPr>
                      <m:t>𝑀</m:t>
                    </m:r>
                  </m:oMath>
                </a14:m>
                <a:r>
                  <a:rPr lang="en-SG" sz="1200" b="0" i="0" u="none" strike="noStrike" kern="1200" dirty="0">
                    <a:solidFill>
                      <a:schemeClr val="tx1"/>
                    </a:solidFill>
                    <a:effectLst/>
                    <a:latin typeface="+mn-lt"/>
                    <a:ea typeface="+mn-ea"/>
                    <a:cs typeface="+mn-cs"/>
                  </a:rPr>
                  <a:t>” is </a:t>
                </a:r>
                <a:r>
                  <a:rPr lang="en-SG" sz="1200" b="1" i="0" u="none" strike="noStrike" kern="1200" dirty="0">
                    <a:solidFill>
                      <a:schemeClr val="tx1"/>
                    </a:solidFill>
                    <a:effectLst/>
                    <a:latin typeface="+mn-lt"/>
                    <a:ea typeface="+mn-ea"/>
                    <a:cs typeface="+mn-cs"/>
                  </a:rPr>
                  <a:t>not identifiable from correlations alone</a:t>
                </a:r>
                <a:r>
                  <a:rPr lang="en-SG" sz="1200" b="0" i="0" u="none" strike="noStrike" kern="1200" dirty="0">
                    <a:solidFill>
                      <a:schemeClr val="tx1"/>
                    </a:solidFill>
                    <a:effectLst/>
                    <a:latin typeface="+mn-lt"/>
                    <a:ea typeface="+mn-ea"/>
                    <a:cs typeface="+mn-cs"/>
                  </a:rPr>
                  <a:t>. You need:</a:t>
                </a:r>
              </a:p>
              <a:p>
                <a:r>
                  <a:rPr lang="en-SG" sz="1200" b="0" i="0" u="none" strike="noStrike" kern="1200" dirty="0">
                    <a:solidFill>
                      <a:schemeClr val="tx1"/>
                    </a:solidFill>
                    <a:effectLst/>
                    <a:latin typeface="+mn-lt"/>
                    <a:ea typeface="+mn-ea"/>
                    <a:cs typeface="+mn-cs"/>
                  </a:rPr>
                  <a:t>a clear causal model (often a DAG),</a:t>
                </a:r>
              </a:p>
              <a:p>
                <a:r>
                  <a:rPr lang="en-SG" sz="1200" b="0" i="0" u="none" strike="noStrike" kern="1200" dirty="0">
                    <a:solidFill>
                      <a:schemeClr val="tx1"/>
                    </a:solidFill>
                    <a:effectLst/>
                    <a:latin typeface="+mn-lt"/>
                    <a:ea typeface="+mn-ea"/>
                    <a:cs typeface="+mn-cs"/>
                  </a:rPr>
                  <a:t>appropriate adjustment for confounders,</a:t>
                </a:r>
              </a:p>
              <a:p>
                <a:r>
                  <a:rPr lang="en-SG" sz="1200" b="0" i="0" u="none" strike="noStrike" kern="1200" dirty="0">
                    <a:solidFill>
                      <a:schemeClr val="tx1"/>
                    </a:solidFill>
                    <a:effectLst/>
                    <a:latin typeface="+mn-lt"/>
                    <a:ea typeface="+mn-ea"/>
                    <a:cs typeface="+mn-cs"/>
                  </a:rPr>
                  <a:t>and careful handling of post-treatment variables.</a:t>
                </a:r>
              </a:p>
              <a:p>
                <a:r>
                  <a:rPr lang="en-SG" sz="1200" b="0" i="0" u="none" strike="noStrike" kern="1200" dirty="0">
                    <a:solidFill>
                      <a:schemeClr val="tx1"/>
                    </a:solidFill>
                    <a:effectLst/>
                    <a:latin typeface="+mn-lt"/>
                    <a:ea typeface="+mn-ea"/>
                    <a:cs typeface="+mn-cs"/>
                  </a:rPr>
                  <a:t>Without this, the “indirect effect” can be badly biased (e.g., if something unmeasured affects both </a:t>
                </a:r>
                <a14:m>
                  <m:oMath xmlns:m="http://schemas.openxmlformats.org/officeDocument/2006/math">
                    <m:r>
                      <a:rPr lang="en-SG" sz="1200" i="1" kern="1200">
                        <a:solidFill>
                          <a:schemeClr val="tx1"/>
                        </a:solidFill>
                        <a:latin typeface="+mn-lt"/>
                        <a:ea typeface="+mn-ea"/>
                        <a:cs typeface="+mn-cs"/>
                      </a:rPr>
                      <m:t>𝑀</m:t>
                    </m:r>
                  </m:oMath>
                </a14:m>
                <a:r>
                  <a:rPr lang="en-SG" sz="1200" b="0" i="0" u="none" strike="noStrike" kern="1200" dirty="0">
                    <a:solidFill>
                      <a:schemeClr val="tx1"/>
                    </a:solidFill>
                    <a:effectLst/>
                    <a:latin typeface="+mn-lt"/>
                    <a:ea typeface="+mn-ea"/>
                    <a:cs typeface="+mn-cs"/>
                  </a:rPr>
                  <a:t> and </a:t>
                </a:r>
                <a14:m>
                  <m:oMath xmlns:m="http://schemas.openxmlformats.org/officeDocument/2006/math">
                    <m:r>
                      <a:rPr lang="en-SG" sz="1200" i="1" kern="1200">
                        <a:solidFill>
                          <a:schemeClr val="tx1"/>
                        </a:solidFill>
                        <a:latin typeface="+mn-lt"/>
                        <a:ea typeface="+mn-ea"/>
                        <a:cs typeface="+mn-cs"/>
                      </a:rPr>
                      <m:t>𝑌</m:t>
                    </m:r>
                  </m:oMath>
                </a14:m>
                <a:r>
                  <a:rPr lang="en-SG" sz="1200" b="0" i="0" u="none" strike="noStrike" kern="1200" dirty="0">
                    <a:solidFill>
                      <a:schemeClr val="tx1"/>
                    </a:solidFill>
                    <a:effectLst/>
                    <a:latin typeface="+mn-lt"/>
                    <a:ea typeface="+mn-ea"/>
                    <a:cs typeface="+mn-cs"/>
                  </a:rPr>
                  <a:t>).</a:t>
                </a:r>
              </a:p>
              <a:p>
                <a:r>
                  <a:rPr lang="en-SG" sz="1200" b="0" i="0" u="none" strike="noStrike" kern="1200" dirty="0">
                    <a:solidFill>
                      <a:schemeClr val="tx1"/>
                    </a:solidFill>
                    <a:effectLst/>
                    <a:latin typeface="+mn-lt"/>
                    <a:ea typeface="+mn-ea"/>
                    <a:cs typeface="+mn-cs"/>
                  </a:rPr>
                  <a:t>When it’s most appropriate</a:t>
                </a:r>
              </a:p>
              <a:p>
                <a:r>
                  <a:rPr lang="en-SG" sz="1200" b="0" i="0" u="none" strike="noStrike" kern="1200" dirty="0">
                    <a:solidFill>
                      <a:schemeClr val="tx1"/>
                    </a:solidFill>
                    <a:effectLst/>
                    <a:latin typeface="+mn-lt"/>
                    <a:ea typeface="+mn-ea"/>
                    <a:cs typeface="+mn-cs"/>
                  </a:rPr>
                  <a:t>You have a credible causal effect of </a:t>
                </a:r>
                <a14:m>
                  <m:oMath xmlns:m="http://schemas.openxmlformats.org/officeDocument/2006/math">
                    <m:r>
                      <a:rPr lang="en-SG" sz="1200" i="1" kern="1200">
                        <a:solidFill>
                          <a:schemeClr val="tx1"/>
                        </a:solidFill>
                        <a:latin typeface="+mn-lt"/>
                        <a:ea typeface="+mn-ea"/>
                        <a:cs typeface="+mn-cs"/>
                      </a:rPr>
                      <m:t>𝑋</m:t>
                    </m:r>
                  </m:oMath>
                </a14:m>
                <a:r>
                  <a:rPr lang="en-SG" sz="1200" b="0" i="0" u="none" strike="noStrike" kern="1200" dirty="0">
                    <a:solidFill>
                      <a:schemeClr val="tx1"/>
                    </a:solidFill>
                    <a:effectLst/>
                    <a:latin typeface="+mn-lt"/>
                    <a:ea typeface="+mn-ea"/>
                    <a:cs typeface="+mn-cs"/>
                  </a:rPr>
                  <a:t> on </a:t>
                </a:r>
                <a14:m>
                  <m:oMath xmlns:m="http://schemas.openxmlformats.org/officeDocument/2006/math">
                    <m:r>
                      <a:rPr lang="en-SG" sz="1200" i="1" kern="1200">
                        <a:solidFill>
                          <a:schemeClr val="tx1"/>
                        </a:solidFill>
                        <a:latin typeface="+mn-lt"/>
                        <a:ea typeface="+mn-ea"/>
                        <a:cs typeface="+mn-cs"/>
                      </a:rPr>
                      <m:t>𝑌</m:t>
                    </m:r>
                  </m:oMath>
                </a14:m>
                <a:r>
                  <a:rPr lang="en-SG" sz="1200" b="0" i="0" u="none" strike="noStrike" kern="1200" dirty="0">
                    <a:solidFill>
                      <a:schemeClr val="tx1"/>
                    </a:solidFill>
                    <a:effectLst/>
                    <a:latin typeface="+mn-lt"/>
                    <a:ea typeface="+mn-ea"/>
                    <a:cs typeface="+mn-cs"/>
                  </a:rPr>
                  <a:t> (e.g., randomized </a:t>
                </a:r>
                <a14:m>
                  <m:oMath xmlns:m="http://schemas.openxmlformats.org/officeDocument/2006/math">
                    <m:r>
                      <a:rPr lang="en-SG" sz="1200" i="1" kern="1200">
                        <a:solidFill>
                          <a:schemeClr val="tx1"/>
                        </a:solidFill>
                        <a:latin typeface="+mn-lt"/>
                        <a:ea typeface="+mn-ea"/>
                        <a:cs typeface="+mn-cs"/>
                      </a:rPr>
                      <m:t>𝑋</m:t>
                    </m:r>
                  </m:oMath>
                </a14:m>
                <a:r>
                  <a:rPr lang="en-SG" sz="1200" b="0" i="0" u="none" strike="noStrike" kern="1200" dirty="0">
                    <a:solidFill>
                      <a:schemeClr val="tx1"/>
                    </a:solidFill>
                    <a:effectLst/>
                    <a:latin typeface="+mn-lt"/>
                    <a:ea typeface="+mn-ea"/>
                    <a:cs typeface="+mn-cs"/>
                  </a:rPr>
                  <a:t>, or strong observational design).</a:t>
                </a:r>
              </a:p>
              <a:p>
                <a:r>
                  <a:rPr lang="en-SG" sz="1200" b="0" i="0" u="none" strike="noStrike" kern="1200" dirty="0">
                    <a:solidFill>
                      <a:schemeClr val="tx1"/>
                    </a:solidFill>
                    <a:effectLst/>
                    <a:latin typeface="+mn-lt"/>
                    <a:ea typeface="+mn-ea"/>
                    <a:cs typeface="+mn-cs"/>
                  </a:rPr>
                  <a:t>You have a well-motivated mediator </a:t>
                </a:r>
                <a14:m>
                  <m:oMath xmlns:m="http://schemas.openxmlformats.org/officeDocument/2006/math">
                    <m:r>
                      <a:rPr lang="en-SG" sz="1200" i="1" kern="1200">
                        <a:solidFill>
                          <a:schemeClr val="tx1"/>
                        </a:solidFill>
                        <a:latin typeface="+mn-lt"/>
                        <a:ea typeface="+mn-ea"/>
                        <a:cs typeface="+mn-cs"/>
                      </a:rPr>
                      <m:t>𝑀</m:t>
                    </m:r>
                  </m:oMath>
                </a14:m>
                <a:r>
                  <a:rPr lang="en-SG" sz="1200" b="0" i="0" u="none" strike="noStrike" kern="1200" dirty="0">
                    <a:solidFill>
                      <a:schemeClr val="tx1"/>
                    </a:solidFill>
                    <a:effectLst/>
                    <a:latin typeface="+mn-lt"/>
                    <a:ea typeface="+mn-ea"/>
                    <a:cs typeface="+mn-cs"/>
                  </a:rPr>
                  <a:t> measured after </a:t>
                </a:r>
                <a14:m>
                  <m:oMath xmlns:m="http://schemas.openxmlformats.org/officeDocument/2006/math">
                    <m:r>
                      <a:rPr lang="en-SG" sz="1200" i="1" kern="1200">
                        <a:solidFill>
                          <a:schemeClr val="tx1"/>
                        </a:solidFill>
                        <a:latin typeface="+mn-lt"/>
                        <a:ea typeface="+mn-ea"/>
                        <a:cs typeface="+mn-cs"/>
                      </a:rPr>
                      <m:t>𝑋</m:t>
                    </m:r>
                  </m:oMath>
                </a14:m>
                <a:r>
                  <a:rPr lang="en-SG" sz="1200" b="0" i="0" u="none" strike="noStrike" kern="1200" dirty="0">
                    <a:solidFill>
                      <a:schemeClr val="tx1"/>
                    </a:solidFill>
                    <a:effectLst/>
                    <a:latin typeface="+mn-lt"/>
                    <a:ea typeface="+mn-ea"/>
                    <a:cs typeface="+mn-cs"/>
                  </a:rPr>
                  <a:t> and before </a:t>
                </a:r>
                <a14:m>
                  <m:oMath xmlns:m="http://schemas.openxmlformats.org/officeDocument/2006/math">
                    <m:r>
                      <a:rPr lang="en-SG" sz="1200" i="1" kern="1200">
                        <a:solidFill>
                          <a:schemeClr val="tx1"/>
                        </a:solidFill>
                        <a:latin typeface="+mn-lt"/>
                        <a:ea typeface="+mn-ea"/>
                        <a:cs typeface="+mn-cs"/>
                      </a:rPr>
                      <m:t>𝑌</m:t>
                    </m:r>
                  </m:oMath>
                </a14:m>
                <a:r>
                  <a:rPr lang="en-SG" sz="1200" b="0" i="0" u="none" strike="noStrike" kern="1200" dirty="0">
                    <a:solidFill>
                      <a:schemeClr val="tx1"/>
                    </a:solidFill>
                    <a:effectLst/>
                    <a:latin typeface="+mn-lt"/>
                    <a:ea typeface="+mn-ea"/>
                    <a:cs typeface="+mn-cs"/>
                  </a:rPr>
                  <a:t>.</a:t>
                </a:r>
              </a:p>
              <a:p>
                <a:r>
                  <a:rPr lang="en-SG" sz="1200" b="0" i="0" u="none" strike="noStrike" kern="1200" dirty="0">
                    <a:solidFill>
                      <a:schemeClr val="tx1"/>
                    </a:solidFill>
                    <a:effectLst/>
                    <a:latin typeface="+mn-lt"/>
                    <a:ea typeface="+mn-ea"/>
                    <a:cs typeface="+mn-cs"/>
                  </a:rPr>
                  <a:t>You can argue that confounding of </a:t>
                </a:r>
                <a14:m>
                  <m:oMath xmlns:m="http://schemas.openxmlformats.org/officeDocument/2006/math">
                    <m:r>
                      <a:rPr lang="en-SG" sz="1200" i="1" kern="1200">
                        <a:solidFill>
                          <a:schemeClr val="tx1"/>
                        </a:solidFill>
                        <a:latin typeface="+mn-lt"/>
                        <a:ea typeface="+mn-ea"/>
                        <a:cs typeface="+mn-cs"/>
                      </a:rPr>
                      <m:t>𝑀</m:t>
                    </m:r>
                    <m:r>
                      <a:rPr lang="en-SG" sz="1200" i="0" kern="1200">
                        <a:solidFill>
                          <a:schemeClr val="tx1"/>
                        </a:solidFill>
                        <a:latin typeface="+mn-lt"/>
                        <a:ea typeface="+mn-ea"/>
                        <a:cs typeface="+mn-cs"/>
                      </a:rPr>
                      <m:t>→</m:t>
                    </m:r>
                    <m:r>
                      <a:rPr lang="en-SG" sz="1200" i="1" kern="1200">
                        <a:solidFill>
                          <a:schemeClr val="tx1"/>
                        </a:solidFill>
                        <a:latin typeface="+mn-lt"/>
                        <a:ea typeface="+mn-ea"/>
                        <a:cs typeface="+mn-cs"/>
                      </a:rPr>
                      <m:t>𝑌</m:t>
                    </m:r>
                  </m:oMath>
                </a14:m>
                <a:r>
                  <a:rPr lang="en-SG" sz="1200" b="0" i="0" u="none" strike="noStrike" kern="1200" dirty="0">
                    <a:solidFill>
                      <a:schemeClr val="tx1"/>
                    </a:solidFill>
                    <a:effectLst/>
                    <a:latin typeface="+mn-lt"/>
                    <a:ea typeface="+mn-ea"/>
                    <a:cs typeface="+mn-cs"/>
                  </a:rPr>
                  <a:t> is controlled (the hardest part).</a:t>
                </a:r>
              </a:p>
              <a:p>
                <a:r>
                  <a:rPr lang="en-SG" sz="1200" b="0" i="0" u="none" strike="noStrike" kern="1200" dirty="0">
                    <a:solidFill>
                      <a:schemeClr val="tx1"/>
                    </a:solidFill>
                    <a:effectLst/>
                    <a:latin typeface="+mn-lt"/>
                    <a:ea typeface="+mn-ea"/>
                    <a:cs typeface="+mn-cs"/>
                  </a:rPr>
                  <a:t>If you share your concrete </a:t>
                </a:r>
                <a14:m>
                  <m:oMath xmlns:m="http://schemas.openxmlformats.org/officeDocument/2006/math">
                    <m:r>
                      <a:rPr lang="en-SG" sz="1200" i="1" kern="1200">
                        <a:solidFill>
                          <a:schemeClr val="tx1"/>
                        </a:solidFill>
                        <a:latin typeface="+mn-lt"/>
                        <a:ea typeface="+mn-ea"/>
                        <a:cs typeface="+mn-cs"/>
                      </a:rPr>
                      <m:t>𝑋</m:t>
                    </m:r>
                  </m:oMath>
                </a14:m>
                <a:r>
                  <a:rPr lang="en-SG" sz="1200" b="0" i="0" u="none" strike="noStrike" kern="1200" dirty="0">
                    <a:solidFill>
                      <a:schemeClr val="tx1"/>
                    </a:solidFill>
                    <a:effectLst/>
                    <a:latin typeface="+mn-lt"/>
                    <a:ea typeface="+mn-ea"/>
                    <a:cs typeface="+mn-cs"/>
                  </a:rPr>
                  <a:t>, </a:t>
                </a:r>
                <a14:m>
                  <m:oMath xmlns:m="http://schemas.openxmlformats.org/officeDocument/2006/math">
                    <m:r>
                      <a:rPr lang="en-SG" sz="1200" i="1" kern="1200">
                        <a:solidFill>
                          <a:schemeClr val="tx1"/>
                        </a:solidFill>
                        <a:latin typeface="+mn-lt"/>
                        <a:ea typeface="+mn-ea"/>
                        <a:cs typeface="+mn-cs"/>
                      </a:rPr>
                      <m:t>𝑀</m:t>
                    </m:r>
                  </m:oMath>
                </a14:m>
                <a:r>
                  <a:rPr lang="en-SG" sz="1200" b="0" i="0" u="none" strike="noStrike" kern="1200" dirty="0">
                    <a:solidFill>
                      <a:schemeClr val="tx1"/>
                    </a:solidFill>
                    <a:effectLst/>
                    <a:latin typeface="+mn-lt"/>
                    <a:ea typeface="+mn-ea"/>
                    <a:cs typeface="+mn-cs"/>
                  </a:rPr>
                  <a:t>, and </a:t>
                </a:r>
                <a14:m>
                  <m:oMath xmlns:m="http://schemas.openxmlformats.org/officeDocument/2006/math">
                    <m:r>
                      <a:rPr lang="en-SG" sz="1200" i="1" kern="1200">
                        <a:solidFill>
                          <a:schemeClr val="tx1"/>
                        </a:solidFill>
                        <a:latin typeface="+mn-lt"/>
                        <a:ea typeface="+mn-ea"/>
                        <a:cs typeface="+mn-cs"/>
                      </a:rPr>
                      <m:t>𝑌</m:t>
                    </m:r>
                  </m:oMath>
                </a14:m>
                <a:r>
                  <a:rPr lang="en-SG" sz="1200" b="0" i="0" u="none" strike="noStrike" kern="1200" dirty="0">
                    <a:solidFill>
                      <a:schemeClr val="tx1"/>
                    </a:solidFill>
                    <a:effectLst/>
                    <a:latin typeface="+mn-lt"/>
                    <a:ea typeface="+mn-ea"/>
                    <a:cs typeface="+mn-cs"/>
                  </a:rPr>
                  <a:t> (and whether </a:t>
                </a:r>
                <a14:m>
                  <m:oMath xmlns:m="http://schemas.openxmlformats.org/officeDocument/2006/math">
                    <m:r>
                      <a:rPr lang="en-SG" sz="1200" i="1" kern="1200">
                        <a:solidFill>
                          <a:schemeClr val="tx1"/>
                        </a:solidFill>
                        <a:latin typeface="+mn-lt"/>
                        <a:ea typeface="+mn-ea"/>
                        <a:cs typeface="+mn-cs"/>
                      </a:rPr>
                      <m:t>𝑋</m:t>
                    </m:r>
                  </m:oMath>
                </a14:m>
                <a:r>
                  <a:rPr lang="en-SG" sz="1200" b="0" i="0" u="none" strike="noStrike" kern="1200" dirty="0">
                    <a:solidFill>
                      <a:schemeClr val="tx1"/>
                    </a:solidFill>
                    <a:effectLst/>
                    <a:latin typeface="+mn-lt"/>
                    <a:ea typeface="+mn-ea"/>
                    <a:cs typeface="+mn-cs"/>
                  </a:rPr>
                  <a:t> is randomized), I can explain what causal mediation would answer in your case and what assumptions you’d need.</a:t>
                </a:r>
              </a:p>
              <a:p>
                <a:pPr marL="0" marR="0" lvl="0" indent="0" algn="l" defTabSz="914400" rtl="0" eaLnBrk="1" fontAlgn="auto" latinLnBrk="0" hangingPunct="1">
                  <a:lnSpc>
                    <a:spcPct val="100000"/>
                  </a:lnSpc>
                  <a:spcBef>
                    <a:spcPts val="0"/>
                  </a:spcBef>
                  <a:spcAft>
                    <a:spcPts val="0"/>
                  </a:spcAft>
                  <a:buClrTx/>
                  <a:buSzTx/>
                  <a:buFontTx/>
                  <a:buNone/>
                  <a:tabLst/>
                  <a:defRPr/>
                </a:pPr>
                <a:r>
                  <a:rPr lang="en-SG" dirty="0">
                    <a:solidFill>
                      <a:schemeClr val="tx1"/>
                    </a:solidFill>
                    <a:latin typeface="Times New Roman" panose="02020603050405020304" pitchFamily="18" charset="0"/>
                    <a:cs typeface="Times New Roman" panose="02020603050405020304" pitchFamily="18" charset="0"/>
                  </a:rPr>
                  <a:t>(esp. confounding of </a:t>
                </a:r>
                <a14:m>
                  <m:oMath xmlns:m="http://schemas.openxmlformats.org/officeDocument/2006/math">
                    <m:r>
                      <a:rPr lang="en-SG" i="1">
                        <a:solidFill>
                          <a:schemeClr val="tx1"/>
                        </a:solidFill>
                        <a:latin typeface="Cambria Math" panose="02040503050406030204" pitchFamily="18" charset="0"/>
                      </a:rPr>
                      <m:t>𝑀</m:t>
                    </m:r>
                    <m:r>
                      <a:rPr lang="en-SG">
                        <a:solidFill>
                          <a:schemeClr val="tx1"/>
                        </a:solidFill>
                        <a:latin typeface="Cambria Math" panose="02040503050406030204" pitchFamily="18" charset="0"/>
                      </a:rPr>
                      <m:t>→</m:t>
                    </m:r>
                    <m:r>
                      <a:rPr lang="en-SG" i="1">
                        <a:solidFill>
                          <a:schemeClr val="tx1"/>
                        </a:solidFill>
                        <a:latin typeface="Cambria Math" panose="02040503050406030204" pitchFamily="18" charset="0"/>
                      </a:rPr>
                      <m:t>𝑌</m:t>
                    </m:r>
                  </m:oMath>
                </a14:m>
                <a:r>
                  <a:rPr lang="en-SG" dirty="0">
                    <a:solidFill>
                      <a:schemeClr val="tx1"/>
                    </a:solidFill>
                    <a:latin typeface="Times New Roman" panose="02020603050405020304" pitchFamily="18" charset="0"/>
                    <a:cs typeface="Times New Roman" panose="02020603050405020304" pitchFamily="18" charset="0"/>
                  </a:rPr>
                  <a:t>)</a:t>
                </a:r>
              </a:p>
              <a:p>
                <a:endParaRPr lang="en-SG" dirty="0"/>
              </a:p>
            </p:txBody>
          </p:sp>
        </mc:Choice>
        <mc:Fallback>
          <p:sp>
            <p:nvSpPr>
              <p:cNvPr id="3" name="Notes Placeholder 2">
                <a:extLst>
                  <a:ext uri="{FF2B5EF4-FFF2-40B4-BE49-F238E27FC236}">
                    <a16:creationId xmlns:a16="http://schemas.microsoft.com/office/drawing/2014/main" id="{7B879B9F-5788-FE4B-4B49-A9521B0CB8FA}"/>
                  </a:ext>
                </a:extLst>
              </p:cNvPr>
              <p:cNvSpPr>
                <a:spLocks noGrp="1"/>
              </p:cNvSpPr>
              <p:nvPr>
                <p:ph type="body" idx="1"/>
              </p:nvPr>
            </p:nvSpPr>
            <p:spPr/>
            <p:txBody>
              <a:bodyPr/>
              <a:lstStyle/>
              <a:p>
                <a:r>
                  <a:rPr lang="en-SG" sz="1200" b="0" i="0" u="none" strike="noStrike" kern="1200" dirty="0">
                    <a:solidFill>
                      <a:schemeClr val="tx1"/>
                    </a:solidFill>
                    <a:effectLst/>
                    <a:latin typeface="+mn-lt"/>
                    <a:ea typeface="+mn-ea"/>
                    <a:cs typeface="+mn-cs"/>
                  </a:rPr>
                  <a:t>Causal mediation is used when you don’t just want to know </a:t>
                </a:r>
                <a:r>
                  <a:rPr lang="en-SG" sz="1200" b="1" i="0" u="none" strike="noStrike" kern="1200" dirty="0">
                    <a:solidFill>
                      <a:schemeClr val="tx1"/>
                    </a:solidFill>
                    <a:effectLst/>
                    <a:latin typeface="+mn-lt"/>
                    <a:ea typeface="+mn-ea"/>
                    <a:cs typeface="+mn-cs"/>
                  </a:rPr>
                  <a:t>whether</a:t>
                </a:r>
                <a:r>
                  <a:rPr lang="en-SG" sz="1200" b="0" i="0" u="none" strike="noStrike" kern="1200" dirty="0">
                    <a:solidFill>
                      <a:schemeClr val="tx1"/>
                    </a:solidFill>
                    <a:effectLst/>
                    <a:latin typeface="+mn-lt"/>
                    <a:ea typeface="+mn-ea"/>
                    <a:cs typeface="+mn-cs"/>
                  </a:rPr>
                  <a:t> </a:t>
                </a:r>
                <a:r>
                  <a:rPr lang="en-SG" sz="1200" i="0" kern="1200">
                    <a:solidFill>
                      <a:schemeClr val="tx1"/>
                    </a:solidFill>
                    <a:latin typeface="+mn-lt"/>
                    <a:ea typeface="+mn-ea"/>
                    <a:cs typeface="+mn-cs"/>
                  </a:rPr>
                  <a:t>𝑋</a:t>
                </a:r>
                <a:r>
                  <a:rPr lang="en-SG" sz="1200" b="0" i="0" u="none" strike="noStrike" kern="1200" dirty="0">
                    <a:solidFill>
                      <a:schemeClr val="tx1"/>
                    </a:solidFill>
                    <a:effectLst/>
                    <a:latin typeface="+mn-lt"/>
                    <a:ea typeface="+mn-ea"/>
                    <a:cs typeface="+mn-cs"/>
                  </a:rPr>
                  <a:t> affects </a:t>
                </a:r>
                <a:r>
                  <a:rPr lang="en-SG" sz="1200" i="0" kern="1200">
                    <a:solidFill>
                      <a:schemeClr val="tx1"/>
                    </a:solidFill>
                    <a:latin typeface="+mn-lt"/>
                    <a:ea typeface="+mn-ea"/>
                    <a:cs typeface="+mn-cs"/>
                  </a:rPr>
                  <a:t>𝑌</a:t>
                </a:r>
                <a:r>
                  <a:rPr lang="en-SG" sz="1200" b="0" i="0" u="none" strike="noStrike" kern="1200" dirty="0">
                    <a:solidFill>
                      <a:schemeClr val="tx1"/>
                    </a:solidFill>
                    <a:effectLst/>
                    <a:latin typeface="+mn-lt"/>
                    <a:ea typeface="+mn-ea"/>
                    <a:cs typeface="+mn-cs"/>
                  </a:rPr>
                  <a:t>, but </a:t>
                </a:r>
                <a:r>
                  <a:rPr lang="en-SG" sz="1200" b="1" i="0" u="none" strike="noStrike" kern="1200" dirty="0">
                    <a:solidFill>
                      <a:schemeClr val="tx1"/>
                    </a:solidFill>
                    <a:effectLst/>
                    <a:latin typeface="+mn-lt"/>
                    <a:ea typeface="+mn-ea"/>
                    <a:cs typeface="+mn-cs"/>
                  </a:rPr>
                  <a:t>how</a:t>
                </a:r>
                <a:r>
                  <a:rPr lang="en-SG" sz="1200" b="0" i="0" u="none" strike="noStrike" kern="1200" dirty="0">
                    <a:solidFill>
                      <a:schemeClr val="tx1"/>
                    </a:solidFill>
                    <a:effectLst/>
                    <a:latin typeface="+mn-lt"/>
                    <a:ea typeface="+mn-ea"/>
                    <a:cs typeface="+mn-cs"/>
                  </a:rPr>
                  <a:t> and </a:t>
                </a:r>
                <a:r>
                  <a:rPr lang="en-SG" sz="1200" b="1" i="0" u="none" strike="noStrike" kern="1200" dirty="0">
                    <a:solidFill>
                      <a:schemeClr val="tx1"/>
                    </a:solidFill>
                    <a:effectLst/>
                    <a:latin typeface="+mn-lt"/>
                    <a:ea typeface="+mn-ea"/>
                    <a:cs typeface="+mn-cs"/>
                  </a:rPr>
                  <a:t>through what pathway</a:t>
                </a:r>
                <a:r>
                  <a:rPr lang="en-SG" sz="1200" b="0" i="0" u="none" strike="noStrike" kern="1200" dirty="0">
                    <a:solidFill>
                      <a:schemeClr val="tx1"/>
                    </a:solidFill>
                    <a:effectLst/>
                    <a:latin typeface="+mn-lt"/>
                    <a:ea typeface="+mn-ea"/>
                    <a:cs typeface="+mn-cs"/>
                  </a:rPr>
                  <a:t> the effect happens—specifically, how much of the effect operates through a mediator </a:t>
                </a:r>
                <a:r>
                  <a:rPr lang="en-SG" sz="1200" i="0" kern="1200">
                    <a:solidFill>
                      <a:schemeClr val="tx1"/>
                    </a:solidFill>
                    <a:latin typeface="+mn-lt"/>
                    <a:ea typeface="+mn-ea"/>
                    <a:cs typeface="+mn-cs"/>
                  </a:rPr>
                  <a:t>𝑀</a:t>
                </a:r>
                <a:r>
                  <a:rPr lang="en-SG" sz="1200" b="0" i="0" u="none" strike="noStrike" kern="1200" dirty="0">
                    <a:solidFill>
                      <a:schemeClr val="tx1"/>
                    </a:solidFill>
                    <a:effectLst/>
                    <a:latin typeface="+mn-lt"/>
                    <a:ea typeface="+mn-ea"/>
                    <a:cs typeface="+mn-cs"/>
                  </a:rPr>
                  <a:t>.</a:t>
                </a:r>
              </a:p>
              <a:p>
                <a:r>
                  <a:rPr lang="en-SG" sz="1200" b="0" i="0" u="none" strike="noStrike" kern="1200" dirty="0">
                    <a:solidFill>
                      <a:schemeClr val="tx1"/>
                    </a:solidFill>
                    <a:effectLst/>
                    <a:latin typeface="+mn-lt"/>
                    <a:ea typeface="+mn-ea"/>
                    <a:cs typeface="+mn-cs"/>
                  </a:rPr>
                  <a:t>Why use causal mediation (what it gives you)</a:t>
                </a:r>
              </a:p>
              <a:p>
                <a:r>
                  <a:rPr lang="en-SG" sz="1200" b="1" i="0" u="none" strike="noStrike" kern="1200" dirty="0">
                    <a:solidFill>
                      <a:schemeClr val="tx1"/>
                    </a:solidFill>
                    <a:effectLst/>
                    <a:latin typeface="+mn-lt"/>
                    <a:ea typeface="+mn-ea"/>
                    <a:cs typeface="+mn-cs"/>
                  </a:rPr>
                  <a:t>Mechanism / explanation</a:t>
                </a:r>
                <a:endParaRPr lang="en-SG" sz="1200" b="0" i="0" u="none" strike="noStrike" kern="1200" dirty="0">
                  <a:solidFill>
                    <a:schemeClr val="tx1"/>
                  </a:solidFill>
                  <a:effectLst/>
                  <a:latin typeface="+mn-lt"/>
                  <a:ea typeface="+mn-ea"/>
                  <a:cs typeface="+mn-cs"/>
                </a:endParaRPr>
              </a:p>
              <a:p>
                <a:pPr lvl="1"/>
                <a:r>
                  <a:rPr lang="en-SG" sz="1200" b="0" i="0" u="none" strike="noStrike" kern="1200" dirty="0">
                    <a:solidFill>
                      <a:schemeClr val="tx1"/>
                    </a:solidFill>
                    <a:effectLst/>
                    <a:latin typeface="+mn-lt"/>
                    <a:ea typeface="+mn-ea"/>
                    <a:cs typeface="+mn-cs"/>
                  </a:rPr>
                  <a:t>It decomposes the total causal effect of </a:t>
                </a:r>
                <a:r>
                  <a:rPr lang="en-SG" sz="1200" i="0" kern="1200">
                    <a:solidFill>
                      <a:schemeClr val="tx1"/>
                    </a:solidFill>
                    <a:latin typeface="+mn-lt"/>
                    <a:ea typeface="+mn-ea"/>
                    <a:cs typeface="+mn-cs"/>
                  </a:rPr>
                  <a:t>𝑋</a:t>
                </a:r>
                <a:r>
                  <a:rPr lang="en-SG" sz="1200" b="0" i="0" u="none" strike="noStrike" kern="1200" dirty="0">
                    <a:solidFill>
                      <a:schemeClr val="tx1"/>
                    </a:solidFill>
                    <a:effectLst/>
                    <a:latin typeface="+mn-lt"/>
                    <a:ea typeface="+mn-ea"/>
                    <a:cs typeface="+mn-cs"/>
                  </a:rPr>
                  <a:t> on </a:t>
                </a:r>
                <a:r>
                  <a:rPr lang="en-SG" sz="1200" i="0" kern="1200">
                    <a:solidFill>
                      <a:schemeClr val="tx1"/>
                    </a:solidFill>
                    <a:latin typeface="+mn-lt"/>
                    <a:ea typeface="+mn-ea"/>
                    <a:cs typeface="+mn-cs"/>
                  </a:rPr>
                  <a:t>𝑌</a:t>
                </a:r>
                <a:r>
                  <a:rPr lang="en-SG" sz="1200" b="0" i="0" u="none" strike="noStrike" kern="1200" dirty="0">
                    <a:solidFill>
                      <a:schemeClr val="tx1"/>
                    </a:solidFill>
                    <a:effectLst/>
                    <a:latin typeface="+mn-lt"/>
                    <a:ea typeface="+mn-ea"/>
                    <a:cs typeface="+mn-cs"/>
                  </a:rPr>
                  <a:t> into:</a:t>
                </a:r>
              </a:p>
              <a:p>
                <a:pPr lvl="2"/>
                <a:r>
                  <a:rPr lang="en-SG" sz="1200" b="0" i="0" u="none" strike="noStrike" kern="1200" dirty="0">
                    <a:solidFill>
                      <a:schemeClr val="tx1"/>
                    </a:solidFill>
                    <a:effectLst/>
                    <a:latin typeface="+mn-lt"/>
                    <a:ea typeface="+mn-ea"/>
                    <a:cs typeface="+mn-cs"/>
                  </a:rPr>
                  <a:t>an </a:t>
                </a:r>
                <a:r>
                  <a:rPr lang="en-SG" sz="1200" b="1" i="0" u="none" strike="noStrike" kern="1200" dirty="0">
                    <a:solidFill>
                      <a:schemeClr val="tx1"/>
                    </a:solidFill>
                    <a:effectLst/>
                    <a:latin typeface="+mn-lt"/>
                    <a:ea typeface="+mn-ea"/>
                    <a:cs typeface="+mn-cs"/>
                  </a:rPr>
                  <a:t>indirect effect</a:t>
                </a:r>
                <a:r>
                  <a:rPr lang="en-SG" sz="1200" b="0" i="0" u="none" strike="noStrike" kern="1200" dirty="0">
                    <a:solidFill>
                      <a:schemeClr val="tx1"/>
                    </a:solidFill>
                    <a:effectLst/>
                    <a:latin typeface="+mn-lt"/>
                    <a:ea typeface="+mn-ea"/>
                    <a:cs typeface="+mn-cs"/>
                  </a:rPr>
                  <a:t> (through </a:t>
                </a:r>
                <a:r>
                  <a:rPr lang="en-SG" sz="1200" i="0" kern="1200">
                    <a:solidFill>
                      <a:schemeClr val="tx1"/>
                    </a:solidFill>
                    <a:latin typeface="+mn-lt"/>
                    <a:ea typeface="+mn-ea"/>
                    <a:cs typeface="+mn-cs"/>
                  </a:rPr>
                  <a:t>𝑀</a:t>
                </a:r>
                <a:r>
                  <a:rPr lang="en-SG" sz="1200" b="0" i="0" u="none" strike="noStrike" kern="1200" dirty="0">
                    <a:solidFill>
                      <a:schemeClr val="tx1"/>
                    </a:solidFill>
                    <a:effectLst/>
                    <a:latin typeface="+mn-lt"/>
                    <a:ea typeface="+mn-ea"/>
                    <a:cs typeface="+mn-cs"/>
                  </a:rPr>
                  <a:t>)</a:t>
                </a:r>
              </a:p>
              <a:p>
                <a:pPr lvl="2"/>
                <a:r>
                  <a:rPr lang="en-SG" sz="1200" b="0" i="0" u="none" strike="noStrike" kern="1200" dirty="0">
                    <a:solidFill>
                      <a:schemeClr val="tx1"/>
                    </a:solidFill>
                    <a:effectLst/>
                    <a:latin typeface="+mn-lt"/>
                    <a:ea typeface="+mn-ea"/>
                    <a:cs typeface="+mn-cs"/>
                  </a:rPr>
                  <a:t>a </a:t>
                </a:r>
                <a:r>
                  <a:rPr lang="en-SG" sz="1200" b="1" i="0" u="none" strike="noStrike" kern="1200" dirty="0">
                    <a:solidFill>
                      <a:schemeClr val="tx1"/>
                    </a:solidFill>
                    <a:effectLst/>
                    <a:latin typeface="+mn-lt"/>
                    <a:ea typeface="+mn-ea"/>
                    <a:cs typeface="+mn-cs"/>
                  </a:rPr>
                  <a:t>direct effect</a:t>
                </a:r>
                <a:r>
                  <a:rPr lang="en-SG" sz="1200" b="0" i="0" u="none" strike="noStrike" kern="1200" dirty="0">
                    <a:solidFill>
                      <a:schemeClr val="tx1"/>
                    </a:solidFill>
                    <a:effectLst/>
                    <a:latin typeface="+mn-lt"/>
                    <a:ea typeface="+mn-ea"/>
                    <a:cs typeface="+mn-cs"/>
                  </a:rPr>
                  <a:t> (through other pathways)</a:t>
                </a:r>
              </a:p>
              <a:p>
                <a:pPr lvl="1"/>
                <a:r>
                  <a:rPr lang="en-SG" sz="1200" b="0" i="0" u="none" strike="noStrike" kern="1200" dirty="0">
                    <a:solidFill>
                      <a:schemeClr val="tx1"/>
                    </a:solidFill>
                    <a:effectLst/>
                    <a:latin typeface="+mn-lt"/>
                    <a:ea typeface="+mn-ea"/>
                    <a:cs typeface="+mn-cs"/>
                  </a:rPr>
                  <a:t>This answers questions like: “Is the intervention working because it changes </a:t>
                </a:r>
                <a:r>
                  <a:rPr lang="en-SG" sz="1200" i="0" kern="1200">
                    <a:solidFill>
                      <a:schemeClr val="tx1"/>
                    </a:solidFill>
                    <a:latin typeface="+mn-lt"/>
                    <a:ea typeface="+mn-ea"/>
                    <a:cs typeface="+mn-cs"/>
                  </a:rPr>
                  <a:t>𝑀</a:t>
                </a:r>
                <a:r>
                  <a:rPr lang="en-SG" sz="1200" b="0" i="0" u="none" strike="noStrike" kern="1200" dirty="0">
                    <a:solidFill>
                      <a:schemeClr val="tx1"/>
                    </a:solidFill>
                    <a:effectLst/>
                    <a:latin typeface="+mn-lt"/>
                    <a:ea typeface="+mn-ea"/>
                    <a:cs typeface="+mn-cs"/>
                  </a:rPr>
                  <a:t>, or despite </a:t>
                </a:r>
                <a:r>
                  <a:rPr lang="en-SG" sz="1200" i="0" kern="1200">
                    <a:solidFill>
                      <a:schemeClr val="tx1"/>
                    </a:solidFill>
                    <a:latin typeface="+mn-lt"/>
                    <a:ea typeface="+mn-ea"/>
                    <a:cs typeface="+mn-cs"/>
                  </a:rPr>
                  <a:t>𝑀</a:t>
                </a:r>
                <a:r>
                  <a:rPr lang="en-SG" sz="1200" b="0" i="0" u="none" strike="noStrike" kern="1200" dirty="0">
                    <a:solidFill>
                      <a:schemeClr val="tx1"/>
                    </a:solidFill>
                    <a:effectLst/>
                    <a:latin typeface="+mn-lt"/>
                    <a:ea typeface="+mn-ea"/>
                    <a:cs typeface="+mn-cs"/>
                  </a:rPr>
                  <a:t>?”</a:t>
                </a:r>
              </a:p>
              <a:p>
                <a:r>
                  <a:rPr lang="en-SG" sz="1200" b="1" i="0" u="none" strike="noStrike" kern="1200" dirty="0">
                    <a:solidFill>
                      <a:schemeClr val="tx1"/>
                    </a:solidFill>
                    <a:effectLst/>
                    <a:latin typeface="+mn-lt"/>
                    <a:ea typeface="+mn-ea"/>
                    <a:cs typeface="+mn-cs"/>
                  </a:rPr>
                  <a:t>Better intervention design</a:t>
                </a:r>
                <a:endParaRPr lang="en-SG" sz="1200" b="0" i="0" u="none" strike="noStrike" kern="1200" dirty="0">
                  <a:solidFill>
                    <a:schemeClr val="tx1"/>
                  </a:solidFill>
                  <a:effectLst/>
                  <a:latin typeface="+mn-lt"/>
                  <a:ea typeface="+mn-ea"/>
                  <a:cs typeface="+mn-cs"/>
                </a:endParaRPr>
              </a:p>
              <a:p>
                <a:pPr lvl="1"/>
                <a:r>
                  <a:rPr lang="en-SG" sz="1200" b="0" i="0" u="none" strike="noStrike" kern="1200" dirty="0">
                    <a:solidFill>
                      <a:schemeClr val="tx1"/>
                    </a:solidFill>
                    <a:effectLst/>
                    <a:latin typeface="+mn-lt"/>
                    <a:ea typeface="+mn-ea"/>
                    <a:cs typeface="+mn-cs"/>
                  </a:rPr>
                  <a:t>If most of the effect is mediated by </a:t>
                </a:r>
                <a:r>
                  <a:rPr lang="en-SG" sz="1200" i="0" kern="1200">
                    <a:solidFill>
                      <a:schemeClr val="tx1"/>
                    </a:solidFill>
                    <a:latin typeface="+mn-lt"/>
                    <a:ea typeface="+mn-ea"/>
                    <a:cs typeface="+mn-cs"/>
                  </a:rPr>
                  <a:t>𝑀</a:t>
                </a:r>
                <a:r>
                  <a:rPr lang="en-SG" sz="1200" b="0" i="0" u="none" strike="noStrike" kern="1200" dirty="0">
                    <a:solidFill>
                      <a:schemeClr val="tx1"/>
                    </a:solidFill>
                    <a:effectLst/>
                    <a:latin typeface="+mn-lt"/>
                    <a:ea typeface="+mn-ea"/>
                    <a:cs typeface="+mn-cs"/>
                  </a:rPr>
                  <a:t>, you can strengthen the program components that move </a:t>
                </a:r>
                <a:r>
                  <a:rPr lang="en-SG" sz="1200" i="0" kern="1200">
                    <a:solidFill>
                      <a:schemeClr val="tx1"/>
                    </a:solidFill>
                    <a:latin typeface="+mn-lt"/>
                    <a:ea typeface="+mn-ea"/>
                    <a:cs typeface="+mn-cs"/>
                  </a:rPr>
                  <a:t>𝑀</a:t>
                </a:r>
                <a:r>
                  <a:rPr lang="en-SG" sz="1200" b="0" i="0" u="none" strike="noStrike" kern="1200" dirty="0">
                    <a:solidFill>
                      <a:schemeClr val="tx1"/>
                    </a:solidFill>
                    <a:effectLst/>
                    <a:latin typeface="+mn-lt"/>
                    <a:ea typeface="+mn-ea"/>
                    <a:cs typeface="+mn-cs"/>
                  </a:rPr>
                  <a:t>.</a:t>
                </a:r>
              </a:p>
              <a:p>
                <a:pPr lvl="1"/>
                <a:r>
                  <a:rPr lang="en-SG" sz="1200" b="0" i="0" u="none" strike="noStrike" kern="1200" dirty="0">
                    <a:solidFill>
                      <a:schemeClr val="tx1"/>
                    </a:solidFill>
                    <a:effectLst/>
                    <a:latin typeface="+mn-lt"/>
                    <a:ea typeface="+mn-ea"/>
                    <a:cs typeface="+mn-cs"/>
                  </a:rPr>
                  <a:t>If the mediated effect is small, then targeting </a:t>
                </a:r>
                <a:r>
                  <a:rPr lang="en-SG" sz="1200" i="0" kern="1200">
                    <a:solidFill>
                      <a:schemeClr val="tx1"/>
                    </a:solidFill>
                    <a:latin typeface="+mn-lt"/>
                    <a:ea typeface="+mn-ea"/>
                    <a:cs typeface="+mn-cs"/>
                  </a:rPr>
                  <a:t>𝑀</a:t>
                </a:r>
                <a:r>
                  <a:rPr lang="en-SG" sz="1200" b="0" i="0" u="none" strike="noStrike" kern="1200" dirty="0">
                    <a:solidFill>
                      <a:schemeClr val="tx1"/>
                    </a:solidFill>
                    <a:effectLst/>
                    <a:latin typeface="+mn-lt"/>
                    <a:ea typeface="+mn-ea"/>
                    <a:cs typeface="+mn-cs"/>
                  </a:rPr>
                  <a:t> may not improve outcomes much, and you might focus on other levers.</a:t>
                </a:r>
              </a:p>
              <a:p>
                <a:r>
                  <a:rPr lang="en-SG" sz="1200" b="1" i="0" u="none" strike="noStrike" kern="1200" dirty="0">
                    <a:solidFill>
                      <a:schemeClr val="tx1"/>
                    </a:solidFill>
                    <a:effectLst/>
                    <a:latin typeface="+mn-lt"/>
                    <a:ea typeface="+mn-ea"/>
                    <a:cs typeface="+mn-cs"/>
                  </a:rPr>
                  <a:t>Policy targeting and resource allocation</a:t>
                </a:r>
                <a:endParaRPr lang="en-SG" sz="1200" b="0" i="0" u="none" strike="noStrike" kern="1200" dirty="0">
                  <a:solidFill>
                    <a:schemeClr val="tx1"/>
                  </a:solidFill>
                  <a:effectLst/>
                  <a:latin typeface="+mn-lt"/>
                  <a:ea typeface="+mn-ea"/>
                  <a:cs typeface="+mn-cs"/>
                </a:endParaRPr>
              </a:p>
              <a:p>
                <a:pPr lvl="1"/>
                <a:r>
                  <a:rPr lang="en-SG" sz="1200" b="0" i="0" u="none" strike="noStrike" kern="1200" dirty="0">
                    <a:solidFill>
                      <a:schemeClr val="tx1"/>
                    </a:solidFill>
                    <a:effectLst/>
                    <a:latin typeface="+mn-lt"/>
                    <a:ea typeface="+mn-ea"/>
                    <a:cs typeface="+mn-cs"/>
                  </a:rPr>
                  <a:t>Helps decide </a:t>
                </a:r>
                <a:r>
                  <a:rPr lang="en-SG" sz="1200" b="0" i="1" u="none" strike="noStrike" kern="1200" dirty="0">
                    <a:solidFill>
                      <a:schemeClr val="tx1"/>
                    </a:solidFill>
                    <a:effectLst/>
                    <a:latin typeface="+mn-lt"/>
                    <a:ea typeface="+mn-ea"/>
                    <a:cs typeface="+mn-cs"/>
                  </a:rPr>
                  <a:t>where</a:t>
                </a:r>
                <a:r>
                  <a:rPr lang="en-SG" sz="1200" b="0" i="0" u="none" strike="noStrike" kern="1200" dirty="0">
                    <a:solidFill>
                      <a:schemeClr val="tx1"/>
                    </a:solidFill>
                    <a:effectLst/>
                    <a:latin typeface="+mn-lt"/>
                    <a:ea typeface="+mn-ea"/>
                    <a:cs typeface="+mn-cs"/>
                  </a:rPr>
                  <a:t> to invest: change </a:t>
                </a:r>
                <a:r>
                  <a:rPr lang="en-SG" sz="1200" i="0" kern="1200">
                    <a:solidFill>
                      <a:schemeClr val="tx1"/>
                    </a:solidFill>
                    <a:latin typeface="+mn-lt"/>
                    <a:ea typeface="+mn-ea"/>
                    <a:cs typeface="+mn-cs"/>
                  </a:rPr>
                  <a:t>𝑋</a:t>
                </a:r>
                <a:r>
                  <a:rPr lang="en-SG" sz="1200" b="0" i="0" u="none" strike="noStrike" kern="1200" dirty="0">
                    <a:solidFill>
                      <a:schemeClr val="tx1"/>
                    </a:solidFill>
                    <a:effectLst/>
                    <a:latin typeface="+mn-lt"/>
                    <a:ea typeface="+mn-ea"/>
                    <a:cs typeface="+mn-cs"/>
                  </a:rPr>
                  <a:t> broadly, or implement a more targeted strategy that acts on </a:t>
                </a:r>
                <a:r>
                  <a:rPr lang="en-SG" sz="1200" i="0" kern="1200">
                    <a:solidFill>
                      <a:schemeClr val="tx1"/>
                    </a:solidFill>
                    <a:latin typeface="+mn-lt"/>
                    <a:ea typeface="+mn-ea"/>
                    <a:cs typeface="+mn-cs"/>
                  </a:rPr>
                  <a:t>𝑀</a:t>
                </a:r>
                <a:r>
                  <a:rPr lang="en-SG" sz="1200" b="0" i="0" u="none" strike="noStrike" kern="1200" dirty="0">
                    <a:solidFill>
                      <a:schemeClr val="tx1"/>
                    </a:solidFill>
                    <a:effectLst/>
                    <a:latin typeface="+mn-lt"/>
                    <a:ea typeface="+mn-ea"/>
                    <a:cs typeface="+mn-cs"/>
                  </a:rPr>
                  <a:t>.</a:t>
                </a:r>
              </a:p>
              <a:p>
                <a:pPr lvl="1"/>
                <a:r>
                  <a:rPr lang="en-SG" sz="1200" b="0" i="0" u="none" strike="noStrike" kern="1200" dirty="0">
                    <a:solidFill>
                      <a:schemeClr val="tx1"/>
                    </a:solidFill>
                    <a:effectLst/>
                    <a:latin typeface="+mn-lt"/>
                    <a:ea typeface="+mn-ea"/>
                    <a:cs typeface="+mn-cs"/>
                  </a:rPr>
                  <a:t>Example: If the effect of education on health is largely through income, policies that raise income might substitute for (or complement) educational policies.</a:t>
                </a:r>
              </a:p>
              <a:p>
                <a:r>
                  <a:rPr lang="en-SG" sz="1200" b="1" i="0" u="none" strike="noStrike" kern="1200" dirty="0">
                    <a:solidFill>
                      <a:schemeClr val="tx1"/>
                    </a:solidFill>
                    <a:effectLst/>
                    <a:latin typeface="+mn-lt"/>
                    <a:ea typeface="+mn-ea"/>
                    <a:cs typeface="+mn-cs"/>
                  </a:rPr>
                  <a:t>Understanding heterogeneous effects / unintended pathways</a:t>
                </a:r>
                <a:endParaRPr lang="en-SG" sz="1200" b="0" i="0" u="none" strike="noStrike" kern="1200" dirty="0">
                  <a:solidFill>
                    <a:schemeClr val="tx1"/>
                  </a:solidFill>
                  <a:effectLst/>
                  <a:latin typeface="+mn-lt"/>
                  <a:ea typeface="+mn-ea"/>
                  <a:cs typeface="+mn-cs"/>
                </a:endParaRPr>
              </a:p>
              <a:p>
                <a:pPr lvl="1"/>
                <a:r>
                  <a:rPr lang="en-SG" sz="1200" b="0" i="0" u="none" strike="noStrike" kern="1200" dirty="0">
                    <a:solidFill>
                      <a:schemeClr val="tx1"/>
                    </a:solidFill>
                    <a:effectLst/>
                    <a:latin typeface="+mn-lt"/>
                    <a:ea typeface="+mn-ea"/>
                    <a:cs typeface="+mn-cs"/>
                  </a:rPr>
                  <a:t>You may find the “direct” pathway is harmful or beneficial even if the total effect is neutral.</a:t>
                </a:r>
              </a:p>
              <a:p>
                <a:pPr lvl="1"/>
                <a:r>
                  <a:rPr lang="en-SG" sz="1200" b="0" i="0" u="none" strike="noStrike" kern="1200" dirty="0">
                    <a:solidFill>
                      <a:schemeClr val="tx1"/>
                    </a:solidFill>
                    <a:effectLst/>
                    <a:latin typeface="+mn-lt"/>
                    <a:ea typeface="+mn-ea"/>
                    <a:cs typeface="+mn-cs"/>
                  </a:rPr>
                  <a:t>Example: a drug lowers disease via biomarker </a:t>
                </a:r>
                <a:r>
                  <a:rPr lang="en-SG" sz="1200" i="0" kern="1200">
                    <a:solidFill>
                      <a:schemeClr val="tx1"/>
                    </a:solidFill>
                    <a:latin typeface="+mn-lt"/>
                    <a:ea typeface="+mn-ea"/>
                    <a:cs typeface="+mn-cs"/>
                  </a:rPr>
                  <a:t>𝑀</a:t>
                </a:r>
                <a:r>
                  <a:rPr lang="en-SG" sz="1200" b="0" i="0" u="none" strike="noStrike" kern="1200" dirty="0">
                    <a:solidFill>
                      <a:schemeClr val="tx1"/>
                    </a:solidFill>
                    <a:effectLst/>
                    <a:latin typeface="+mn-lt"/>
                    <a:ea typeface="+mn-ea"/>
                    <a:cs typeface="+mn-cs"/>
                  </a:rPr>
                  <a:t> but increases side effects via other pathways.</a:t>
                </a:r>
              </a:p>
              <a:p>
                <a:r>
                  <a:rPr lang="en-SG" sz="1200" b="1" i="0" u="none" strike="noStrike" kern="1200" dirty="0">
                    <a:solidFill>
                      <a:schemeClr val="tx1"/>
                    </a:solidFill>
                    <a:effectLst/>
                    <a:latin typeface="+mn-lt"/>
                    <a:ea typeface="+mn-ea"/>
                    <a:cs typeface="+mn-cs"/>
                  </a:rPr>
                  <a:t>Separates causal mechanism from mere association</a:t>
                </a:r>
                <a:endParaRPr lang="en-SG" sz="1200" b="0" i="0" u="none" strike="noStrike" kern="1200" dirty="0">
                  <a:solidFill>
                    <a:schemeClr val="tx1"/>
                  </a:solidFill>
                  <a:effectLst/>
                  <a:latin typeface="+mn-lt"/>
                  <a:ea typeface="+mn-ea"/>
                  <a:cs typeface="+mn-cs"/>
                </a:endParaRPr>
              </a:p>
              <a:p>
                <a:pPr lvl="1"/>
                <a:r>
                  <a:rPr lang="en-SG" sz="1200" b="0" i="0" u="none" strike="noStrike" kern="1200" dirty="0">
                    <a:solidFill>
                      <a:schemeClr val="tx1"/>
                    </a:solidFill>
                    <a:effectLst/>
                    <a:latin typeface="+mn-lt"/>
                    <a:ea typeface="+mn-ea"/>
                    <a:cs typeface="+mn-cs"/>
                  </a:rPr>
                  <a:t>Many “mediation” analyses are just regression associations. Causal mediation explicitly states the causal </a:t>
                </a:r>
                <a:r>
                  <a:rPr lang="en-SG" sz="1200" b="0" i="0" u="none" strike="noStrike" kern="1200" dirty="0" err="1">
                    <a:solidFill>
                      <a:schemeClr val="tx1"/>
                    </a:solidFill>
                    <a:effectLst/>
                    <a:latin typeface="+mn-lt"/>
                    <a:ea typeface="+mn-ea"/>
                    <a:cs typeface="+mn-cs"/>
                  </a:rPr>
                  <a:t>estimands</a:t>
                </a:r>
                <a:r>
                  <a:rPr lang="en-SG" sz="1200" b="0" i="0" u="none" strike="noStrike" kern="1200" dirty="0">
                    <a:solidFill>
                      <a:schemeClr val="tx1"/>
                    </a:solidFill>
                    <a:effectLst/>
                    <a:latin typeface="+mn-lt"/>
                    <a:ea typeface="+mn-ea"/>
                    <a:cs typeface="+mn-cs"/>
                  </a:rPr>
                  <a:t> and the assumptions needed to interpret them causally, especially around </a:t>
                </a:r>
                <a:r>
                  <a:rPr lang="en-SG" sz="1200" b="1" i="0" u="none" strike="noStrike" kern="1200" dirty="0">
                    <a:solidFill>
                      <a:schemeClr val="tx1"/>
                    </a:solidFill>
                    <a:effectLst/>
                    <a:latin typeface="+mn-lt"/>
                    <a:ea typeface="+mn-ea"/>
                    <a:cs typeface="+mn-cs"/>
                  </a:rPr>
                  <a:t>mediator–outcome confounding</a:t>
                </a:r>
                <a:r>
                  <a:rPr lang="en-SG" sz="1200" b="0" i="0" u="none" strike="noStrike" kern="1200" dirty="0">
                    <a:solidFill>
                      <a:schemeClr val="tx1"/>
                    </a:solidFill>
                    <a:effectLst/>
                    <a:latin typeface="+mn-lt"/>
                    <a:ea typeface="+mn-ea"/>
                    <a:cs typeface="+mn-cs"/>
                  </a:rPr>
                  <a:t>.</a:t>
                </a:r>
              </a:p>
              <a:p>
                <a:r>
                  <a:rPr lang="en-SG" sz="1200" b="0" i="0" u="none" strike="noStrike" kern="1200" dirty="0">
                    <a:solidFill>
                      <a:schemeClr val="tx1"/>
                    </a:solidFill>
                    <a:effectLst/>
                    <a:latin typeface="+mn-lt"/>
                    <a:ea typeface="+mn-ea"/>
                    <a:cs typeface="+mn-cs"/>
                  </a:rPr>
                  <a:t>Why “causal” (and not just “mediation”)</a:t>
                </a:r>
              </a:p>
              <a:p>
                <a:r>
                  <a:rPr lang="en-SG" sz="1200" b="0" i="0" u="none" strike="noStrike" kern="1200" dirty="0">
                    <a:solidFill>
                      <a:schemeClr val="tx1"/>
                    </a:solidFill>
                    <a:effectLst/>
                    <a:latin typeface="+mn-lt"/>
                    <a:ea typeface="+mn-ea"/>
                    <a:cs typeface="+mn-cs"/>
                  </a:rPr>
                  <a:t>Because decomposing effects into “through </a:t>
                </a:r>
                <a:r>
                  <a:rPr lang="en-SG" sz="1200" i="0" kern="1200">
                    <a:solidFill>
                      <a:schemeClr val="tx1"/>
                    </a:solidFill>
                    <a:latin typeface="+mn-lt"/>
                    <a:ea typeface="+mn-ea"/>
                    <a:cs typeface="+mn-cs"/>
                  </a:rPr>
                  <a:t>𝑀</a:t>
                </a:r>
                <a:r>
                  <a:rPr lang="en-SG" sz="1200" b="0" i="0" u="none" strike="noStrike" kern="1200" dirty="0">
                    <a:solidFill>
                      <a:schemeClr val="tx1"/>
                    </a:solidFill>
                    <a:effectLst/>
                    <a:latin typeface="+mn-lt"/>
                    <a:ea typeface="+mn-ea"/>
                    <a:cs typeface="+mn-cs"/>
                  </a:rPr>
                  <a:t>” vs “not through </a:t>
                </a:r>
                <a:r>
                  <a:rPr lang="en-SG" sz="1200" i="0" kern="1200">
                    <a:solidFill>
                      <a:schemeClr val="tx1"/>
                    </a:solidFill>
                    <a:latin typeface="+mn-lt"/>
                    <a:ea typeface="+mn-ea"/>
                    <a:cs typeface="+mn-cs"/>
                  </a:rPr>
                  <a:t>𝑀</a:t>
                </a:r>
                <a:r>
                  <a:rPr lang="en-SG" sz="1200" b="0" i="0" u="none" strike="noStrike" kern="1200" dirty="0">
                    <a:solidFill>
                      <a:schemeClr val="tx1"/>
                    </a:solidFill>
                    <a:effectLst/>
                    <a:latin typeface="+mn-lt"/>
                    <a:ea typeface="+mn-ea"/>
                    <a:cs typeface="+mn-cs"/>
                  </a:rPr>
                  <a:t>” is </a:t>
                </a:r>
                <a:r>
                  <a:rPr lang="en-SG" sz="1200" b="1" i="0" u="none" strike="noStrike" kern="1200" dirty="0">
                    <a:solidFill>
                      <a:schemeClr val="tx1"/>
                    </a:solidFill>
                    <a:effectLst/>
                    <a:latin typeface="+mn-lt"/>
                    <a:ea typeface="+mn-ea"/>
                    <a:cs typeface="+mn-cs"/>
                  </a:rPr>
                  <a:t>not identifiable from correlations alone</a:t>
                </a:r>
                <a:r>
                  <a:rPr lang="en-SG" sz="1200" b="0" i="0" u="none" strike="noStrike" kern="1200" dirty="0">
                    <a:solidFill>
                      <a:schemeClr val="tx1"/>
                    </a:solidFill>
                    <a:effectLst/>
                    <a:latin typeface="+mn-lt"/>
                    <a:ea typeface="+mn-ea"/>
                    <a:cs typeface="+mn-cs"/>
                  </a:rPr>
                  <a:t>. You need:</a:t>
                </a:r>
              </a:p>
              <a:p>
                <a:r>
                  <a:rPr lang="en-SG" sz="1200" b="0" i="0" u="none" strike="noStrike" kern="1200" dirty="0">
                    <a:solidFill>
                      <a:schemeClr val="tx1"/>
                    </a:solidFill>
                    <a:effectLst/>
                    <a:latin typeface="+mn-lt"/>
                    <a:ea typeface="+mn-ea"/>
                    <a:cs typeface="+mn-cs"/>
                  </a:rPr>
                  <a:t>a clear causal model (often a DAG),</a:t>
                </a:r>
              </a:p>
              <a:p>
                <a:r>
                  <a:rPr lang="en-SG" sz="1200" b="0" i="0" u="none" strike="noStrike" kern="1200" dirty="0">
                    <a:solidFill>
                      <a:schemeClr val="tx1"/>
                    </a:solidFill>
                    <a:effectLst/>
                    <a:latin typeface="+mn-lt"/>
                    <a:ea typeface="+mn-ea"/>
                    <a:cs typeface="+mn-cs"/>
                  </a:rPr>
                  <a:t>appropriate adjustment for confounders,</a:t>
                </a:r>
              </a:p>
              <a:p>
                <a:r>
                  <a:rPr lang="en-SG" sz="1200" b="0" i="0" u="none" strike="noStrike" kern="1200" dirty="0">
                    <a:solidFill>
                      <a:schemeClr val="tx1"/>
                    </a:solidFill>
                    <a:effectLst/>
                    <a:latin typeface="+mn-lt"/>
                    <a:ea typeface="+mn-ea"/>
                    <a:cs typeface="+mn-cs"/>
                  </a:rPr>
                  <a:t>and careful handling of post-treatment variables.</a:t>
                </a:r>
              </a:p>
              <a:p>
                <a:r>
                  <a:rPr lang="en-SG" sz="1200" b="0" i="0" u="none" strike="noStrike" kern="1200" dirty="0">
                    <a:solidFill>
                      <a:schemeClr val="tx1"/>
                    </a:solidFill>
                    <a:effectLst/>
                    <a:latin typeface="+mn-lt"/>
                    <a:ea typeface="+mn-ea"/>
                    <a:cs typeface="+mn-cs"/>
                  </a:rPr>
                  <a:t>Without this, the “indirect effect” can be badly biased (e.g., if something unmeasured affects both </a:t>
                </a:r>
                <a:r>
                  <a:rPr lang="en-SG" sz="1200" i="0" kern="1200">
                    <a:solidFill>
                      <a:schemeClr val="tx1"/>
                    </a:solidFill>
                    <a:latin typeface="+mn-lt"/>
                    <a:ea typeface="+mn-ea"/>
                    <a:cs typeface="+mn-cs"/>
                  </a:rPr>
                  <a:t>𝑀</a:t>
                </a:r>
                <a:r>
                  <a:rPr lang="en-SG" sz="1200" b="0" i="0" u="none" strike="noStrike" kern="1200" dirty="0">
                    <a:solidFill>
                      <a:schemeClr val="tx1"/>
                    </a:solidFill>
                    <a:effectLst/>
                    <a:latin typeface="+mn-lt"/>
                    <a:ea typeface="+mn-ea"/>
                    <a:cs typeface="+mn-cs"/>
                  </a:rPr>
                  <a:t> and </a:t>
                </a:r>
                <a:r>
                  <a:rPr lang="en-SG" sz="1200" i="0" kern="1200">
                    <a:solidFill>
                      <a:schemeClr val="tx1"/>
                    </a:solidFill>
                    <a:latin typeface="+mn-lt"/>
                    <a:ea typeface="+mn-ea"/>
                    <a:cs typeface="+mn-cs"/>
                  </a:rPr>
                  <a:t>𝑌</a:t>
                </a:r>
                <a:r>
                  <a:rPr lang="en-SG" sz="1200" b="0" i="0" u="none" strike="noStrike" kern="1200" dirty="0">
                    <a:solidFill>
                      <a:schemeClr val="tx1"/>
                    </a:solidFill>
                    <a:effectLst/>
                    <a:latin typeface="+mn-lt"/>
                    <a:ea typeface="+mn-ea"/>
                    <a:cs typeface="+mn-cs"/>
                  </a:rPr>
                  <a:t>).</a:t>
                </a:r>
              </a:p>
              <a:p>
                <a:r>
                  <a:rPr lang="en-SG" sz="1200" b="0" i="0" u="none" strike="noStrike" kern="1200" dirty="0">
                    <a:solidFill>
                      <a:schemeClr val="tx1"/>
                    </a:solidFill>
                    <a:effectLst/>
                    <a:latin typeface="+mn-lt"/>
                    <a:ea typeface="+mn-ea"/>
                    <a:cs typeface="+mn-cs"/>
                  </a:rPr>
                  <a:t>When it’s most appropriate</a:t>
                </a:r>
              </a:p>
              <a:p>
                <a:r>
                  <a:rPr lang="en-SG" sz="1200" b="0" i="0" u="none" strike="noStrike" kern="1200" dirty="0">
                    <a:solidFill>
                      <a:schemeClr val="tx1"/>
                    </a:solidFill>
                    <a:effectLst/>
                    <a:latin typeface="+mn-lt"/>
                    <a:ea typeface="+mn-ea"/>
                    <a:cs typeface="+mn-cs"/>
                  </a:rPr>
                  <a:t>You have a credible causal effect of </a:t>
                </a:r>
                <a:r>
                  <a:rPr lang="en-SG" sz="1200" i="0" kern="1200">
                    <a:solidFill>
                      <a:schemeClr val="tx1"/>
                    </a:solidFill>
                    <a:latin typeface="+mn-lt"/>
                    <a:ea typeface="+mn-ea"/>
                    <a:cs typeface="+mn-cs"/>
                  </a:rPr>
                  <a:t>𝑋</a:t>
                </a:r>
                <a:r>
                  <a:rPr lang="en-SG" sz="1200" b="0" i="0" u="none" strike="noStrike" kern="1200" dirty="0">
                    <a:solidFill>
                      <a:schemeClr val="tx1"/>
                    </a:solidFill>
                    <a:effectLst/>
                    <a:latin typeface="+mn-lt"/>
                    <a:ea typeface="+mn-ea"/>
                    <a:cs typeface="+mn-cs"/>
                  </a:rPr>
                  <a:t> on </a:t>
                </a:r>
                <a:r>
                  <a:rPr lang="en-SG" sz="1200" i="0" kern="1200">
                    <a:solidFill>
                      <a:schemeClr val="tx1"/>
                    </a:solidFill>
                    <a:latin typeface="+mn-lt"/>
                    <a:ea typeface="+mn-ea"/>
                    <a:cs typeface="+mn-cs"/>
                  </a:rPr>
                  <a:t>𝑌</a:t>
                </a:r>
                <a:r>
                  <a:rPr lang="en-SG" sz="1200" b="0" i="0" u="none" strike="noStrike" kern="1200" dirty="0">
                    <a:solidFill>
                      <a:schemeClr val="tx1"/>
                    </a:solidFill>
                    <a:effectLst/>
                    <a:latin typeface="+mn-lt"/>
                    <a:ea typeface="+mn-ea"/>
                    <a:cs typeface="+mn-cs"/>
                  </a:rPr>
                  <a:t> (e.g., randomized </a:t>
                </a:r>
                <a:r>
                  <a:rPr lang="en-SG" sz="1200" i="0" kern="1200">
                    <a:solidFill>
                      <a:schemeClr val="tx1"/>
                    </a:solidFill>
                    <a:latin typeface="+mn-lt"/>
                    <a:ea typeface="+mn-ea"/>
                    <a:cs typeface="+mn-cs"/>
                  </a:rPr>
                  <a:t>𝑋</a:t>
                </a:r>
                <a:r>
                  <a:rPr lang="en-SG" sz="1200" b="0" i="0" u="none" strike="noStrike" kern="1200" dirty="0">
                    <a:solidFill>
                      <a:schemeClr val="tx1"/>
                    </a:solidFill>
                    <a:effectLst/>
                    <a:latin typeface="+mn-lt"/>
                    <a:ea typeface="+mn-ea"/>
                    <a:cs typeface="+mn-cs"/>
                  </a:rPr>
                  <a:t>, or strong observational design).</a:t>
                </a:r>
              </a:p>
              <a:p>
                <a:r>
                  <a:rPr lang="en-SG" sz="1200" b="0" i="0" u="none" strike="noStrike" kern="1200" dirty="0">
                    <a:solidFill>
                      <a:schemeClr val="tx1"/>
                    </a:solidFill>
                    <a:effectLst/>
                    <a:latin typeface="+mn-lt"/>
                    <a:ea typeface="+mn-ea"/>
                    <a:cs typeface="+mn-cs"/>
                  </a:rPr>
                  <a:t>You have a well-motivated mediator </a:t>
                </a:r>
                <a:r>
                  <a:rPr lang="en-SG" sz="1200" i="0" kern="1200">
                    <a:solidFill>
                      <a:schemeClr val="tx1"/>
                    </a:solidFill>
                    <a:latin typeface="+mn-lt"/>
                    <a:ea typeface="+mn-ea"/>
                    <a:cs typeface="+mn-cs"/>
                  </a:rPr>
                  <a:t>𝑀</a:t>
                </a:r>
                <a:r>
                  <a:rPr lang="en-SG" sz="1200" b="0" i="0" u="none" strike="noStrike" kern="1200" dirty="0">
                    <a:solidFill>
                      <a:schemeClr val="tx1"/>
                    </a:solidFill>
                    <a:effectLst/>
                    <a:latin typeface="+mn-lt"/>
                    <a:ea typeface="+mn-ea"/>
                    <a:cs typeface="+mn-cs"/>
                  </a:rPr>
                  <a:t> measured after </a:t>
                </a:r>
                <a:r>
                  <a:rPr lang="en-SG" sz="1200" i="0" kern="1200">
                    <a:solidFill>
                      <a:schemeClr val="tx1"/>
                    </a:solidFill>
                    <a:latin typeface="+mn-lt"/>
                    <a:ea typeface="+mn-ea"/>
                    <a:cs typeface="+mn-cs"/>
                  </a:rPr>
                  <a:t>𝑋</a:t>
                </a:r>
                <a:r>
                  <a:rPr lang="en-SG" sz="1200" b="0" i="0" u="none" strike="noStrike" kern="1200" dirty="0">
                    <a:solidFill>
                      <a:schemeClr val="tx1"/>
                    </a:solidFill>
                    <a:effectLst/>
                    <a:latin typeface="+mn-lt"/>
                    <a:ea typeface="+mn-ea"/>
                    <a:cs typeface="+mn-cs"/>
                  </a:rPr>
                  <a:t> and before </a:t>
                </a:r>
                <a:r>
                  <a:rPr lang="en-SG" sz="1200" i="0" kern="1200">
                    <a:solidFill>
                      <a:schemeClr val="tx1"/>
                    </a:solidFill>
                    <a:latin typeface="+mn-lt"/>
                    <a:ea typeface="+mn-ea"/>
                    <a:cs typeface="+mn-cs"/>
                  </a:rPr>
                  <a:t>𝑌</a:t>
                </a:r>
                <a:r>
                  <a:rPr lang="en-SG" sz="1200" b="0" i="0" u="none" strike="noStrike" kern="1200" dirty="0">
                    <a:solidFill>
                      <a:schemeClr val="tx1"/>
                    </a:solidFill>
                    <a:effectLst/>
                    <a:latin typeface="+mn-lt"/>
                    <a:ea typeface="+mn-ea"/>
                    <a:cs typeface="+mn-cs"/>
                  </a:rPr>
                  <a:t>.</a:t>
                </a:r>
              </a:p>
              <a:p>
                <a:r>
                  <a:rPr lang="en-SG" sz="1200" b="0" i="0" u="none" strike="noStrike" kern="1200" dirty="0">
                    <a:solidFill>
                      <a:schemeClr val="tx1"/>
                    </a:solidFill>
                    <a:effectLst/>
                    <a:latin typeface="+mn-lt"/>
                    <a:ea typeface="+mn-ea"/>
                    <a:cs typeface="+mn-cs"/>
                  </a:rPr>
                  <a:t>You can argue that confounding of </a:t>
                </a:r>
                <a:r>
                  <a:rPr lang="en-SG" sz="1200" i="0" kern="1200">
                    <a:solidFill>
                      <a:schemeClr val="tx1"/>
                    </a:solidFill>
                    <a:latin typeface="+mn-lt"/>
                    <a:ea typeface="+mn-ea"/>
                    <a:cs typeface="+mn-cs"/>
                  </a:rPr>
                  <a:t>𝑀→𝑌</a:t>
                </a:r>
                <a:r>
                  <a:rPr lang="en-SG" sz="1200" b="0" i="0" u="none" strike="noStrike" kern="1200" dirty="0">
                    <a:solidFill>
                      <a:schemeClr val="tx1"/>
                    </a:solidFill>
                    <a:effectLst/>
                    <a:latin typeface="+mn-lt"/>
                    <a:ea typeface="+mn-ea"/>
                    <a:cs typeface="+mn-cs"/>
                  </a:rPr>
                  <a:t> is controlled (the hardest part).</a:t>
                </a:r>
              </a:p>
              <a:p>
                <a:r>
                  <a:rPr lang="en-SG" sz="1200" b="0" i="0" u="none" strike="noStrike" kern="1200" dirty="0">
                    <a:solidFill>
                      <a:schemeClr val="tx1"/>
                    </a:solidFill>
                    <a:effectLst/>
                    <a:latin typeface="+mn-lt"/>
                    <a:ea typeface="+mn-ea"/>
                    <a:cs typeface="+mn-cs"/>
                  </a:rPr>
                  <a:t>If you share your concrete </a:t>
                </a:r>
                <a:r>
                  <a:rPr lang="en-SG" sz="1200" i="0" kern="1200">
                    <a:solidFill>
                      <a:schemeClr val="tx1"/>
                    </a:solidFill>
                    <a:latin typeface="+mn-lt"/>
                    <a:ea typeface="+mn-ea"/>
                    <a:cs typeface="+mn-cs"/>
                  </a:rPr>
                  <a:t>𝑋</a:t>
                </a:r>
                <a:r>
                  <a:rPr lang="en-SG" sz="1200" b="0" i="0" u="none" strike="noStrike" kern="1200" dirty="0">
                    <a:solidFill>
                      <a:schemeClr val="tx1"/>
                    </a:solidFill>
                    <a:effectLst/>
                    <a:latin typeface="+mn-lt"/>
                    <a:ea typeface="+mn-ea"/>
                    <a:cs typeface="+mn-cs"/>
                  </a:rPr>
                  <a:t>, </a:t>
                </a:r>
                <a:r>
                  <a:rPr lang="en-SG" sz="1200" i="0" kern="1200">
                    <a:solidFill>
                      <a:schemeClr val="tx1"/>
                    </a:solidFill>
                    <a:latin typeface="+mn-lt"/>
                    <a:ea typeface="+mn-ea"/>
                    <a:cs typeface="+mn-cs"/>
                  </a:rPr>
                  <a:t>𝑀</a:t>
                </a:r>
                <a:r>
                  <a:rPr lang="en-SG" sz="1200" b="0" i="0" u="none" strike="noStrike" kern="1200" dirty="0">
                    <a:solidFill>
                      <a:schemeClr val="tx1"/>
                    </a:solidFill>
                    <a:effectLst/>
                    <a:latin typeface="+mn-lt"/>
                    <a:ea typeface="+mn-ea"/>
                    <a:cs typeface="+mn-cs"/>
                  </a:rPr>
                  <a:t>, and </a:t>
                </a:r>
                <a:r>
                  <a:rPr lang="en-SG" sz="1200" i="0" kern="1200">
                    <a:solidFill>
                      <a:schemeClr val="tx1"/>
                    </a:solidFill>
                    <a:latin typeface="+mn-lt"/>
                    <a:ea typeface="+mn-ea"/>
                    <a:cs typeface="+mn-cs"/>
                  </a:rPr>
                  <a:t>𝑌</a:t>
                </a:r>
                <a:r>
                  <a:rPr lang="en-SG" sz="1200" b="0" i="0" u="none" strike="noStrike" kern="1200" dirty="0">
                    <a:solidFill>
                      <a:schemeClr val="tx1"/>
                    </a:solidFill>
                    <a:effectLst/>
                    <a:latin typeface="+mn-lt"/>
                    <a:ea typeface="+mn-ea"/>
                    <a:cs typeface="+mn-cs"/>
                  </a:rPr>
                  <a:t> (and whether </a:t>
                </a:r>
                <a:r>
                  <a:rPr lang="en-SG" sz="1200" i="0" kern="1200">
                    <a:solidFill>
                      <a:schemeClr val="tx1"/>
                    </a:solidFill>
                    <a:latin typeface="+mn-lt"/>
                    <a:ea typeface="+mn-ea"/>
                    <a:cs typeface="+mn-cs"/>
                  </a:rPr>
                  <a:t>𝑋</a:t>
                </a:r>
                <a:r>
                  <a:rPr lang="en-SG" sz="1200" b="0" i="0" u="none" strike="noStrike" kern="1200" dirty="0">
                    <a:solidFill>
                      <a:schemeClr val="tx1"/>
                    </a:solidFill>
                    <a:effectLst/>
                    <a:latin typeface="+mn-lt"/>
                    <a:ea typeface="+mn-ea"/>
                    <a:cs typeface="+mn-cs"/>
                  </a:rPr>
                  <a:t> is randomized), I can explain what causal mediation would answer in your case and what assumptions you’d need.</a:t>
                </a:r>
              </a:p>
              <a:p>
                <a:pPr marL="0" marR="0" lvl="0" indent="0" algn="l" defTabSz="914400" rtl="0" eaLnBrk="1" fontAlgn="auto" latinLnBrk="0" hangingPunct="1">
                  <a:lnSpc>
                    <a:spcPct val="100000"/>
                  </a:lnSpc>
                  <a:spcBef>
                    <a:spcPts val="0"/>
                  </a:spcBef>
                  <a:spcAft>
                    <a:spcPts val="0"/>
                  </a:spcAft>
                  <a:buClrTx/>
                  <a:buSzTx/>
                  <a:buFontTx/>
                  <a:buNone/>
                  <a:tabLst/>
                  <a:defRPr/>
                </a:pPr>
                <a:r>
                  <a:rPr lang="en-SG" dirty="0">
                    <a:solidFill>
                      <a:schemeClr val="tx1"/>
                    </a:solidFill>
                    <a:latin typeface="Times New Roman" panose="02020603050405020304" pitchFamily="18" charset="0"/>
                    <a:cs typeface="Times New Roman" panose="02020603050405020304" pitchFamily="18" charset="0"/>
                  </a:rPr>
                  <a:t>(esp. confounding of </a:t>
                </a:r>
                <a:r>
                  <a:rPr lang="en-SG" i="0">
                    <a:solidFill>
                      <a:schemeClr val="tx1"/>
                    </a:solidFill>
                    <a:latin typeface="Cambria Math" panose="02040503050406030204" pitchFamily="18" charset="0"/>
                  </a:rPr>
                  <a:t>𝑀→𝑌</a:t>
                </a:r>
                <a:r>
                  <a:rPr lang="en-SG" dirty="0">
                    <a:solidFill>
                      <a:schemeClr val="tx1"/>
                    </a:solidFill>
                    <a:latin typeface="Times New Roman" panose="02020603050405020304" pitchFamily="18" charset="0"/>
                    <a:cs typeface="Times New Roman" panose="02020603050405020304" pitchFamily="18" charset="0"/>
                  </a:rPr>
                  <a:t>)</a:t>
                </a:r>
              </a:p>
              <a:p>
                <a:endParaRPr lang="en-SG" dirty="0"/>
              </a:p>
            </p:txBody>
          </p:sp>
        </mc:Fallback>
      </mc:AlternateContent>
      <p:sp>
        <p:nvSpPr>
          <p:cNvPr id="4" name="Slide Number Placeholder 3">
            <a:extLst>
              <a:ext uri="{FF2B5EF4-FFF2-40B4-BE49-F238E27FC236}">
                <a16:creationId xmlns:a16="http://schemas.microsoft.com/office/drawing/2014/main" id="{6BCA6EF2-25F1-6203-C601-E150FE956743}"/>
              </a:ext>
            </a:extLst>
          </p:cNvPr>
          <p:cNvSpPr>
            <a:spLocks noGrp="1"/>
          </p:cNvSpPr>
          <p:nvPr>
            <p:ph type="sldNum" sz="quarter" idx="5"/>
          </p:nvPr>
        </p:nvSpPr>
        <p:spPr/>
        <p:txBody>
          <a:bodyPr/>
          <a:lstStyle/>
          <a:p>
            <a:fld id="{90E04DD9-733F-4347-B3BE-CD54B8750232}" type="slidenum">
              <a:rPr lang="en-SG" smtClean="0"/>
              <a:t>7</a:t>
            </a:fld>
            <a:endParaRPr lang="en-SG"/>
          </a:p>
        </p:txBody>
      </p:sp>
    </p:spTree>
    <p:extLst>
      <p:ext uri="{BB962C8B-B14F-4D97-AF65-F5344CB8AC3E}">
        <p14:creationId xmlns:p14="http://schemas.microsoft.com/office/powerpoint/2010/main" val="12753639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solidFill>
                  <a:schemeClr val="tx1"/>
                </a:solidFill>
                <a:latin typeface="Times-Roman"/>
              </a:rPr>
              <a:t>Indirect effect representing the change in DMFT if distribution of sugar consumption is set to that among high income group</a:t>
            </a:r>
          </a:p>
          <a:p>
            <a:endParaRPr lang="en-SG" dirty="0">
              <a:solidFill>
                <a:schemeClr val="tx1"/>
              </a:solidFill>
              <a:latin typeface="Times-Roman"/>
            </a:endParaRPr>
          </a:p>
          <a:p>
            <a:r>
              <a:rPr lang="en-SG" dirty="0">
                <a:solidFill>
                  <a:schemeClr val="tx1"/>
                </a:solidFill>
                <a:latin typeface="Times-Roman"/>
              </a:rPr>
              <a:t>Plausible interaction between income and sugar consumption </a:t>
            </a:r>
            <a:br>
              <a:rPr lang="en-SG" dirty="0">
                <a:solidFill>
                  <a:schemeClr val="tx1"/>
                </a:solidFill>
                <a:latin typeface="Times-Roman"/>
              </a:rPr>
            </a:br>
            <a:r>
              <a:rPr lang="en-SG" dirty="0">
                <a:solidFill>
                  <a:schemeClr val="tx1"/>
                </a:solidFill>
                <a:latin typeface="Times-Roman"/>
                <a:sym typeface="Wingdings" pitchFamily="2" charset="2"/>
              </a:rPr>
              <a:t> Effect of sugar consumption on caries differs based on income group</a:t>
            </a:r>
            <a:endParaRPr lang="en-SG" dirty="0">
              <a:solidFill>
                <a:schemeClr val="tx1"/>
              </a:solidFill>
              <a:latin typeface="Times-Roman"/>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E04DD9-733F-4347-B3BE-CD54B8750232}" type="slidenum">
              <a:rPr kumimoji="0" lang="en-SG"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SG"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6565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E96770-BF6A-E246-BB0B-D38F2C4D3C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F5ACEA-D216-1E0B-6E78-466A27E64A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EF948B-5E9A-9708-75CA-AD87A39978E8}"/>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200" b="0" i="0" u="none" strike="noStrike" cap="none" normalizeH="0" baseline="0" dirty="0">
                <a:ln>
                  <a:noFill/>
                </a:ln>
                <a:solidFill>
                  <a:srgbClr val="333333"/>
                </a:solidFill>
                <a:effectLst/>
                <a:latin typeface="Arial" panose="020B0604020202020204" pitchFamily="34" charset="0"/>
                <a:ea typeface="Segoe UI" panose="020B0502040204020203" pitchFamily="34" charset="0"/>
                <a:cs typeface="Arial" panose="020B0604020202020204" pitchFamily="34" charset="0"/>
              </a:rPr>
              <a:t>Explain the purpose of causal mediation analysis and how it helps identify mechanisms through which interventions affect outcomes. </a:t>
            </a:r>
            <a:endParaRPr kumimoji="0" lang="en-US" altLang="en-US" sz="900" b="0" i="0" u="none" strike="noStrike" cap="none" normalizeH="0" baseline="0" dirty="0">
              <a:ln>
                <a:noFill/>
              </a:ln>
              <a:solidFill>
                <a:schemeClr val="tx1"/>
              </a:solidFill>
              <a:effectLst/>
              <a:ea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200" b="0" i="0" u="none" strike="noStrike" cap="none" normalizeH="0" baseline="0" dirty="0">
                <a:ln>
                  <a:noFill/>
                </a:ln>
                <a:solidFill>
                  <a:srgbClr val="333333"/>
                </a:solidFill>
                <a:effectLst/>
                <a:latin typeface="Arial" panose="020B0604020202020204" pitchFamily="34" charset="0"/>
                <a:ea typeface="Segoe UI" panose="020B0502040204020203" pitchFamily="34" charset="0"/>
                <a:cs typeface="Arial" panose="020B0604020202020204" pitchFamily="34" charset="0"/>
              </a:rPr>
              <a:t>Define key terms in causal mediation (mediator, exposure/treatment, outcome, confounders). </a:t>
            </a:r>
            <a:endParaRPr kumimoji="0" lang="en-US" altLang="en-US" sz="900" b="0" i="0" u="none" strike="noStrike" cap="none" normalizeH="0" baseline="0" dirty="0">
              <a:ln>
                <a:noFill/>
              </a:ln>
              <a:solidFill>
                <a:schemeClr val="tx1"/>
              </a:solidFill>
              <a:effectLst/>
              <a:ea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200" b="0" i="0" u="none" strike="noStrike" cap="none" normalizeH="0" baseline="0" dirty="0">
                <a:ln>
                  <a:noFill/>
                </a:ln>
                <a:solidFill>
                  <a:srgbClr val="333333"/>
                </a:solidFill>
                <a:effectLst/>
                <a:latin typeface="Arial" panose="020B0604020202020204" pitchFamily="34" charset="0"/>
                <a:ea typeface="Segoe UI" panose="020B0502040204020203" pitchFamily="34" charset="0"/>
                <a:cs typeface="Arial" panose="020B0604020202020204" pitchFamily="34" charset="0"/>
              </a:rPr>
              <a:t>Apply the potential outcomes framework to mediation. </a:t>
            </a:r>
            <a:endParaRPr kumimoji="0" lang="en-US" altLang="en-US" sz="900" b="0" i="0" u="none" strike="noStrike" cap="none" normalizeH="0" baseline="0" dirty="0">
              <a:ln>
                <a:noFill/>
              </a:ln>
              <a:solidFill>
                <a:schemeClr val="tx1"/>
              </a:solidFill>
              <a:effectLst/>
              <a:ea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200" b="0" i="0" u="none" strike="noStrike" cap="none" normalizeH="0" baseline="0" dirty="0">
                <a:ln>
                  <a:noFill/>
                </a:ln>
                <a:solidFill>
                  <a:srgbClr val="333333"/>
                </a:solidFill>
                <a:effectLst/>
                <a:latin typeface="Arial" panose="020B0604020202020204" pitchFamily="34" charset="0"/>
                <a:ea typeface="Segoe UI" panose="020B0502040204020203" pitchFamily="34" charset="0"/>
                <a:cs typeface="Arial" panose="020B0604020202020204" pitchFamily="34" charset="0"/>
              </a:rPr>
              <a:t>Decompose effects into total, direct, and indirect effects, and correctly interpret these quantities (e.g., natural direct/indirect effects or controlled direct effects, as appropriate). </a:t>
            </a:r>
            <a:endParaRPr kumimoji="0" lang="en-US" altLang="en-US" sz="900" b="0" i="0" u="none" strike="noStrike" cap="none" normalizeH="0" baseline="0" dirty="0">
              <a:ln>
                <a:noFill/>
              </a:ln>
              <a:solidFill>
                <a:schemeClr val="tx1"/>
              </a:solidFill>
              <a:effectLst/>
              <a:ea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en-US" altLang="en-US" sz="1200" b="0" i="0" u="none" strike="noStrike" cap="none" normalizeH="0" baseline="0" dirty="0">
                <a:ln>
                  <a:noFill/>
                </a:ln>
                <a:solidFill>
                  <a:srgbClr val="333333"/>
                </a:solidFill>
                <a:effectLst/>
                <a:latin typeface="Arial" panose="020B0604020202020204" pitchFamily="34" charset="0"/>
                <a:ea typeface="Segoe UI" panose="020B0502040204020203" pitchFamily="34" charset="0"/>
                <a:cs typeface="Arial" panose="020B0604020202020204" pitchFamily="34" charset="0"/>
              </a:rPr>
              <a:t>State and assess core assumptions for causal mediation (e.g., consistency, positivity, no unmeasured confounding for treatment–outcome, treatment–mediator, and mediator–outcome relations; and any required cross-world assumptions) and describe implications of violations. </a:t>
            </a:r>
            <a:endParaRPr kumimoji="0" lang="en-US" altLang="en-US" sz="900" b="0" i="0" u="none" strike="noStrike" cap="none" normalizeH="0" baseline="0" dirty="0">
              <a:ln>
                <a:noFill/>
              </a:ln>
              <a:solidFill>
                <a:schemeClr val="tx1"/>
              </a:solidFill>
              <a:effectLst/>
              <a:ea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7"/>
              <a:tabLst/>
            </a:pPr>
            <a:r>
              <a:rPr kumimoji="0" lang="en-US" altLang="en-US" sz="1200" b="0" i="0" u="none" strike="noStrike" cap="none" normalizeH="0" baseline="0" dirty="0">
                <a:ln>
                  <a:noFill/>
                </a:ln>
                <a:solidFill>
                  <a:srgbClr val="333333"/>
                </a:solidFill>
                <a:effectLst/>
                <a:latin typeface="Arial" panose="020B0604020202020204" pitchFamily="34" charset="0"/>
                <a:ea typeface="Segoe UI" panose="020B0502040204020203" pitchFamily="34" charset="0"/>
                <a:cs typeface="Arial" panose="020B0604020202020204" pitchFamily="34" charset="0"/>
              </a:rPr>
              <a:t>Identify data and design requirements for mediation analyses (measurement timing, confounder measurement, mediator/outcome measurement quality, sample size considerations). </a:t>
            </a:r>
            <a:endParaRPr kumimoji="0" lang="en-US" altLang="en-US" sz="900" b="0" i="0" u="none" strike="noStrike" cap="none" normalizeH="0" baseline="0" dirty="0">
              <a:ln>
                <a:noFill/>
              </a:ln>
              <a:solidFill>
                <a:schemeClr val="tx1"/>
              </a:solidFill>
              <a:effectLst/>
              <a:ea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8"/>
              <a:tabLst/>
            </a:pPr>
            <a:r>
              <a:rPr kumimoji="0" lang="en-US" altLang="en-US" sz="1200" b="0" i="0" u="none" strike="noStrike" cap="none" normalizeH="0" baseline="0" dirty="0">
                <a:ln>
                  <a:noFill/>
                </a:ln>
                <a:solidFill>
                  <a:srgbClr val="333333"/>
                </a:solidFill>
                <a:effectLst/>
                <a:latin typeface="Arial" panose="020B0604020202020204" pitchFamily="34" charset="0"/>
                <a:ea typeface="Segoe UI" panose="020B0502040204020203" pitchFamily="34" charset="0"/>
                <a:cs typeface="Arial" panose="020B0604020202020204" pitchFamily="34" charset="0"/>
              </a:rPr>
              <a:t>Conduct a basic causal mediation assessment using simulated data, including fitting the required models, estimating direct/indirect effects, and </a:t>
            </a:r>
            <a:r>
              <a:rPr kumimoji="0" lang="en-US" altLang="en-US" sz="1200" b="0" i="0" u="none" strike="noStrike" cap="none" normalizeH="0" baseline="0" dirty="0" err="1">
                <a:ln>
                  <a:noFill/>
                </a:ln>
                <a:solidFill>
                  <a:srgbClr val="333333"/>
                </a:solidFill>
                <a:effectLst/>
                <a:latin typeface="Arial" panose="020B0604020202020204" pitchFamily="34" charset="0"/>
                <a:ea typeface="Segoe UI" panose="020B0502040204020203" pitchFamily="34" charset="0"/>
                <a:cs typeface="Arial" panose="020B0604020202020204" pitchFamily="34" charset="0"/>
              </a:rPr>
              <a:t>summarising</a:t>
            </a:r>
            <a:r>
              <a:rPr kumimoji="0" lang="en-US" altLang="en-US" sz="1200" b="0" i="0" u="none" strike="noStrike" cap="none" normalizeH="0" baseline="0" dirty="0">
                <a:ln>
                  <a:noFill/>
                </a:ln>
                <a:solidFill>
                  <a:srgbClr val="333333"/>
                </a:solidFill>
                <a:effectLst/>
                <a:latin typeface="Arial" panose="020B0604020202020204" pitchFamily="34" charset="0"/>
                <a:ea typeface="Segoe UI" panose="020B0502040204020203" pitchFamily="34" charset="0"/>
                <a:cs typeface="Arial" panose="020B0604020202020204" pitchFamily="34" charset="0"/>
              </a:rPr>
              <a:t> results. </a:t>
            </a:r>
            <a:endParaRPr kumimoji="0" lang="en-US" altLang="en-US" sz="900" b="0" i="0" u="none" strike="noStrike" cap="none" normalizeH="0" baseline="0" dirty="0">
              <a:ln>
                <a:noFill/>
              </a:ln>
              <a:solidFill>
                <a:schemeClr val="tx1"/>
              </a:solidFill>
              <a:effectLst/>
              <a:ea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9"/>
              <a:tabLst/>
            </a:pPr>
            <a:r>
              <a:rPr kumimoji="0" lang="en-US" altLang="en-US" sz="1200" b="0" i="0" u="none" strike="noStrike" cap="none" normalizeH="0" baseline="0" dirty="0">
                <a:ln>
                  <a:noFill/>
                </a:ln>
                <a:solidFill>
                  <a:srgbClr val="333333"/>
                </a:solidFill>
                <a:effectLst/>
                <a:latin typeface="Arial" panose="020B0604020202020204" pitchFamily="34" charset="0"/>
                <a:ea typeface="Segoe UI" panose="020B0502040204020203" pitchFamily="34" charset="0"/>
                <a:cs typeface="Arial" panose="020B0604020202020204" pitchFamily="34" charset="0"/>
              </a:rPr>
              <a:t>Interpret mediation outputs in the context of evidence and equity, including how mechanisms may differ across groups, what “effective and equitable” might mean in mediation terms, and how results can inform intervention refinement. </a:t>
            </a:r>
            <a:endParaRPr lang="en-SG" dirty="0">
              <a:solidFill>
                <a:schemeClr val="tx1"/>
              </a:solidFill>
              <a:latin typeface="Times-Roman"/>
            </a:endParaRPr>
          </a:p>
        </p:txBody>
      </p:sp>
      <p:sp>
        <p:nvSpPr>
          <p:cNvPr id="4" name="Slide Number Placeholder 3">
            <a:extLst>
              <a:ext uri="{FF2B5EF4-FFF2-40B4-BE49-F238E27FC236}">
                <a16:creationId xmlns:a16="http://schemas.microsoft.com/office/drawing/2014/main" id="{CF005670-319D-FC39-DAB9-159DF8BB5D7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E04DD9-733F-4347-B3BE-CD54B8750232}" type="slidenum">
              <a:rPr kumimoji="0" lang="en-SG"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SG"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021480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9F1309-00CE-9A84-D209-5DBB89260E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20844A-22E7-8A3F-E1D3-745A7EE45A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37B7D8-D8F1-070A-B4AE-54314D17CBE9}"/>
              </a:ext>
            </a:extLst>
          </p:cNvPr>
          <p:cNvSpPr>
            <a:spLocks noGrp="1"/>
          </p:cNvSpPr>
          <p:nvPr>
            <p:ph type="body" idx="1"/>
          </p:nvPr>
        </p:nvSpPr>
        <p:spPr/>
        <p:txBody>
          <a:bodyPr/>
          <a:lstStyle/>
          <a:p>
            <a:r>
              <a:rPr lang="en-SG" dirty="0"/>
              <a:t>But what if we now consider a third factor, sugar consumption?</a:t>
            </a:r>
            <a:br>
              <a:rPr lang="en-SG" dirty="0"/>
            </a:br>
            <a:r>
              <a:rPr lang="en-SG" dirty="0"/>
              <a:t>We know that income is associated with dental caries, but does sugar consumption, that varies based on income status, make a difference? </a:t>
            </a:r>
          </a:p>
          <a:p>
            <a:r>
              <a:rPr lang="en-SG" dirty="0"/>
              <a:t>And how much of the effect goes through this mediated pathway?</a:t>
            </a:r>
          </a:p>
          <a:p>
            <a:endParaRPr lang="en-SG" dirty="0"/>
          </a:p>
          <a:p>
            <a:r>
              <a:rPr lang="en-SG" dirty="0"/>
              <a:t>Higher income, buy less junk food</a:t>
            </a:r>
          </a:p>
        </p:txBody>
      </p:sp>
      <p:sp>
        <p:nvSpPr>
          <p:cNvPr id="4" name="Slide Number Placeholder 3">
            <a:extLst>
              <a:ext uri="{FF2B5EF4-FFF2-40B4-BE49-F238E27FC236}">
                <a16:creationId xmlns:a16="http://schemas.microsoft.com/office/drawing/2014/main" id="{ED87E795-B963-5491-1EB6-3235E9F996E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E04DD9-733F-4347-B3BE-CD54B8750232}" type="slidenum">
              <a:rPr kumimoji="0" lang="en-SG"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SG"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827748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yreg</a:t>
            </a:r>
            <a:r>
              <a:rPr lang="en-US" dirty="0"/>
              <a:t>(string) - this specifies the form of regression model to be fitted for the outcome variable. This can be either linear, logistic, loglinear,</a:t>
            </a:r>
          </a:p>
          <a:p>
            <a:r>
              <a:rPr lang="en-US" dirty="0"/>
              <a:t>        Poisson or Negative binomial.</a:t>
            </a:r>
          </a:p>
          <a:p>
            <a:r>
              <a:rPr lang="en-US" dirty="0" err="1"/>
              <a:t>mreg</a:t>
            </a:r>
            <a:r>
              <a:rPr lang="en-US" dirty="0"/>
              <a:t>(string) - this specifies the form of regression model to be fitted for the mediator variable.  This can be either linear or logistic.</a:t>
            </a:r>
          </a:p>
          <a:p>
            <a:endParaRPr lang="en-SG" dirty="0"/>
          </a:p>
          <a:p>
            <a:r>
              <a:rPr lang="en-SG" b="0" i="0" dirty="0">
                <a:solidFill>
                  <a:srgbClr val="4D5156"/>
                </a:solidFill>
                <a:effectLst/>
                <a:latin typeface="arial" panose="020B0604020202020204" pitchFamily="34" charset="0"/>
              </a:rPr>
              <a:t>robust (modified) Poisson </a:t>
            </a:r>
            <a:r>
              <a:rPr lang="en-SG" b="1" i="0" dirty="0">
                <a:solidFill>
                  <a:srgbClr val="5F6368"/>
                </a:solidFill>
                <a:effectLst/>
                <a:latin typeface="arial" panose="020B0604020202020204" pitchFamily="34" charset="0"/>
              </a:rPr>
              <a:t>regression</a:t>
            </a:r>
            <a:r>
              <a:rPr lang="en-SG" b="0" i="0" dirty="0">
                <a:solidFill>
                  <a:srgbClr val="4D5156"/>
                </a:solidFill>
                <a:effectLst/>
                <a:latin typeface="arial" panose="020B0604020202020204" pitchFamily="34" charset="0"/>
              </a:rPr>
              <a:t> models</a:t>
            </a:r>
            <a:endParaRPr lang="en-SG" dirty="0"/>
          </a:p>
          <a:p>
            <a:pPr marL="0" marR="0" lvl="0" indent="0" algn="l" defTabSz="914400" rtl="0" eaLnBrk="1" fontAlgn="auto" latinLnBrk="0" hangingPunct="1">
              <a:lnSpc>
                <a:spcPct val="100000"/>
              </a:lnSpc>
              <a:spcBef>
                <a:spcPts val="0"/>
              </a:spcBef>
              <a:spcAft>
                <a:spcPts val="0"/>
              </a:spcAft>
              <a:buClrTx/>
              <a:buSzTx/>
              <a:buFontTx/>
              <a:buNone/>
              <a:tabLst/>
              <a:defRPr/>
            </a:pPr>
            <a:r>
              <a:rPr lang="en-SG" dirty="0">
                <a:solidFill>
                  <a:schemeClr val="tx1"/>
                </a:solidFill>
              </a:rPr>
              <a:t>Generalized linear model regression with binomial distribution and log-link used instead of logistic regression (RR instead of OR)</a:t>
            </a:r>
            <a:endParaRPr lang="en-US" dirty="0"/>
          </a:p>
          <a:p>
            <a:endParaRPr lang="en-SG" dirty="0"/>
          </a:p>
        </p:txBody>
      </p:sp>
      <p:sp>
        <p:nvSpPr>
          <p:cNvPr id="4" name="Slide Number Placeholder 3"/>
          <p:cNvSpPr>
            <a:spLocks noGrp="1"/>
          </p:cNvSpPr>
          <p:nvPr>
            <p:ph type="sldNum" sz="quarter" idx="5"/>
          </p:nvPr>
        </p:nvSpPr>
        <p:spPr/>
        <p:txBody>
          <a:bodyPr/>
          <a:lstStyle/>
          <a:p>
            <a:fld id="{90E04DD9-733F-4347-B3BE-CD54B8750232}" type="slidenum">
              <a:rPr lang="en-SG" smtClean="0"/>
              <a:t>12</a:t>
            </a:fld>
            <a:endParaRPr lang="en-SG" dirty="0"/>
          </a:p>
        </p:txBody>
      </p:sp>
    </p:spTree>
    <p:extLst>
      <p:ext uri="{BB962C8B-B14F-4D97-AF65-F5344CB8AC3E}">
        <p14:creationId xmlns:p14="http://schemas.microsoft.com/office/powerpoint/2010/main" val="8773565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55501D-FC13-1B77-2D10-643F5E4CC2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F20380-2D14-D47E-4D42-BB6CFA4118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6CDE67-0F31-A5FB-8912-6631F4DB0FD1}"/>
              </a:ext>
            </a:extLst>
          </p:cNvPr>
          <p:cNvSpPr>
            <a:spLocks noGrp="1"/>
          </p:cNvSpPr>
          <p:nvPr>
            <p:ph type="body" idx="1"/>
          </p:nvPr>
        </p:nvSpPr>
        <p:spPr/>
        <p:txBody>
          <a:bodyPr/>
          <a:lstStyle/>
          <a:p>
            <a:r>
              <a:rPr lang="en-SG" dirty="0"/>
              <a:t>But what if we now consider a third factor, sugar consumption?</a:t>
            </a:r>
            <a:br>
              <a:rPr lang="en-SG" dirty="0"/>
            </a:br>
            <a:r>
              <a:rPr lang="en-SG" dirty="0"/>
              <a:t>We know that income is associated with dental caries, but does sugar consumption, that varies based on income status, make a difference? </a:t>
            </a:r>
          </a:p>
          <a:p>
            <a:r>
              <a:rPr lang="en-SG" dirty="0"/>
              <a:t>And how much of the effect goes through this mediated pathway?</a:t>
            </a:r>
          </a:p>
          <a:p>
            <a:endParaRPr lang="en-SG" dirty="0"/>
          </a:p>
          <a:p>
            <a:r>
              <a:rPr lang="en-SG" dirty="0"/>
              <a:t>Higher income, buy less junk food</a:t>
            </a:r>
          </a:p>
        </p:txBody>
      </p:sp>
      <p:sp>
        <p:nvSpPr>
          <p:cNvPr id="4" name="Slide Number Placeholder 3">
            <a:extLst>
              <a:ext uri="{FF2B5EF4-FFF2-40B4-BE49-F238E27FC236}">
                <a16:creationId xmlns:a16="http://schemas.microsoft.com/office/drawing/2014/main" id="{53C21196-B8F1-2AD3-DBF6-4B4B41AAADC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E04DD9-733F-4347-B3BE-CD54B8750232}" type="slidenum">
              <a:rPr kumimoji="0" lang="en-SG"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SG"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276063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DCD11-6856-EEC2-8E15-1F7F1C2DBF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027BA0-4B33-D861-E6AC-BF5F13432E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A3AAAE-18C8-20EA-74EB-58A7AF6D04F2}"/>
              </a:ext>
            </a:extLst>
          </p:cNvPr>
          <p:cNvSpPr>
            <a:spLocks noGrp="1"/>
          </p:cNvSpPr>
          <p:nvPr>
            <p:ph type="body" idx="1"/>
          </p:nvPr>
        </p:nvSpPr>
        <p:spPr/>
        <p:txBody>
          <a:bodyPr/>
          <a:lstStyle/>
          <a:p>
            <a:r>
              <a:rPr lang="en-SG" dirty="0"/>
              <a:t>But what if we now consider a third factor, sugar consumption?</a:t>
            </a:r>
            <a:br>
              <a:rPr lang="en-SG" dirty="0"/>
            </a:br>
            <a:r>
              <a:rPr lang="en-SG" dirty="0"/>
              <a:t>We know that income is associated with dental caries, but does sugar consumption, that varies based on income status, make a difference? </a:t>
            </a:r>
          </a:p>
          <a:p>
            <a:r>
              <a:rPr lang="en-SG" dirty="0"/>
              <a:t>And how much of the effect goes through this mediated pathway?</a:t>
            </a:r>
          </a:p>
          <a:p>
            <a:endParaRPr lang="en-SG" dirty="0"/>
          </a:p>
          <a:p>
            <a:r>
              <a:rPr lang="en-SG" dirty="0"/>
              <a:t>Higher income, buy less junk food</a:t>
            </a:r>
          </a:p>
        </p:txBody>
      </p:sp>
      <p:sp>
        <p:nvSpPr>
          <p:cNvPr id="4" name="Slide Number Placeholder 3">
            <a:extLst>
              <a:ext uri="{FF2B5EF4-FFF2-40B4-BE49-F238E27FC236}">
                <a16:creationId xmlns:a16="http://schemas.microsoft.com/office/drawing/2014/main" id="{C4EF0DF4-2D35-7C2E-9865-93367AC7BB6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E04DD9-733F-4347-B3BE-CD54B8750232}" type="slidenum">
              <a:rPr kumimoji="0" lang="en-SG"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SG"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200043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dirty="0">
                <a:solidFill>
                  <a:srgbClr val="242021"/>
                </a:solidFill>
                <a:effectLst/>
                <a:latin typeface="Times-Roman"/>
              </a:rPr>
              <a:t>Threshold of $4000 set based on sample distribution; approximate household income of bottom quartile ($1141-1609 per capita in 2020 * 3.2) in society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dirty="0">
                <a:solidFill>
                  <a:srgbClr val="242021"/>
                </a:solidFill>
                <a:effectLst/>
                <a:latin typeface="Times-Roman"/>
              </a:rPr>
              <a:t>https://www.singstat.gov.sg/-/media/files/publications/households/pp-s27.pdf</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dirty="0">
                <a:solidFill>
                  <a:srgbClr val="242021"/>
                </a:solidFill>
                <a:effectLst/>
                <a:latin typeface="Times-Roman"/>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dirty="0">
                <a:solidFill>
                  <a:srgbClr val="242021"/>
                </a:solidFill>
                <a:effectLst/>
                <a:latin typeface="Times-Roman"/>
              </a:rPr>
              <a:t>Additional covariates – factors that affect exposure, mediators and/or outcome</a:t>
            </a:r>
            <a:br>
              <a:rPr lang="en-US" dirty="0"/>
            </a:b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Collected data on age, gender – will affect exposure (household income) and/or mediator (sugar consumption)</a:t>
            </a:r>
            <a:endParaRPr lang="en-SG" dirty="0"/>
          </a:p>
          <a:p>
            <a:endParaRPr lang="en-SG" dirty="0"/>
          </a:p>
          <a:p>
            <a:r>
              <a:rPr lang="en-SG" dirty="0"/>
              <a:t>Alternative</a:t>
            </a:r>
          </a:p>
          <a:p>
            <a:r>
              <a:rPr lang="en-SG" strike="noStrike" dirty="0">
                <a:solidFill>
                  <a:schemeClr val="tx1"/>
                </a:solidFill>
              </a:rPr>
              <a:t>Caries status</a:t>
            </a:r>
            <a:br>
              <a:rPr lang="en-SG" strike="noStrike" dirty="0">
                <a:solidFill>
                  <a:schemeClr val="tx1"/>
                </a:solidFill>
              </a:rPr>
            </a:br>
            <a:r>
              <a:rPr lang="en-SG" strike="noStrike" dirty="0">
                <a:solidFill>
                  <a:schemeClr val="tx1"/>
                </a:solidFill>
              </a:rPr>
              <a:t>Y1 = Caries</a:t>
            </a:r>
            <a:br>
              <a:rPr lang="en-SG" strike="noStrike" dirty="0">
                <a:solidFill>
                  <a:schemeClr val="tx1"/>
                </a:solidFill>
              </a:rPr>
            </a:br>
            <a:r>
              <a:rPr lang="en-SG" strike="noStrike" dirty="0">
                <a:solidFill>
                  <a:schemeClr val="tx1"/>
                </a:solidFill>
              </a:rPr>
              <a:t>Y0 = No dental caries</a:t>
            </a:r>
          </a:p>
          <a:p>
            <a:pPr lvl="1"/>
            <a:r>
              <a:rPr lang="en-SG" strike="noStrike" dirty="0">
                <a:solidFill>
                  <a:schemeClr val="tx1"/>
                </a:solidFill>
              </a:rPr>
              <a:t>Outcome binary, not rare</a:t>
            </a:r>
          </a:p>
          <a:p>
            <a:endParaRPr lang="en-SG" dirty="0"/>
          </a:p>
        </p:txBody>
      </p:sp>
      <p:sp>
        <p:nvSpPr>
          <p:cNvPr id="4" name="Slide Number Placeholder 3"/>
          <p:cNvSpPr>
            <a:spLocks noGrp="1"/>
          </p:cNvSpPr>
          <p:nvPr>
            <p:ph type="sldNum" sz="quarter" idx="5"/>
          </p:nvPr>
        </p:nvSpPr>
        <p:spPr/>
        <p:txBody>
          <a:bodyPr/>
          <a:lstStyle/>
          <a:p>
            <a:fld id="{90E04DD9-733F-4347-B3BE-CD54B8750232}" type="slidenum">
              <a:rPr lang="en-SG" smtClean="0"/>
              <a:t>15</a:t>
            </a:fld>
            <a:endParaRPr lang="en-SG"/>
          </a:p>
        </p:txBody>
      </p:sp>
    </p:spTree>
    <p:extLst>
      <p:ext uri="{BB962C8B-B14F-4D97-AF65-F5344CB8AC3E}">
        <p14:creationId xmlns:p14="http://schemas.microsoft.com/office/powerpoint/2010/main" val="11623383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A01439-9236-67C8-5E11-049A094E03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AA2840-7068-1048-3203-6664C3CEC6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E65E98-368A-D28A-D31A-964649412DD3}"/>
              </a:ext>
            </a:extLst>
          </p:cNvPr>
          <p:cNvSpPr>
            <a:spLocks noGrp="1"/>
          </p:cNvSpPr>
          <p:nvPr>
            <p:ph type="body" idx="1"/>
          </p:nvPr>
        </p:nvSpPr>
        <p:spPr/>
        <p:txBody>
          <a:bodyPr/>
          <a:lstStyle/>
          <a:p>
            <a:r>
              <a:rPr lang="en-SG" dirty="0"/>
              <a:t>But what if we now consider a third factor, sugar consumption?</a:t>
            </a:r>
            <a:br>
              <a:rPr lang="en-SG" dirty="0"/>
            </a:br>
            <a:r>
              <a:rPr lang="en-SG" dirty="0"/>
              <a:t>We know that income is associated with dental caries, but does sugar consumption, that varies based on income status, make a difference? </a:t>
            </a:r>
          </a:p>
          <a:p>
            <a:r>
              <a:rPr lang="en-SG" dirty="0"/>
              <a:t>And how much of the effect goes through this mediated pathway?</a:t>
            </a:r>
          </a:p>
          <a:p>
            <a:endParaRPr lang="en-SG" dirty="0"/>
          </a:p>
          <a:p>
            <a:r>
              <a:rPr lang="en-SG" dirty="0"/>
              <a:t>Higher income, buy less junk food</a:t>
            </a:r>
          </a:p>
        </p:txBody>
      </p:sp>
      <p:sp>
        <p:nvSpPr>
          <p:cNvPr id="4" name="Slide Number Placeholder 3">
            <a:extLst>
              <a:ext uri="{FF2B5EF4-FFF2-40B4-BE49-F238E27FC236}">
                <a16:creationId xmlns:a16="http://schemas.microsoft.com/office/drawing/2014/main" id="{38FC8C11-8797-2B32-AECD-F7DC8A28F36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E04DD9-733F-4347-B3BE-CD54B8750232}" type="slidenum">
              <a:rPr kumimoji="0" lang="en-SG"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SG"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046421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51BEF8-3A3B-15BE-21BA-1141125437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693557-E6E9-69B9-442D-636494CE6B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86B8B6-5D05-E7B4-BD60-9DC25E793E60}"/>
              </a:ext>
            </a:extLst>
          </p:cNvPr>
          <p:cNvSpPr>
            <a:spLocks noGrp="1"/>
          </p:cNvSpPr>
          <p:nvPr>
            <p:ph type="body" idx="1"/>
          </p:nvPr>
        </p:nvSpPr>
        <p:spPr/>
        <p:txBody>
          <a:bodyPr/>
          <a:lstStyle/>
          <a:p>
            <a:r>
              <a:rPr lang="en-US" sz="1800" b="0" i="0" dirty="0">
                <a:solidFill>
                  <a:srgbClr val="242021"/>
                </a:solidFill>
                <a:effectLst/>
                <a:latin typeface="Times-Roman"/>
              </a:rPr>
              <a:t>While controlled direct effects are often of greater interest in policy evaluation (</a:t>
            </a:r>
            <a:r>
              <a:rPr lang="en-US" sz="1800" b="0" i="0" dirty="0">
                <a:solidFill>
                  <a:srgbClr val="303192"/>
                </a:solidFill>
                <a:effectLst/>
                <a:latin typeface="Times-Roman"/>
              </a:rPr>
              <a:t>Pearl, 2001</a:t>
            </a:r>
            <a:r>
              <a:rPr lang="en-US" sz="1800" b="0" i="0" dirty="0">
                <a:solidFill>
                  <a:srgbClr val="242021"/>
                </a:solidFill>
                <a:effectLst/>
                <a:latin typeface="Times-Roman"/>
              </a:rPr>
              <a:t>; </a:t>
            </a:r>
            <a:r>
              <a:rPr lang="en-US" sz="1800" b="0" i="0" dirty="0">
                <a:solidFill>
                  <a:srgbClr val="303192"/>
                </a:solidFill>
                <a:effectLst/>
                <a:latin typeface="Times-Roman"/>
              </a:rPr>
              <a:t>Robins, 2003</a:t>
            </a:r>
            <a:r>
              <a:rPr lang="en-US" sz="1800" b="0" i="0" dirty="0">
                <a:solidFill>
                  <a:srgbClr val="242021"/>
                </a:solidFill>
                <a:effectLst/>
                <a:latin typeface="Times-Roman"/>
              </a:rPr>
              <a:t>), natural direct and</a:t>
            </a:r>
            <a:br>
              <a:rPr lang="en-US" sz="1800" b="0" i="0" dirty="0">
                <a:solidFill>
                  <a:srgbClr val="242021"/>
                </a:solidFill>
                <a:effectLst/>
                <a:latin typeface="Times-Roman"/>
              </a:rPr>
            </a:br>
            <a:r>
              <a:rPr lang="en-US" sz="1800" b="0" i="0" dirty="0">
                <a:solidFill>
                  <a:srgbClr val="242021"/>
                </a:solidFill>
                <a:effectLst/>
                <a:latin typeface="Times-Roman"/>
              </a:rPr>
              <a:t>indirect effects may be of greater interest in evaluating the action of various mechanisms (</a:t>
            </a:r>
            <a:r>
              <a:rPr lang="en-US" sz="1800" b="0" i="0" dirty="0">
                <a:solidFill>
                  <a:srgbClr val="303192"/>
                </a:solidFill>
                <a:effectLst/>
                <a:latin typeface="Times-Roman"/>
              </a:rPr>
              <a:t>Joffe, Small, &amp; Hsu, 2007</a:t>
            </a:r>
            <a:r>
              <a:rPr lang="en-US" sz="1800" b="0" i="0" dirty="0">
                <a:solidFill>
                  <a:srgbClr val="242021"/>
                </a:solidFill>
                <a:effectLst/>
                <a:latin typeface="Times-Roman"/>
              </a:rPr>
              <a:t>; </a:t>
            </a:r>
            <a:r>
              <a:rPr lang="en-US" sz="1800" b="0" i="0" dirty="0">
                <a:solidFill>
                  <a:srgbClr val="303192"/>
                </a:solidFill>
                <a:effectLst/>
                <a:latin typeface="Times-Roman"/>
              </a:rPr>
              <a:t>Robins, 2003</a:t>
            </a:r>
            <a:r>
              <a:rPr lang="en-US" sz="1800" b="0" i="0" dirty="0">
                <a:solidFill>
                  <a:srgbClr val="242021"/>
                </a:solidFill>
                <a:effectLst/>
                <a:latin typeface="Times-Roman"/>
              </a:rPr>
              <a:t>)</a:t>
            </a:r>
            <a:br>
              <a:rPr lang="en-US" sz="1800" b="0" i="0" dirty="0">
                <a:solidFill>
                  <a:srgbClr val="242021"/>
                </a:solidFill>
                <a:effectLst/>
                <a:latin typeface="Times-Roman"/>
              </a:rPr>
            </a:br>
            <a:br>
              <a:rPr lang="en-US" sz="1800" b="0" i="0" dirty="0">
                <a:solidFill>
                  <a:srgbClr val="242021"/>
                </a:solidFill>
                <a:effectLst/>
                <a:latin typeface="Times-Roman"/>
              </a:rPr>
            </a:br>
            <a:r>
              <a:rPr lang="en-US" sz="1800" b="0" i="0" dirty="0">
                <a:solidFill>
                  <a:srgbClr val="242021"/>
                </a:solidFill>
                <a:effectLst/>
                <a:latin typeface="Times-Roman"/>
              </a:rPr>
              <a:t>total effect is equal to the sum of the natural direct effect and the natural indirect effect when the outcome is continuous and</a:t>
            </a:r>
            <a:br>
              <a:rPr lang="en-US" sz="1800" b="0" i="0" dirty="0">
                <a:solidFill>
                  <a:srgbClr val="242021"/>
                </a:solidFill>
                <a:effectLst/>
                <a:latin typeface="Times-Roman"/>
              </a:rPr>
            </a:br>
            <a:r>
              <a:rPr lang="en-US" sz="1800" b="0" i="0" dirty="0">
                <a:solidFill>
                  <a:srgbClr val="242021"/>
                </a:solidFill>
                <a:effectLst/>
                <a:latin typeface="Times-Roman"/>
              </a:rPr>
              <a:t>to the product of the natural direct and indirect effect odds ratios when the outcome is binary</a:t>
            </a:r>
            <a:r>
              <a:rPr lang="en-US" dirty="0"/>
              <a:t> </a:t>
            </a:r>
            <a:r>
              <a:rPr lang="en-US" sz="1200" dirty="0">
                <a:solidFill>
                  <a:schemeClr val="tx1"/>
                </a:solidFill>
                <a:latin typeface="Times-Roman"/>
                <a:cs typeface="Times New Roman" panose="02020603050405020304" pitchFamily="18" charset="0"/>
              </a:rPr>
              <a:t>(i.e. natural direct effect + natural indirect effect (continuous outcome); natural direct*natural indirect effect odds ratios (binary outcome))</a:t>
            </a:r>
            <a:br>
              <a:rPr lang="en-US" dirty="0"/>
            </a:br>
            <a:r>
              <a:rPr lang="en-US" dirty="0"/>
              <a:t> </a:t>
            </a:r>
            <a:endParaRPr lang="en-SG" dirty="0"/>
          </a:p>
        </p:txBody>
      </p:sp>
      <p:sp>
        <p:nvSpPr>
          <p:cNvPr id="4" name="Slide Number Placeholder 3">
            <a:extLst>
              <a:ext uri="{FF2B5EF4-FFF2-40B4-BE49-F238E27FC236}">
                <a16:creationId xmlns:a16="http://schemas.microsoft.com/office/drawing/2014/main" id="{ACA9224A-7027-FCB7-B6B2-E82408F6714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E04DD9-733F-4347-B3BE-CD54B8750232}" type="slidenum">
              <a:rPr kumimoji="0" lang="en-SG"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SG"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21491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D66302-E54A-CA95-F480-8466C77A32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54003C-39D4-1D0E-7A30-77136492F9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3BF44B-58B5-4302-0199-0B7A7FD99953}"/>
              </a:ext>
            </a:extLst>
          </p:cNvPr>
          <p:cNvSpPr>
            <a:spLocks noGrp="1"/>
          </p:cNvSpPr>
          <p:nvPr>
            <p:ph type="body" idx="1"/>
          </p:nvPr>
        </p:nvSpPr>
        <p:spPr/>
        <p:txBody>
          <a:bodyPr/>
          <a:lstStyle/>
          <a:p>
            <a:r>
              <a:rPr lang="en-US" sz="1800" b="0" i="0" dirty="0">
                <a:solidFill>
                  <a:srgbClr val="242021"/>
                </a:solidFill>
                <a:effectLst/>
                <a:latin typeface="Times-Roman"/>
              </a:rPr>
              <a:t>While controlled direct effects are often of greater interest in policy evaluation (</a:t>
            </a:r>
            <a:r>
              <a:rPr lang="en-US" sz="1800" b="0" i="0" dirty="0">
                <a:solidFill>
                  <a:srgbClr val="303192"/>
                </a:solidFill>
                <a:effectLst/>
                <a:latin typeface="Times-Roman"/>
              </a:rPr>
              <a:t>Pearl, 2001</a:t>
            </a:r>
            <a:r>
              <a:rPr lang="en-US" sz="1800" b="0" i="0" dirty="0">
                <a:solidFill>
                  <a:srgbClr val="242021"/>
                </a:solidFill>
                <a:effectLst/>
                <a:latin typeface="Times-Roman"/>
              </a:rPr>
              <a:t>; </a:t>
            </a:r>
            <a:r>
              <a:rPr lang="en-US" sz="1800" b="0" i="0" dirty="0">
                <a:solidFill>
                  <a:srgbClr val="303192"/>
                </a:solidFill>
                <a:effectLst/>
                <a:latin typeface="Times-Roman"/>
              </a:rPr>
              <a:t>Robins, 2003</a:t>
            </a:r>
            <a:r>
              <a:rPr lang="en-US" sz="1800" b="0" i="0" dirty="0">
                <a:solidFill>
                  <a:srgbClr val="242021"/>
                </a:solidFill>
                <a:effectLst/>
                <a:latin typeface="Times-Roman"/>
              </a:rPr>
              <a:t>), natural direct and</a:t>
            </a:r>
            <a:br>
              <a:rPr lang="en-US" sz="1800" b="0" i="0" dirty="0">
                <a:solidFill>
                  <a:srgbClr val="242021"/>
                </a:solidFill>
                <a:effectLst/>
                <a:latin typeface="Times-Roman"/>
              </a:rPr>
            </a:br>
            <a:r>
              <a:rPr lang="en-US" sz="1800" b="0" i="0" dirty="0">
                <a:solidFill>
                  <a:srgbClr val="242021"/>
                </a:solidFill>
                <a:effectLst/>
                <a:latin typeface="Times-Roman"/>
              </a:rPr>
              <a:t>indirect effects may be of greater interest in evaluating the action of various mechanisms (</a:t>
            </a:r>
            <a:r>
              <a:rPr lang="en-US" sz="1800" b="0" i="0" dirty="0">
                <a:solidFill>
                  <a:srgbClr val="303192"/>
                </a:solidFill>
                <a:effectLst/>
                <a:latin typeface="Times-Roman"/>
              </a:rPr>
              <a:t>Joffe, Small, &amp; Hsu, 2007</a:t>
            </a:r>
            <a:r>
              <a:rPr lang="en-US" sz="1800" b="0" i="0" dirty="0">
                <a:solidFill>
                  <a:srgbClr val="242021"/>
                </a:solidFill>
                <a:effectLst/>
                <a:latin typeface="Times-Roman"/>
              </a:rPr>
              <a:t>; </a:t>
            </a:r>
            <a:r>
              <a:rPr lang="en-US" sz="1800" b="0" i="0" dirty="0">
                <a:solidFill>
                  <a:srgbClr val="303192"/>
                </a:solidFill>
                <a:effectLst/>
                <a:latin typeface="Times-Roman"/>
              </a:rPr>
              <a:t>Robins, 2003</a:t>
            </a:r>
            <a:r>
              <a:rPr lang="en-US" sz="1800" b="0" i="0" dirty="0">
                <a:solidFill>
                  <a:srgbClr val="242021"/>
                </a:solidFill>
                <a:effectLst/>
                <a:latin typeface="Times-Roman"/>
              </a:rPr>
              <a:t>)</a:t>
            </a:r>
            <a:br>
              <a:rPr lang="en-US" sz="1800" b="0" i="0" dirty="0">
                <a:solidFill>
                  <a:srgbClr val="242021"/>
                </a:solidFill>
                <a:effectLst/>
                <a:latin typeface="Times-Roman"/>
              </a:rPr>
            </a:br>
            <a:br>
              <a:rPr lang="en-US" sz="1800" b="0" i="0" dirty="0">
                <a:solidFill>
                  <a:srgbClr val="242021"/>
                </a:solidFill>
                <a:effectLst/>
                <a:latin typeface="Times-Roman"/>
              </a:rPr>
            </a:br>
            <a:r>
              <a:rPr lang="en-US" sz="1800" b="0" i="0" dirty="0">
                <a:solidFill>
                  <a:srgbClr val="242021"/>
                </a:solidFill>
                <a:effectLst/>
                <a:latin typeface="Times-Roman"/>
              </a:rPr>
              <a:t>total effect is equal to the sum of the natural direct effect and the natural indirect effect when the outcome is continuous and</a:t>
            </a:r>
            <a:br>
              <a:rPr lang="en-US" sz="1800" b="0" i="0" dirty="0">
                <a:solidFill>
                  <a:srgbClr val="242021"/>
                </a:solidFill>
                <a:effectLst/>
                <a:latin typeface="Times-Roman"/>
              </a:rPr>
            </a:br>
            <a:r>
              <a:rPr lang="en-US" sz="1800" b="0" i="0" dirty="0">
                <a:solidFill>
                  <a:srgbClr val="242021"/>
                </a:solidFill>
                <a:effectLst/>
                <a:latin typeface="Times-Roman"/>
              </a:rPr>
              <a:t>to the product of the natural direct and indirect effect odds ratios when the outcome is binary</a:t>
            </a:r>
            <a:r>
              <a:rPr lang="en-US" dirty="0"/>
              <a:t> </a:t>
            </a:r>
            <a:r>
              <a:rPr lang="en-US" sz="1200" dirty="0">
                <a:solidFill>
                  <a:schemeClr val="tx1"/>
                </a:solidFill>
                <a:latin typeface="Times-Roman"/>
                <a:cs typeface="Times New Roman" panose="02020603050405020304" pitchFamily="18" charset="0"/>
              </a:rPr>
              <a:t>(i.e. natural direct effect + natural indirect effect (continuous outcome); natural direct*natural indirect effect odds ratios (binary outcome))</a:t>
            </a:r>
            <a:br>
              <a:rPr lang="en-US" dirty="0"/>
            </a:br>
            <a:r>
              <a:rPr lang="en-US" dirty="0"/>
              <a:t> </a:t>
            </a:r>
            <a:endParaRPr lang="en-SG" dirty="0"/>
          </a:p>
        </p:txBody>
      </p:sp>
      <p:sp>
        <p:nvSpPr>
          <p:cNvPr id="4" name="Slide Number Placeholder 3">
            <a:extLst>
              <a:ext uri="{FF2B5EF4-FFF2-40B4-BE49-F238E27FC236}">
                <a16:creationId xmlns:a16="http://schemas.microsoft.com/office/drawing/2014/main" id="{BA50186A-A43A-DAF1-DD15-4698F7C9656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E04DD9-733F-4347-B3BE-CD54B8750232}" type="slidenum">
              <a:rPr kumimoji="0" lang="en-SG"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SG"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975272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D66EFC-AF40-FBD8-F862-54EC23161A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105A89-B68F-F545-F0B0-E75FCC2E97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E2BB9F-F03A-37DA-559C-9BEF50C286DC}"/>
              </a:ext>
            </a:extLst>
          </p:cNvPr>
          <p:cNvSpPr>
            <a:spLocks noGrp="1"/>
          </p:cNvSpPr>
          <p:nvPr>
            <p:ph type="body" idx="1"/>
          </p:nvPr>
        </p:nvSpPr>
        <p:spPr/>
        <p:txBody>
          <a:bodyPr/>
          <a:lstStyle/>
          <a:p>
            <a:r>
              <a:rPr lang="en-US" sz="1800" b="0" i="0" dirty="0">
                <a:solidFill>
                  <a:srgbClr val="242021"/>
                </a:solidFill>
                <a:effectLst/>
                <a:latin typeface="Times-Roman"/>
              </a:rPr>
              <a:t>While controlled direct effects are often of greater interest in policy evaluation (</a:t>
            </a:r>
            <a:r>
              <a:rPr lang="en-US" sz="1800" b="0" i="0" dirty="0">
                <a:solidFill>
                  <a:srgbClr val="303192"/>
                </a:solidFill>
                <a:effectLst/>
                <a:latin typeface="Times-Roman"/>
              </a:rPr>
              <a:t>Pearl, 2001</a:t>
            </a:r>
            <a:r>
              <a:rPr lang="en-US" sz="1800" b="0" i="0" dirty="0">
                <a:solidFill>
                  <a:srgbClr val="242021"/>
                </a:solidFill>
                <a:effectLst/>
                <a:latin typeface="Times-Roman"/>
              </a:rPr>
              <a:t>; </a:t>
            </a:r>
            <a:r>
              <a:rPr lang="en-US" sz="1800" b="0" i="0" dirty="0">
                <a:solidFill>
                  <a:srgbClr val="303192"/>
                </a:solidFill>
                <a:effectLst/>
                <a:latin typeface="Times-Roman"/>
              </a:rPr>
              <a:t>Robins, 2003</a:t>
            </a:r>
            <a:r>
              <a:rPr lang="en-US" sz="1800" b="0" i="0" dirty="0">
                <a:solidFill>
                  <a:srgbClr val="242021"/>
                </a:solidFill>
                <a:effectLst/>
                <a:latin typeface="Times-Roman"/>
              </a:rPr>
              <a:t>), natural direct and</a:t>
            </a:r>
            <a:br>
              <a:rPr lang="en-US" sz="1800" b="0" i="0" dirty="0">
                <a:solidFill>
                  <a:srgbClr val="242021"/>
                </a:solidFill>
                <a:effectLst/>
                <a:latin typeface="Times-Roman"/>
              </a:rPr>
            </a:br>
            <a:r>
              <a:rPr lang="en-US" sz="1800" b="0" i="0" dirty="0">
                <a:solidFill>
                  <a:srgbClr val="242021"/>
                </a:solidFill>
                <a:effectLst/>
                <a:latin typeface="Times-Roman"/>
              </a:rPr>
              <a:t>indirect effects may be of greater interest in evaluating the action of various mechanisms (</a:t>
            </a:r>
            <a:r>
              <a:rPr lang="en-US" sz="1800" b="0" i="0" dirty="0">
                <a:solidFill>
                  <a:srgbClr val="303192"/>
                </a:solidFill>
                <a:effectLst/>
                <a:latin typeface="Times-Roman"/>
              </a:rPr>
              <a:t>Joffe, Small, &amp; Hsu, 2007</a:t>
            </a:r>
            <a:r>
              <a:rPr lang="en-US" sz="1800" b="0" i="0" dirty="0">
                <a:solidFill>
                  <a:srgbClr val="242021"/>
                </a:solidFill>
                <a:effectLst/>
                <a:latin typeface="Times-Roman"/>
              </a:rPr>
              <a:t>; </a:t>
            </a:r>
            <a:r>
              <a:rPr lang="en-US" sz="1800" b="0" i="0" dirty="0">
                <a:solidFill>
                  <a:srgbClr val="303192"/>
                </a:solidFill>
                <a:effectLst/>
                <a:latin typeface="Times-Roman"/>
              </a:rPr>
              <a:t>Robins, 2003</a:t>
            </a:r>
            <a:r>
              <a:rPr lang="en-US" sz="1800" b="0" i="0" dirty="0">
                <a:solidFill>
                  <a:srgbClr val="242021"/>
                </a:solidFill>
                <a:effectLst/>
                <a:latin typeface="Times-Roman"/>
              </a:rPr>
              <a:t>)</a:t>
            </a:r>
            <a:br>
              <a:rPr lang="en-US" sz="1800" b="0" i="0" dirty="0">
                <a:solidFill>
                  <a:srgbClr val="242021"/>
                </a:solidFill>
                <a:effectLst/>
                <a:latin typeface="Times-Roman"/>
              </a:rPr>
            </a:br>
            <a:br>
              <a:rPr lang="en-US" sz="1800" b="0" i="0" dirty="0">
                <a:solidFill>
                  <a:srgbClr val="242021"/>
                </a:solidFill>
                <a:effectLst/>
                <a:latin typeface="Times-Roman"/>
              </a:rPr>
            </a:br>
            <a:r>
              <a:rPr lang="en-US" sz="1800" b="0" i="0" dirty="0">
                <a:solidFill>
                  <a:srgbClr val="242021"/>
                </a:solidFill>
                <a:effectLst/>
                <a:latin typeface="Times-Roman"/>
              </a:rPr>
              <a:t>total effect is equal to the sum of the natural direct effect and the natural indirect effect when the outcome is continuous and</a:t>
            </a:r>
            <a:br>
              <a:rPr lang="en-US" sz="1800" b="0" i="0" dirty="0">
                <a:solidFill>
                  <a:srgbClr val="242021"/>
                </a:solidFill>
                <a:effectLst/>
                <a:latin typeface="Times-Roman"/>
              </a:rPr>
            </a:br>
            <a:r>
              <a:rPr lang="en-US" sz="1800" b="0" i="0" dirty="0">
                <a:solidFill>
                  <a:srgbClr val="242021"/>
                </a:solidFill>
                <a:effectLst/>
                <a:latin typeface="Times-Roman"/>
              </a:rPr>
              <a:t>to the product of the natural direct and indirect effect odds ratios when the outcome is binary</a:t>
            </a:r>
            <a:r>
              <a:rPr lang="en-US" dirty="0"/>
              <a:t> </a:t>
            </a:r>
            <a:r>
              <a:rPr lang="en-US" sz="1200" dirty="0">
                <a:solidFill>
                  <a:schemeClr val="tx1"/>
                </a:solidFill>
                <a:latin typeface="Times-Roman"/>
                <a:cs typeface="Times New Roman" panose="02020603050405020304" pitchFamily="18" charset="0"/>
              </a:rPr>
              <a:t>(i.e. natural direct effect + natural indirect effect (continuous outcome); natural direct*natural indirect effect odds ratios (binary outcome))</a:t>
            </a:r>
            <a:br>
              <a:rPr lang="en-US" dirty="0"/>
            </a:br>
            <a:r>
              <a:rPr lang="en-US" dirty="0"/>
              <a:t> </a:t>
            </a:r>
            <a:endParaRPr lang="en-SG" dirty="0"/>
          </a:p>
        </p:txBody>
      </p:sp>
      <p:sp>
        <p:nvSpPr>
          <p:cNvPr id="4" name="Slide Number Placeholder 3">
            <a:extLst>
              <a:ext uri="{FF2B5EF4-FFF2-40B4-BE49-F238E27FC236}">
                <a16:creationId xmlns:a16="http://schemas.microsoft.com/office/drawing/2014/main" id="{50B31D8E-8161-9D9A-5585-DBA98D71638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E04DD9-733F-4347-B3BE-CD54B8750232}" type="slidenum">
              <a:rPr kumimoji="0" lang="en-SG"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SG"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661029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8DB2EB-B7BF-717D-E71F-E8FAF4D0B5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655923-C6F6-A125-AB8C-63F490F2B8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381F44-4336-D481-296E-BB3BA921D997}"/>
              </a:ext>
            </a:extLst>
          </p:cNvPr>
          <p:cNvSpPr>
            <a:spLocks noGrp="1"/>
          </p:cNvSpPr>
          <p:nvPr>
            <p:ph type="body" idx="1"/>
          </p:nvPr>
        </p:nvSpPr>
        <p:spPr/>
        <p:txBody>
          <a:bodyPr/>
          <a:lstStyle/>
          <a:p>
            <a:r>
              <a:rPr lang="en-US" sz="1800" b="0" i="0" dirty="0">
                <a:solidFill>
                  <a:srgbClr val="242021"/>
                </a:solidFill>
                <a:effectLst/>
                <a:latin typeface="Times-Roman"/>
              </a:rPr>
              <a:t>While controlled direct effects are often of greater interest in policy evaluation (</a:t>
            </a:r>
            <a:r>
              <a:rPr lang="en-US" sz="1800" b="0" i="0" dirty="0">
                <a:solidFill>
                  <a:srgbClr val="303192"/>
                </a:solidFill>
                <a:effectLst/>
                <a:latin typeface="Times-Roman"/>
              </a:rPr>
              <a:t>Pearl, 2001</a:t>
            </a:r>
            <a:r>
              <a:rPr lang="en-US" sz="1800" b="0" i="0" dirty="0">
                <a:solidFill>
                  <a:srgbClr val="242021"/>
                </a:solidFill>
                <a:effectLst/>
                <a:latin typeface="Times-Roman"/>
              </a:rPr>
              <a:t>; </a:t>
            </a:r>
            <a:r>
              <a:rPr lang="en-US" sz="1800" b="0" i="0" dirty="0">
                <a:solidFill>
                  <a:srgbClr val="303192"/>
                </a:solidFill>
                <a:effectLst/>
                <a:latin typeface="Times-Roman"/>
              </a:rPr>
              <a:t>Robins, 2003</a:t>
            </a:r>
            <a:r>
              <a:rPr lang="en-US" sz="1800" b="0" i="0" dirty="0">
                <a:solidFill>
                  <a:srgbClr val="242021"/>
                </a:solidFill>
                <a:effectLst/>
                <a:latin typeface="Times-Roman"/>
              </a:rPr>
              <a:t>), natural direct and</a:t>
            </a:r>
            <a:br>
              <a:rPr lang="en-US" sz="1800" b="0" i="0" dirty="0">
                <a:solidFill>
                  <a:srgbClr val="242021"/>
                </a:solidFill>
                <a:effectLst/>
                <a:latin typeface="Times-Roman"/>
              </a:rPr>
            </a:br>
            <a:r>
              <a:rPr lang="en-US" sz="1800" b="0" i="0" dirty="0">
                <a:solidFill>
                  <a:srgbClr val="242021"/>
                </a:solidFill>
                <a:effectLst/>
                <a:latin typeface="Times-Roman"/>
              </a:rPr>
              <a:t>indirect effects may be of greater interest in evaluating the action of various mechanisms (</a:t>
            </a:r>
            <a:r>
              <a:rPr lang="en-US" sz="1800" b="0" i="0" dirty="0">
                <a:solidFill>
                  <a:srgbClr val="303192"/>
                </a:solidFill>
                <a:effectLst/>
                <a:latin typeface="Times-Roman"/>
              </a:rPr>
              <a:t>Joffe, Small, &amp; Hsu, 2007</a:t>
            </a:r>
            <a:r>
              <a:rPr lang="en-US" sz="1800" b="0" i="0" dirty="0">
                <a:solidFill>
                  <a:srgbClr val="242021"/>
                </a:solidFill>
                <a:effectLst/>
                <a:latin typeface="Times-Roman"/>
              </a:rPr>
              <a:t>; </a:t>
            </a:r>
            <a:r>
              <a:rPr lang="en-US" sz="1800" b="0" i="0" dirty="0">
                <a:solidFill>
                  <a:srgbClr val="303192"/>
                </a:solidFill>
                <a:effectLst/>
                <a:latin typeface="Times-Roman"/>
              </a:rPr>
              <a:t>Robins, 2003</a:t>
            </a:r>
            <a:r>
              <a:rPr lang="en-US" sz="1800" b="0" i="0" dirty="0">
                <a:solidFill>
                  <a:srgbClr val="242021"/>
                </a:solidFill>
                <a:effectLst/>
                <a:latin typeface="Times-Roman"/>
              </a:rPr>
              <a:t>)</a:t>
            </a:r>
            <a:br>
              <a:rPr lang="en-US" sz="1800" b="0" i="0" dirty="0">
                <a:solidFill>
                  <a:srgbClr val="242021"/>
                </a:solidFill>
                <a:effectLst/>
                <a:latin typeface="Times-Roman"/>
              </a:rPr>
            </a:br>
            <a:br>
              <a:rPr lang="en-US" sz="1800" b="0" i="0" dirty="0">
                <a:solidFill>
                  <a:srgbClr val="242021"/>
                </a:solidFill>
                <a:effectLst/>
                <a:latin typeface="Times-Roman"/>
              </a:rPr>
            </a:br>
            <a:r>
              <a:rPr lang="en-US" sz="1800" b="0" i="0" dirty="0">
                <a:solidFill>
                  <a:srgbClr val="242021"/>
                </a:solidFill>
                <a:effectLst/>
                <a:latin typeface="Times-Roman"/>
              </a:rPr>
              <a:t>total effect is equal to the sum of the natural direct effect and the natural indirect effect when the outcome is continuous and</a:t>
            </a:r>
            <a:br>
              <a:rPr lang="en-US" sz="1800" b="0" i="0" dirty="0">
                <a:solidFill>
                  <a:srgbClr val="242021"/>
                </a:solidFill>
                <a:effectLst/>
                <a:latin typeface="Times-Roman"/>
              </a:rPr>
            </a:br>
            <a:r>
              <a:rPr lang="en-US" sz="1800" b="0" i="0" dirty="0">
                <a:solidFill>
                  <a:srgbClr val="242021"/>
                </a:solidFill>
                <a:effectLst/>
                <a:latin typeface="Times-Roman"/>
              </a:rPr>
              <a:t>to the product of the natural direct and indirect effect odds ratios when the outcome is binary</a:t>
            </a:r>
            <a:r>
              <a:rPr lang="en-US" dirty="0"/>
              <a:t> </a:t>
            </a:r>
            <a:r>
              <a:rPr lang="en-US" sz="1200" dirty="0">
                <a:solidFill>
                  <a:schemeClr val="tx1"/>
                </a:solidFill>
                <a:latin typeface="Times-Roman"/>
                <a:cs typeface="Times New Roman" panose="02020603050405020304" pitchFamily="18" charset="0"/>
              </a:rPr>
              <a:t>(i.e. natural direct effect + natural indirect effect (continuous outcome); natural direct*natural indirect effect odds ratios (binary outcome))</a:t>
            </a:r>
            <a:br>
              <a:rPr lang="en-US" dirty="0"/>
            </a:br>
            <a:r>
              <a:rPr lang="en-US" dirty="0"/>
              <a:t> </a:t>
            </a:r>
            <a:endParaRPr lang="en-SG" dirty="0"/>
          </a:p>
        </p:txBody>
      </p:sp>
      <p:sp>
        <p:nvSpPr>
          <p:cNvPr id="4" name="Slide Number Placeholder 3">
            <a:extLst>
              <a:ext uri="{FF2B5EF4-FFF2-40B4-BE49-F238E27FC236}">
                <a16:creationId xmlns:a16="http://schemas.microsoft.com/office/drawing/2014/main" id="{B42CEB43-D61A-C80D-CDB3-32C12ECA15C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E04DD9-733F-4347-B3BE-CD54B8750232}" type="slidenum">
              <a:rPr kumimoji="0" lang="en-SG"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SG"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456985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dirty="0">
                <a:solidFill>
                  <a:srgbClr val="242021"/>
                </a:solidFill>
                <a:effectLst/>
                <a:latin typeface="Times-Roman"/>
              </a:rPr>
              <a:t>While controlled direct effects are often of greater interest in policy evaluation (</a:t>
            </a:r>
            <a:r>
              <a:rPr lang="en-US" sz="1800" b="0" i="0" dirty="0">
                <a:solidFill>
                  <a:srgbClr val="303192"/>
                </a:solidFill>
                <a:effectLst/>
                <a:latin typeface="Times-Roman"/>
              </a:rPr>
              <a:t>Pearl, 2001</a:t>
            </a:r>
            <a:r>
              <a:rPr lang="en-US" sz="1800" b="0" i="0" dirty="0">
                <a:solidFill>
                  <a:srgbClr val="242021"/>
                </a:solidFill>
                <a:effectLst/>
                <a:latin typeface="Times-Roman"/>
              </a:rPr>
              <a:t>; </a:t>
            </a:r>
            <a:r>
              <a:rPr lang="en-US" sz="1800" b="0" i="0" dirty="0">
                <a:solidFill>
                  <a:srgbClr val="303192"/>
                </a:solidFill>
                <a:effectLst/>
                <a:latin typeface="Times-Roman"/>
              </a:rPr>
              <a:t>Robins, 2003</a:t>
            </a:r>
            <a:r>
              <a:rPr lang="en-US" sz="1800" b="0" i="0" dirty="0">
                <a:solidFill>
                  <a:srgbClr val="242021"/>
                </a:solidFill>
                <a:effectLst/>
                <a:latin typeface="Times-Roman"/>
              </a:rPr>
              <a:t>), natural direct and</a:t>
            </a:r>
            <a:br>
              <a:rPr lang="en-US" sz="1800" b="0" i="0" dirty="0">
                <a:solidFill>
                  <a:srgbClr val="242021"/>
                </a:solidFill>
                <a:effectLst/>
                <a:latin typeface="Times-Roman"/>
              </a:rPr>
            </a:br>
            <a:r>
              <a:rPr lang="en-US" sz="1800" b="0" i="0" dirty="0">
                <a:solidFill>
                  <a:srgbClr val="242021"/>
                </a:solidFill>
                <a:effectLst/>
                <a:latin typeface="Times-Roman"/>
              </a:rPr>
              <a:t>indirect effects may be of greater interest in evaluating the action of various mechanisms (</a:t>
            </a:r>
            <a:r>
              <a:rPr lang="en-US" sz="1800" b="0" i="0" dirty="0">
                <a:solidFill>
                  <a:srgbClr val="303192"/>
                </a:solidFill>
                <a:effectLst/>
                <a:latin typeface="Times-Roman"/>
              </a:rPr>
              <a:t>Joffe, Small, &amp; Hsu, 2007</a:t>
            </a:r>
            <a:r>
              <a:rPr lang="en-US" sz="1800" b="0" i="0" dirty="0">
                <a:solidFill>
                  <a:srgbClr val="242021"/>
                </a:solidFill>
                <a:effectLst/>
                <a:latin typeface="Times-Roman"/>
              </a:rPr>
              <a:t>; </a:t>
            </a:r>
            <a:r>
              <a:rPr lang="en-US" sz="1800" b="0" i="0" dirty="0">
                <a:solidFill>
                  <a:srgbClr val="303192"/>
                </a:solidFill>
                <a:effectLst/>
                <a:latin typeface="Times-Roman"/>
              </a:rPr>
              <a:t>Robins, 2003</a:t>
            </a:r>
            <a:r>
              <a:rPr lang="en-US" sz="1800" b="0" i="0" dirty="0">
                <a:solidFill>
                  <a:srgbClr val="242021"/>
                </a:solidFill>
                <a:effectLst/>
                <a:latin typeface="Times-Roman"/>
              </a:rPr>
              <a:t>)</a:t>
            </a:r>
            <a:br>
              <a:rPr lang="en-US" sz="1800" b="0" i="0" dirty="0">
                <a:solidFill>
                  <a:srgbClr val="242021"/>
                </a:solidFill>
                <a:effectLst/>
                <a:latin typeface="Times-Roman"/>
              </a:rPr>
            </a:br>
            <a:br>
              <a:rPr lang="en-US" sz="1800" b="0" i="0" dirty="0">
                <a:solidFill>
                  <a:srgbClr val="242021"/>
                </a:solidFill>
                <a:effectLst/>
                <a:latin typeface="Times-Roman"/>
              </a:rPr>
            </a:br>
            <a:r>
              <a:rPr lang="en-US" sz="1800" b="0" i="0" dirty="0">
                <a:solidFill>
                  <a:srgbClr val="242021"/>
                </a:solidFill>
                <a:effectLst/>
                <a:latin typeface="Times-Roman"/>
              </a:rPr>
              <a:t>total effect is equal to the sum of the natural direct effect and the natural indirect effect when the outcome is continuous and</a:t>
            </a:r>
            <a:br>
              <a:rPr lang="en-US" sz="1800" b="0" i="0" dirty="0">
                <a:solidFill>
                  <a:srgbClr val="242021"/>
                </a:solidFill>
                <a:effectLst/>
                <a:latin typeface="Times-Roman"/>
              </a:rPr>
            </a:br>
            <a:r>
              <a:rPr lang="en-US" sz="1800" b="0" i="0" dirty="0">
                <a:solidFill>
                  <a:srgbClr val="242021"/>
                </a:solidFill>
                <a:effectLst/>
                <a:latin typeface="Times-Roman"/>
              </a:rPr>
              <a:t>to the product of the natural direct and indirect effect odds ratios when the outcome is binary</a:t>
            </a:r>
            <a:r>
              <a:rPr lang="en-US" dirty="0"/>
              <a:t> </a:t>
            </a:r>
            <a:r>
              <a:rPr lang="en-US" sz="1200" dirty="0">
                <a:solidFill>
                  <a:schemeClr val="tx1"/>
                </a:solidFill>
                <a:latin typeface="Times-Roman"/>
                <a:cs typeface="Times New Roman" panose="02020603050405020304" pitchFamily="18" charset="0"/>
              </a:rPr>
              <a:t>(i.e. natural direct effect + natural indirect effect (continuous outcome); natural direct*natural indirect effect odds ratios (binary outcome))</a:t>
            </a:r>
            <a:br>
              <a:rPr lang="en-US" dirty="0"/>
            </a:br>
            <a:r>
              <a:rPr lang="en-US" dirty="0"/>
              <a:t> </a:t>
            </a:r>
            <a:endParaRPr lang="en-SG"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E04DD9-733F-4347-B3BE-CD54B8750232}" type="slidenum">
              <a:rPr kumimoji="0" lang="en-SG"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SG"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2107759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9364FB-C094-FA00-10B1-606267A1D0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BC45B1-4456-9DE0-9223-ECF70AD0C8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0BF6FE-F697-5D59-A6AF-0D6FBDADA2C4}"/>
              </a:ext>
            </a:extLst>
          </p:cNvPr>
          <p:cNvSpPr>
            <a:spLocks noGrp="1"/>
          </p:cNvSpPr>
          <p:nvPr>
            <p:ph type="body" idx="1"/>
          </p:nvPr>
        </p:nvSpPr>
        <p:spPr/>
        <p:txBody>
          <a:bodyPr/>
          <a:lstStyle/>
          <a:p>
            <a:r>
              <a:rPr lang="en-US" sz="1800" b="0" i="0" dirty="0">
                <a:solidFill>
                  <a:srgbClr val="242021"/>
                </a:solidFill>
                <a:effectLst/>
                <a:latin typeface="Times-Roman"/>
              </a:rPr>
              <a:t>While controlled direct effects are often of greater interest in policy evaluation (</a:t>
            </a:r>
            <a:r>
              <a:rPr lang="en-US" sz="1800" b="0" i="0" dirty="0">
                <a:solidFill>
                  <a:srgbClr val="303192"/>
                </a:solidFill>
                <a:effectLst/>
                <a:latin typeface="Times-Roman"/>
              </a:rPr>
              <a:t>Pearl, 2001</a:t>
            </a:r>
            <a:r>
              <a:rPr lang="en-US" sz="1800" b="0" i="0" dirty="0">
                <a:solidFill>
                  <a:srgbClr val="242021"/>
                </a:solidFill>
                <a:effectLst/>
                <a:latin typeface="Times-Roman"/>
              </a:rPr>
              <a:t>; </a:t>
            </a:r>
            <a:r>
              <a:rPr lang="en-US" sz="1800" b="0" i="0" dirty="0">
                <a:solidFill>
                  <a:srgbClr val="303192"/>
                </a:solidFill>
                <a:effectLst/>
                <a:latin typeface="Times-Roman"/>
              </a:rPr>
              <a:t>Robins, 2003</a:t>
            </a:r>
            <a:r>
              <a:rPr lang="en-US" sz="1800" b="0" i="0" dirty="0">
                <a:solidFill>
                  <a:srgbClr val="242021"/>
                </a:solidFill>
                <a:effectLst/>
                <a:latin typeface="Times-Roman"/>
              </a:rPr>
              <a:t>), natural direct and</a:t>
            </a:r>
            <a:br>
              <a:rPr lang="en-US" sz="1800" b="0" i="0" dirty="0">
                <a:solidFill>
                  <a:srgbClr val="242021"/>
                </a:solidFill>
                <a:effectLst/>
                <a:latin typeface="Times-Roman"/>
              </a:rPr>
            </a:br>
            <a:r>
              <a:rPr lang="en-US" sz="1800" b="0" i="0" dirty="0">
                <a:solidFill>
                  <a:srgbClr val="242021"/>
                </a:solidFill>
                <a:effectLst/>
                <a:latin typeface="Times-Roman"/>
              </a:rPr>
              <a:t>indirect effects may be of greater interest in evaluating the action of various mechanisms (</a:t>
            </a:r>
            <a:r>
              <a:rPr lang="en-US" sz="1800" b="0" i="0" dirty="0">
                <a:solidFill>
                  <a:srgbClr val="303192"/>
                </a:solidFill>
                <a:effectLst/>
                <a:latin typeface="Times-Roman"/>
              </a:rPr>
              <a:t>Joffe, Small, &amp; Hsu, 2007</a:t>
            </a:r>
            <a:r>
              <a:rPr lang="en-US" sz="1800" b="0" i="0" dirty="0">
                <a:solidFill>
                  <a:srgbClr val="242021"/>
                </a:solidFill>
                <a:effectLst/>
                <a:latin typeface="Times-Roman"/>
              </a:rPr>
              <a:t>; </a:t>
            </a:r>
            <a:r>
              <a:rPr lang="en-US" sz="1800" b="0" i="0" dirty="0">
                <a:solidFill>
                  <a:srgbClr val="303192"/>
                </a:solidFill>
                <a:effectLst/>
                <a:latin typeface="Times-Roman"/>
              </a:rPr>
              <a:t>Robins, 2003</a:t>
            </a:r>
            <a:r>
              <a:rPr lang="en-US" sz="1800" b="0" i="0" dirty="0">
                <a:solidFill>
                  <a:srgbClr val="242021"/>
                </a:solidFill>
                <a:effectLst/>
                <a:latin typeface="Times-Roman"/>
              </a:rPr>
              <a:t>)</a:t>
            </a:r>
            <a:br>
              <a:rPr lang="en-US" sz="1800" b="0" i="0" dirty="0">
                <a:solidFill>
                  <a:srgbClr val="242021"/>
                </a:solidFill>
                <a:effectLst/>
                <a:latin typeface="Times-Roman"/>
              </a:rPr>
            </a:br>
            <a:br>
              <a:rPr lang="en-US" sz="1800" b="0" i="0" dirty="0">
                <a:solidFill>
                  <a:srgbClr val="242021"/>
                </a:solidFill>
                <a:effectLst/>
                <a:latin typeface="Times-Roman"/>
              </a:rPr>
            </a:br>
            <a:r>
              <a:rPr lang="en-US" sz="1800" b="0" i="0" dirty="0">
                <a:solidFill>
                  <a:srgbClr val="242021"/>
                </a:solidFill>
                <a:effectLst/>
                <a:latin typeface="Times-Roman"/>
              </a:rPr>
              <a:t>total effect is equal to the sum of the natural direct effect and the natural indirect effect when the outcome is continuous and</a:t>
            </a:r>
            <a:br>
              <a:rPr lang="en-US" sz="1800" b="0" i="0" dirty="0">
                <a:solidFill>
                  <a:srgbClr val="242021"/>
                </a:solidFill>
                <a:effectLst/>
                <a:latin typeface="Times-Roman"/>
              </a:rPr>
            </a:br>
            <a:r>
              <a:rPr lang="en-US" sz="1800" b="0" i="0" dirty="0">
                <a:solidFill>
                  <a:srgbClr val="242021"/>
                </a:solidFill>
                <a:effectLst/>
                <a:latin typeface="Times-Roman"/>
              </a:rPr>
              <a:t>to the product of the natural direct and indirect effect odds ratios when the outcome is binary</a:t>
            </a:r>
            <a:r>
              <a:rPr lang="en-US" dirty="0"/>
              <a:t> </a:t>
            </a:r>
            <a:r>
              <a:rPr lang="en-US" sz="1200" dirty="0">
                <a:solidFill>
                  <a:schemeClr val="tx1"/>
                </a:solidFill>
                <a:latin typeface="Times-Roman"/>
                <a:cs typeface="Times New Roman" panose="02020603050405020304" pitchFamily="18" charset="0"/>
              </a:rPr>
              <a:t>(i.e. natural direct effect + natural indirect effect (continuous outcome); natural direct*natural indirect effect odds ratios (binary outcome))</a:t>
            </a:r>
            <a:br>
              <a:rPr lang="en-US" dirty="0"/>
            </a:br>
            <a:r>
              <a:rPr lang="en-US" dirty="0"/>
              <a:t> </a:t>
            </a:r>
            <a:endParaRPr lang="en-SG" dirty="0"/>
          </a:p>
        </p:txBody>
      </p:sp>
      <p:sp>
        <p:nvSpPr>
          <p:cNvPr id="4" name="Slide Number Placeholder 3">
            <a:extLst>
              <a:ext uri="{FF2B5EF4-FFF2-40B4-BE49-F238E27FC236}">
                <a16:creationId xmlns:a16="http://schemas.microsoft.com/office/drawing/2014/main" id="{79CB2785-7DB7-9B33-9694-D6E7479E16D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E04DD9-733F-4347-B3BE-CD54B8750232}" type="slidenum">
              <a:rPr kumimoji="0" lang="en-SG"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SG"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7466539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277F0A-9173-75FB-AC30-CA63EE56DA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A6711F-082B-F276-A5F0-BCB9166B66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BE21D8-C14C-A74B-9D3B-7B6C4455AA94}"/>
              </a:ext>
            </a:extLst>
          </p:cNvPr>
          <p:cNvSpPr>
            <a:spLocks noGrp="1"/>
          </p:cNvSpPr>
          <p:nvPr>
            <p:ph type="body" idx="1"/>
          </p:nvPr>
        </p:nvSpPr>
        <p:spPr/>
        <p:txBody>
          <a:bodyPr/>
          <a:lstStyle/>
          <a:p>
            <a:r>
              <a:rPr lang="en-SG" sz="1200" b="0" i="0" u="none" strike="noStrike" kern="1200" dirty="0">
                <a:solidFill>
                  <a:schemeClr val="tx1"/>
                </a:solidFill>
                <a:effectLst/>
                <a:latin typeface="+mn-lt"/>
                <a:ea typeface="+mn-ea"/>
                <a:cs typeface="+mn-cs"/>
              </a:rPr>
              <a:t>ACME(control) and ACME(treated) They exist because with a </a:t>
            </a:r>
            <a:r>
              <a:rPr lang="en-SG" sz="1200" b="1" i="0" u="none" strike="noStrike" kern="1200" dirty="0">
                <a:solidFill>
                  <a:schemeClr val="tx1"/>
                </a:solidFill>
                <a:effectLst/>
                <a:latin typeface="+mn-lt"/>
                <a:ea typeface="+mn-ea"/>
                <a:cs typeface="+mn-cs"/>
              </a:rPr>
              <a:t>binary outcome + logistic regression (and/or treatment–mediator interaction)</a:t>
            </a:r>
            <a:r>
              <a:rPr lang="en-SG" sz="1200" b="0" i="0" u="none" strike="noStrike" kern="1200" dirty="0">
                <a:solidFill>
                  <a:schemeClr val="tx1"/>
                </a:solidFill>
                <a:effectLst/>
                <a:latin typeface="+mn-lt"/>
                <a:ea typeface="+mn-ea"/>
                <a:cs typeface="+mn-cs"/>
              </a:rPr>
              <a:t>, mediation effects generally </a:t>
            </a:r>
            <a:r>
              <a:rPr lang="en-SG" sz="1200" b="1" i="0" u="none" strike="noStrike" kern="1200" dirty="0">
                <a:solidFill>
                  <a:schemeClr val="tx1"/>
                </a:solidFill>
                <a:effectLst/>
                <a:latin typeface="+mn-lt"/>
                <a:ea typeface="+mn-ea"/>
                <a:cs typeface="+mn-cs"/>
              </a:rPr>
              <a:t>depend on the level of the treatment</a:t>
            </a:r>
            <a:r>
              <a:rPr lang="en-SG" sz="1200" b="0" i="0" u="none" strike="noStrike" kern="1200" dirty="0">
                <a:solidFill>
                  <a:schemeClr val="tx1"/>
                </a:solidFill>
                <a:effectLst/>
                <a:latin typeface="+mn-lt"/>
                <a:ea typeface="+mn-ea"/>
                <a:cs typeface="+mn-cs"/>
              </a:rPr>
              <a:t> (the decomposition is not unique like it is in simple linear models).</a:t>
            </a:r>
            <a:endParaRPr lang="en-US" sz="1800" b="0" i="0" dirty="0">
              <a:solidFill>
                <a:srgbClr val="242021"/>
              </a:solidFill>
              <a:effectLst/>
              <a:latin typeface="Times-Roman"/>
            </a:endParaRPr>
          </a:p>
          <a:p>
            <a:br>
              <a:rPr lang="en-US" sz="1800" b="0" i="0" dirty="0">
                <a:solidFill>
                  <a:srgbClr val="242021"/>
                </a:solidFill>
                <a:effectLst/>
                <a:latin typeface="Times-Roman"/>
              </a:rPr>
            </a:br>
            <a:r>
              <a:rPr lang="en-US" sz="1800" b="0" i="0" dirty="0">
                <a:solidFill>
                  <a:srgbClr val="242021"/>
                </a:solidFill>
                <a:effectLst/>
                <a:latin typeface="Times-Roman"/>
              </a:rPr>
              <a:t>total effect is equal to the sum of the natural direct effect and the natural indirect effect when the outcome is continuous and</a:t>
            </a:r>
            <a:br>
              <a:rPr lang="en-US" sz="1800" b="0" i="0" dirty="0">
                <a:solidFill>
                  <a:srgbClr val="242021"/>
                </a:solidFill>
                <a:effectLst/>
                <a:latin typeface="Times-Roman"/>
              </a:rPr>
            </a:br>
            <a:r>
              <a:rPr lang="en-US" sz="1800" b="0" i="0" dirty="0">
                <a:solidFill>
                  <a:srgbClr val="242021"/>
                </a:solidFill>
                <a:effectLst/>
                <a:latin typeface="Times-Roman"/>
              </a:rPr>
              <a:t>to the product of the natural direct and indirect effect odds ratios when the outcome is binary</a:t>
            </a:r>
            <a:r>
              <a:rPr lang="en-US" dirty="0"/>
              <a:t> </a:t>
            </a:r>
            <a:r>
              <a:rPr lang="en-US" sz="1200" dirty="0">
                <a:solidFill>
                  <a:schemeClr val="tx1"/>
                </a:solidFill>
                <a:latin typeface="Times-Roman"/>
                <a:cs typeface="Times New Roman" panose="02020603050405020304" pitchFamily="18" charset="0"/>
              </a:rPr>
              <a:t>(i.e. natural direct effect + natural indirect effect (continuous outcome); natural direct*natural indirect effect odds ratios (binary outcome))</a:t>
            </a:r>
            <a:br>
              <a:rPr lang="en-US" dirty="0"/>
            </a:br>
            <a:r>
              <a:rPr lang="en-US" dirty="0"/>
              <a:t> </a:t>
            </a:r>
          </a:p>
          <a:p>
            <a:endParaRPr lang="en-US" dirty="0"/>
          </a:p>
          <a:p>
            <a:r>
              <a:rPr lang="en-US" dirty="0"/>
              <a:t>Marginal direct effect</a:t>
            </a:r>
            <a:endParaRPr lang="en-SG" dirty="0"/>
          </a:p>
        </p:txBody>
      </p:sp>
      <p:sp>
        <p:nvSpPr>
          <p:cNvPr id="4" name="Slide Number Placeholder 3">
            <a:extLst>
              <a:ext uri="{FF2B5EF4-FFF2-40B4-BE49-F238E27FC236}">
                <a16:creationId xmlns:a16="http://schemas.microsoft.com/office/drawing/2014/main" id="{334C46BB-EEF7-9C90-698E-5EDBBB627DF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E04DD9-733F-4347-B3BE-CD54B8750232}" type="slidenum">
              <a:rPr kumimoji="0" lang="en-SG"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SG"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48755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EAC109-E3AF-9DD2-D887-2219F53E97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DF9F8E-EF3A-540C-BE04-FE1504E2AF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FB9420-DCEF-94C9-3F65-2756641242BD}"/>
              </a:ext>
            </a:extLst>
          </p:cNvPr>
          <p:cNvSpPr>
            <a:spLocks noGrp="1"/>
          </p:cNvSpPr>
          <p:nvPr>
            <p:ph type="body" idx="1"/>
          </p:nvPr>
        </p:nvSpPr>
        <p:spPr/>
        <p:txBody>
          <a:bodyPr/>
          <a:lstStyle/>
          <a:p>
            <a:r>
              <a:rPr lang="en-US" sz="1800" b="0" i="0" dirty="0">
                <a:solidFill>
                  <a:srgbClr val="242021"/>
                </a:solidFill>
                <a:effectLst/>
                <a:latin typeface="Times-Roman"/>
              </a:rPr>
              <a:t>While controlled direct effects are often of greater interest in policy evaluation (</a:t>
            </a:r>
            <a:r>
              <a:rPr lang="en-US" sz="1800" b="0" i="0" dirty="0">
                <a:solidFill>
                  <a:srgbClr val="303192"/>
                </a:solidFill>
                <a:effectLst/>
                <a:latin typeface="Times-Roman"/>
              </a:rPr>
              <a:t>Pearl, 2001</a:t>
            </a:r>
            <a:r>
              <a:rPr lang="en-US" sz="1800" b="0" i="0" dirty="0">
                <a:solidFill>
                  <a:srgbClr val="242021"/>
                </a:solidFill>
                <a:effectLst/>
                <a:latin typeface="Times-Roman"/>
              </a:rPr>
              <a:t>; </a:t>
            </a:r>
            <a:r>
              <a:rPr lang="en-US" sz="1800" b="0" i="0" dirty="0">
                <a:solidFill>
                  <a:srgbClr val="303192"/>
                </a:solidFill>
                <a:effectLst/>
                <a:latin typeface="Times-Roman"/>
              </a:rPr>
              <a:t>Robins, 2003</a:t>
            </a:r>
            <a:r>
              <a:rPr lang="en-US" sz="1800" b="0" i="0" dirty="0">
                <a:solidFill>
                  <a:srgbClr val="242021"/>
                </a:solidFill>
                <a:effectLst/>
                <a:latin typeface="Times-Roman"/>
              </a:rPr>
              <a:t>), natural direct and</a:t>
            </a:r>
            <a:br>
              <a:rPr lang="en-US" sz="1800" b="0" i="0" dirty="0">
                <a:solidFill>
                  <a:srgbClr val="242021"/>
                </a:solidFill>
                <a:effectLst/>
                <a:latin typeface="Times-Roman"/>
              </a:rPr>
            </a:br>
            <a:r>
              <a:rPr lang="en-US" sz="1800" b="0" i="0" dirty="0">
                <a:solidFill>
                  <a:srgbClr val="242021"/>
                </a:solidFill>
                <a:effectLst/>
                <a:latin typeface="Times-Roman"/>
              </a:rPr>
              <a:t>indirect effects may be of greater interest in evaluating the action of various mechanisms (</a:t>
            </a:r>
            <a:r>
              <a:rPr lang="en-US" sz="1800" b="0" i="0" dirty="0">
                <a:solidFill>
                  <a:srgbClr val="303192"/>
                </a:solidFill>
                <a:effectLst/>
                <a:latin typeface="Times-Roman"/>
              </a:rPr>
              <a:t>Joffe, Small, &amp; Hsu, 2007</a:t>
            </a:r>
            <a:r>
              <a:rPr lang="en-US" sz="1800" b="0" i="0" dirty="0">
                <a:solidFill>
                  <a:srgbClr val="242021"/>
                </a:solidFill>
                <a:effectLst/>
                <a:latin typeface="Times-Roman"/>
              </a:rPr>
              <a:t>; </a:t>
            </a:r>
            <a:r>
              <a:rPr lang="en-US" sz="1800" b="0" i="0" dirty="0">
                <a:solidFill>
                  <a:srgbClr val="303192"/>
                </a:solidFill>
                <a:effectLst/>
                <a:latin typeface="Times-Roman"/>
              </a:rPr>
              <a:t>Robins, 2003</a:t>
            </a:r>
            <a:r>
              <a:rPr lang="en-US" sz="1800" b="0" i="0" dirty="0">
                <a:solidFill>
                  <a:srgbClr val="242021"/>
                </a:solidFill>
                <a:effectLst/>
                <a:latin typeface="Times-Roman"/>
              </a:rPr>
              <a:t>)</a:t>
            </a:r>
            <a:br>
              <a:rPr lang="en-US" sz="1800" b="0" i="0" dirty="0">
                <a:solidFill>
                  <a:srgbClr val="242021"/>
                </a:solidFill>
                <a:effectLst/>
                <a:latin typeface="Times-Roman"/>
              </a:rPr>
            </a:br>
            <a:br>
              <a:rPr lang="en-US" sz="1800" b="0" i="0" dirty="0">
                <a:solidFill>
                  <a:srgbClr val="242021"/>
                </a:solidFill>
                <a:effectLst/>
                <a:latin typeface="Times-Roman"/>
              </a:rPr>
            </a:br>
            <a:r>
              <a:rPr lang="en-US" sz="1800" b="0" i="0" dirty="0">
                <a:solidFill>
                  <a:srgbClr val="242021"/>
                </a:solidFill>
                <a:effectLst/>
                <a:latin typeface="Times-Roman"/>
              </a:rPr>
              <a:t>total effect is equal to the sum of the natural direct effect and the natural indirect effect when the outcome is continuous and</a:t>
            </a:r>
            <a:br>
              <a:rPr lang="en-US" sz="1800" b="0" i="0" dirty="0">
                <a:solidFill>
                  <a:srgbClr val="242021"/>
                </a:solidFill>
                <a:effectLst/>
                <a:latin typeface="Times-Roman"/>
              </a:rPr>
            </a:br>
            <a:r>
              <a:rPr lang="en-US" sz="1800" b="0" i="0" dirty="0">
                <a:solidFill>
                  <a:srgbClr val="242021"/>
                </a:solidFill>
                <a:effectLst/>
                <a:latin typeface="Times-Roman"/>
              </a:rPr>
              <a:t>to the product of the natural direct and indirect effect odds ratios when the outcome is binary</a:t>
            </a:r>
            <a:r>
              <a:rPr lang="en-US" dirty="0"/>
              <a:t> </a:t>
            </a:r>
            <a:r>
              <a:rPr lang="en-US" sz="1200" dirty="0">
                <a:solidFill>
                  <a:schemeClr val="tx1"/>
                </a:solidFill>
                <a:latin typeface="Times-Roman"/>
                <a:cs typeface="Times New Roman" panose="02020603050405020304" pitchFamily="18" charset="0"/>
              </a:rPr>
              <a:t>(i.e. natural direct effect + natural indirect effect (continuous outcome); natural direct*natural indirect effect odds ratios (binary outcome))</a:t>
            </a:r>
            <a:br>
              <a:rPr lang="en-US" dirty="0"/>
            </a:br>
            <a:r>
              <a:rPr lang="en-US" dirty="0"/>
              <a:t> </a:t>
            </a:r>
          </a:p>
          <a:p>
            <a:endParaRPr lang="en-US" dirty="0"/>
          </a:p>
          <a:p>
            <a:r>
              <a:rPr lang="en-US" dirty="0"/>
              <a:t>Marginal direct effect</a:t>
            </a:r>
            <a:endParaRPr lang="en-SG" dirty="0"/>
          </a:p>
        </p:txBody>
      </p:sp>
      <p:sp>
        <p:nvSpPr>
          <p:cNvPr id="4" name="Slide Number Placeholder 3">
            <a:extLst>
              <a:ext uri="{FF2B5EF4-FFF2-40B4-BE49-F238E27FC236}">
                <a16:creationId xmlns:a16="http://schemas.microsoft.com/office/drawing/2014/main" id="{1E68D9C2-77E7-AC75-6912-F4D1EED91E0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E04DD9-733F-4347-B3BE-CD54B8750232}" type="slidenum">
              <a:rPr kumimoji="0" lang="en-SG"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SG"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5735628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Probit </a:t>
            </a:r>
          </a:p>
        </p:txBody>
      </p:sp>
      <p:sp>
        <p:nvSpPr>
          <p:cNvPr id="4" name="Slide Number Placeholder 3"/>
          <p:cNvSpPr>
            <a:spLocks noGrp="1"/>
          </p:cNvSpPr>
          <p:nvPr>
            <p:ph type="sldNum" sz="quarter" idx="5"/>
          </p:nvPr>
        </p:nvSpPr>
        <p:spPr/>
        <p:txBody>
          <a:bodyPr/>
          <a:lstStyle/>
          <a:p>
            <a:fld id="{90E04DD9-733F-4347-B3BE-CD54B8750232}" type="slidenum">
              <a:rPr lang="en-SG" smtClean="0"/>
              <a:t>25</a:t>
            </a:fld>
            <a:endParaRPr lang="en-SG"/>
          </a:p>
        </p:txBody>
      </p:sp>
    </p:spTree>
    <p:extLst>
      <p:ext uri="{BB962C8B-B14F-4D97-AF65-F5344CB8AC3E}">
        <p14:creationId xmlns:p14="http://schemas.microsoft.com/office/powerpoint/2010/main" val="17430530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EEEBF1-946F-5B50-A3F2-A3D6B9C4D2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85C8D2-8D99-FD90-1292-0E32750A5A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160716-4D45-BB3F-7CD9-14440BA99DDD}"/>
              </a:ext>
            </a:extLst>
          </p:cNvPr>
          <p:cNvSpPr>
            <a:spLocks noGrp="1"/>
          </p:cNvSpPr>
          <p:nvPr>
            <p:ph type="body" idx="1"/>
          </p:nvPr>
        </p:nvSpPr>
        <p:spPr/>
        <p:txBody>
          <a:bodyPr/>
          <a:lstStyle/>
          <a:p>
            <a:r>
              <a:rPr lang="en-US" sz="1800" b="0" i="0" dirty="0">
                <a:solidFill>
                  <a:srgbClr val="242021"/>
                </a:solidFill>
                <a:effectLst/>
                <a:latin typeface="Times-Roman"/>
              </a:rPr>
              <a:t>While controlled direct effects are often of greater interest in policy evaluation (</a:t>
            </a:r>
            <a:r>
              <a:rPr lang="en-US" sz="1800" b="0" i="0" dirty="0">
                <a:solidFill>
                  <a:srgbClr val="303192"/>
                </a:solidFill>
                <a:effectLst/>
                <a:latin typeface="Times-Roman"/>
              </a:rPr>
              <a:t>Pearl, 2001</a:t>
            </a:r>
            <a:r>
              <a:rPr lang="en-US" sz="1800" b="0" i="0" dirty="0">
                <a:solidFill>
                  <a:srgbClr val="242021"/>
                </a:solidFill>
                <a:effectLst/>
                <a:latin typeface="Times-Roman"/>
              </a:rPr>
              <a:t>; </a:t>
            </a:r>
            <a:r>
              <a:rPr lang="en-US" sz="1800" b="0" i="0" dirty="0">
                <a:solidFill>
                  <a:srgbClr val="303192"/>
                </a:solidFill>
                <a:effectLst/>
                <a:latin typeface="Times-Roman"/>
              </a:rPr>
              <a:t>Robins, 2003</a:t>
            </a:r>
            <a:r>
              <a:rPr lang="en-US" sz="1800" b="0" i="0" dirty="0">
                <a:solidFill>
                  <a:srgbClr val="242021"/>
                </a:solidFill>
                <a:effectLst/>
                <a:latin typeface="Times-Roman"/>
              </a:rPr>
              <a:t>), natural direct and</a:t>
            </a:r>
            <a:br>
              <a:rPr lang="en-US" sz="1800" b="0" i="0" dirty="0">
                <a:solidFill>
                  <a:srgbClr val="242021"/>
                </a:solidFill>
                <a:effectLst/>
                <a:latin typeface="Times-Roman"/>
              </a:rPr>
            </a:br>
            <a:r>
              <a:rPr lang="en-US" sz="1800" b="0" i="0" dirty="0">
                <a:solidFill>
                  <a:srgbClr val="242021"/>
                </a:solidFill>
                <a:effectLst/>
                <a:latin typeface="Times-Roman"/>
              </a:rPr>
              <a:t>indirect effects may be of greater interest in evaluating the action of various mechanisms (</a:t>
            </a:r>
            <a:r>
              <a:rPr lang="en-US" sz="1800" b="0" i="0" dirty="0">
                <a:solidFill>
                  <a:srgbClr val="303192"/>
                </a:solidFill>
                <a:effectLst/>
                <a:latin typeface="Times-Roman"/>
              </a:rPr>
              <a:t>Joffe, Small, &amp; Hsu, 2007</a:t>
            </a:r>
            <a:r>
              <a:rPr lang="en-US" sz="1800" b="0" i="0" dirty="0">
                <a:solidFill>
                  <a:srgbClr val="242021"/>
                </a:solidFill>
                <a:effectLst/>
                <a:latin typeface="Times-Roman"/>
              </a:rPr>
              <a:t>; </a:t>
            </a:r>
            <a:r>
              <a:rPr lang="en-US" sz="1800" b="0" i="0" dirty="0">
                <a:solidFill>
                  <a:srgbClr val="303192"/>
                </a:solidFill>
                <a:effectLst/>
                <a:latin typeface="Times-Roman"/>
              </a:rPr>
              <a:t>Robins, 2003</a:t>
            </a:r>
            <a:r>
              <a:rPr lang="en-US" sz="1800" b="0" i="0" dirty="0">
                <a:solidFill>
                  <a:srgbClr val="242021"/>
                </a:solidFill>
                <a:effectLst/>
                <a:latin typeface="Times-Roman"/>
              </a:rPr>
              <a:t>)</a:t>
            </a:r>
            <a:br>
              <a:rPr lang="en-US" sz="1800" b="0" i="0" dirty="0">
                <a:solidFill>
                  <a:srgbClr val="242021"/>
                </a:solidFill>
                <a:effectLst/>
                <a:latin typeface="Times-Roman"/>
              </a:rPr>
            </a:br>
            <a:br>
              <a:rPr lang="en-US" sz="1800" b="0" i="0" dirty="0">
                <a:solidFill>
                  <a:srgbClr val="242021"/>
                </a:solidFill>
                <a:effectLst/>
                <a:latin typeface="Times-Roman"/>
              </a:rPr>
            </a:br>
            <a:r>
              <a:rPr lang="en-US" sz="1800" b="0" i="0" dirty="0">
                <a:solidFill>
                  <a:srgbClr val="242021"/>
                </a:solidFill>
                <a:effectLst/>
                <a:latin typeface="Times-Roman"/>
              </a:rPr>
              <a:t>total effect is equal to the sum of the natural direct effect and the natural indirect effect when the outcome is continuous and</a:t>
            </a:r>
            <a:br>
              <a:rPr lang="en-US" sz="1800" b="0" i="0" dirty="0">
                <a:solidFill>
                  <a:srgbClr val="242021"/>
                </a:solidFill>
                <a:effectLst/>
                <a:latin typeface="Times-Roman"/>
              </a:rPr>
            </a:br>
            <a:r>
              <a:rPr lang="en-US" sz="1800" b="0" i="0" dirty="0">
                <a:solidFill>
                  <a:srgbClr val="242021"/>
                </a:solidFill>
                <a:effectLst/>
                <a:latin typeface="Times-Roman"/>
              </a:rPr>
              <a:t>to the product of the natural direct and indirect effect odds ratios when the outcome is binary</a:t>
            </a:r>
            <a:r>
              <a:rPr lang="en-US" dirty="0"/>
              <a:t> </a:t>
            </a:r>
            <a:r>
              <a:rPr lang="en-US" sz="1200" dirty="0">
                <a:solidFill>
                  <a:schemeClr val="tx1"/>
                </a:solidFill>
                <a:latin typeface="Times-Roman"/>
                <a:cs typeface="Times New Roman" panose="02020603050405020304" pitchFamily="18" charset="0"/>
              </a:rPr>
              <a:t>(i.e. natural direct effect + natural indirect effect (continuous outcome); natural direct*natural indirect effect odds ratios (binary outcome))</a:t>
            </a:r>
            <a:br>
              <a:rPr lang="en-US" dirty="0"/>
            </a:br>
            <a:r>
              <a:rPr lang="en-US" dirty="0"/>
              <a:t> </a:t>
            </a:r>
            <a:endParaRPr lang="en-SG" dirty="0"/>
          </a:p>
        </p:txBody>
      </p:sp>
      <p:sp>
        <p:nvSpPr>
          <p:cNvPr id="4" name="Slide Number Placeholder 3">
            <a:extLst>
              <a:ext uri="{FF2B5EF4-FFF2-40B4-BE49-F238E27FC236}">
                <a16:creationId xmlns:a16="http://schemas.microsoft.com/office/drawing/2014/main" id="{1B6A153E-250B-B341-ECE8-CAAD98FB79D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E04DD9-733F-4347-B3BE-CD54B8750232}" type="slidenum">
              <a:rPr kumimoji="0" lang="en-SG"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SG"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6021620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Treatment randomization satisfies assumptions (1) and (3) only</a:t>
            </a:r>
            <a:br>
              <a:rPr lang="en-SG" dirty="0"/>
            </a:br>
            <a:r>
              <a:rPr lang="en-SG" dirty="0"/>
              <a:t>(1) (2) and (3) require assumption of temporal ordering (treatment comes before mediator, treatment come comes before outcome, mediator comes before outcome)</a:t>
            </a:r>
          </a:p>
          <a:p>
            <a:r>
              <a:rPr lang="en-SG" dirty="0"/>
              <a:t>Treatment induced mediator outcome confounding  - e.g. income increase dental visits, lower sugar intake, dental visits also reduce dental caries through topical </a:t>
            </a:r>
            <a:r>
              <a:rPr lang="en-SG"/>
              <a:t>fluoride application</a:t>
            </a:r>
            <a:endParaRPr lang="en-SG" dirty="0"/>
          </a:p>
        </p:txBody>
      </p:sp>
      <p:sp>
        <p:nvSpPr>
          <p:cNvPr id="4" name="Slide Number Placeholder 3"/>
          <p:cNvSpPr>
            <a:spLocks noGrp="1"/>
          </p:cNvSpPr>
          <p:nvPr>
            <p:ph type="sldNum" sz="quarter" idx="5"/>
          </p:nvPr>
        </p:nvSpPr>
        <p:spPr/>
        <p:txBody>
          <a:bodyPr/>
          <a:lstStyle/>
          <a:p>
            <a:fld id="{90E04DD9-733F-4347-B3BE-CD54B8750232}" type="slidenum">
              <a:rPr lang="en-SG" smtClean="0"/>
              <a:t>27</a:t>
            </a:fld>
            <a:endParaRPr lang="en-SG"/>
          </a:p>
        </p:txBody>
      </p:sp>
    </p:spTree>
    <p:extLst>
      <p:ext uri="{BB962C8B-B14F-4D97-AF65-F5344CB8AC3E}">
        <p14:creationId xmlns:p14="http://schemas.microsoft.com/office/powerpoint/2010/main" val="179607449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764E8-559C-D031-8DF9-A29C45B9E2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139190-6F15-2DD1-3C6D-59981A1801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4ACBBE-0D25-C70C-EE0D-26FC7FDD3F9F}"/>
              </a:ext>
            </a:extLst>
          </p:cNvPr>
          <p:cNvSpPr>
            <a:spLocks noGrp="1"/>
          </p:cNvSpPr>
          <p:nvPr>
            <p:ph type="body" idx="1"/>
          </p:nvPr>
        </p:nvSpPr>
        <p:spPr/>
        <p:txBody>
          <a:bodyPr/>
          <a:lstStyle/>
          <a:p>
            <a:r>
              <a:rPr lang="en-SG" dirty="0"/>
              <a:t>If </a:t>
            </a:r>
            <a:r>
              <a:rPr lang="en-SG" sz="1200" b="0" i="1" u="none" strike="noStrike" kern="1200" dirty="0">
                <a:solidFill>
                  <a:schemeClr val="tx1"/>
                </a:solidFill>
                <a:effectLst/>
                <a:latin typeface="+mn-lt"/>
                <a:ea typeface="+mn-ea"/>
                <a:cs typeface="+mn-cs"/>
              </a:rPr>
              <a:t>R2M AND R2Y are equal, square root of 0.016 = 0.126 , about 12.6% of residual variance has to be explained by omitted confounder</a:t>
            </a:r>
            <a:endParaRPr lang="en-SG" dirty="0"/>
          </a:p>
        </p:txBody>
      </p:sp>
      <p:sp>
        <p:nvSpPr>
          <p:cNvPr id="4" name="Slide Number Placeholder 3">
            <a:extLst>
              <a:ext uri="{FF2B5EF4-FFF2-40B4-BE49-F238E27FC236}">
                <a16:creationId xmlns:a16="http://schemas.microsoft.com/office/drawing/2014/main" id="{811C980C-BD30-6034-AD71-887AD0EB2A38}"/>
              </a:ext>
            </a:extLst>
          </p:cNvPr>
          <p:cNvSpPr>
            <a:spLocks noGrp="1"/>
          </p:cNvSpPr>
          <p:nvPr>
            <p:ph type="sldNum" sz="quarter" idx="5"/>
          </p:nvPr>
        </p:nvSpPr>
        <p:spPr/>
        <p:txBody>
          <a:bodyPr/>
          <a:lstStyle/>
          <a:p>
            <a:fld id="{90E04DD9-733F-4347-B3BE-CD54B8750232}" type="slidenum">
              <a:rPr lang="en-SG" smtClean="0"/>
              <a:t>28</a:t>
            </a:fld>
            <a:endParaRPr lang="en-SG"/>
          </a:p>
        </p:txBody>
      </p:sp>
    </p:spTree>
    <p:extLst>
      <p:ext uri="{BB962C8B-B14F-4D97-AF65-F5344CB8AC3E}">
        <p14:creationId xmlns:p14="http://schemas.microsoft.com/office/powerpoint/2010/main" val="361455211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https://sper.org/wp-content/uploads/2019/07/Snowden-Reavis-SPER-Workshop-2019.pdf</a:t>
            </a:r>
          </a:p>
          <a:p>
            <a:endParaRPr lang="en-SG" dirty="0"/>
          </a:p>
          <a:p>
            <a:r>
              <a:rPr lang="en-SG" dirty="0"/>
              <a:t>Can CHAS uptake be influenced by dental utilization? Perhaps but more likely it’s a result of income status/income group</a:t>
            </a:r>
            <a:br>
              <a:rPr lang="en-SG" dirty="0"/>
            </a:br>
            <a:r>
              <a:rPr lang="en-SG" dirty="0"/>
              <a:t>Verify in prospective studies</a:t>
            </a:r>
          </a:p>
          <a:p>
            <a:r>
              <a:rPr lang="en-SG" dirty="0"/>
              <a:t>Causal models require prior research on causal modelling in this field/ prior assumptions/priors (Bayesian/DAGs), currently we are still working on priors, we are starting somewhere</a:t>
            </a:r>
            <a:br>
              <a:rPr lang="en-SG" dirty="0"/>
            </a:br>
            <a:r>
              <a:rPr lang="en-SG" dirty="0"/>
              <a:t>Somebody has to do that</a:t>
            </a:r>
          </a:p>
          <a:p>
            <a:endParaRPr lang="en-SG" dirty="0"/>
          </a:p>
          <a:p>
            <a:r>
              <a:rPr lang="en-SG" dirty="0"/>
              <a:t>Positivity – assume that individuals have option of being included in CHAS group</a:t>
            </a:r>
            <a:br>
              <a:rPr lang="en-SG" dirty="0"/>
            </a:br>
            <a:r>
              <a:rPr lang="en-SG" dirty="0"/>
              <a:t>Consistency</a:t>
            </a:r>
          </a:p>
        </p:txBody>
      </p:sp>
      <p:sp>
        <p:nvSpPr>
          <p:cNvPr id="4" name="Slide Number Placeholder 3"/>
          <p:cNvSpPr>
            <a:spLocks noGrp="1"/>
          </p:cNvSpPr>
          <p:nvPr>
            <p:ph type="sldNum" sz="quarter" idx="5"/>
          </p:nvPr>
        </p:nvSpPr>
        <p:spPr/>
        <p:txBody>
          <a:bodyPr/>
          <a:lstStyle/>
          <a:p>
            <a:fld id="{90E04DD9-733F-4347-B3BE-CD54B8750232}" type="slidenum">
              <a:rPr lang="en-SG" smtClean="0"/>
              <a:t>29</a:t>
            </a:fld>
            <a:endParaRPr lang="en-SG"/>
          </a:p>
        </p:txBody>
      </p:sp>
    </p:spTree>
    <p:extLst>
      <p:ext uri="{BB962C8B-B14F-4D97-AF65-F5344CB8AC3E}">
        <p14:creationId xmlns:p14="http://schemas.microsoft.com/office/powerpoint/2010/main" val="347679427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092AA8-45E0-F0B9-24A7-296CE3BCCF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3CD222-5C34-04CB-D982-37BA0CCCEC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13928D-D35F-1FD9-76CC-BE44142049AA}"/>
              </a:ext>
            </a:extLst>
          </p:cNvPr>
          <p:cNvSpPr>
            <a:spLocks noGrp="1"/>
          </p:cNvSpPr>
          <p:nvPr>
            <p:ph type="body" idx="1"/>
          </p:nvPr>
        </p:nvSpPr>
        <p:spPr/>
        <p:txBody>
          <a:bodyPr/>
          <a:lstStyle/>
          <a:p>
            <a:r>
              <a:rPr lang="en-SG" dirty="0"/>
              <a:t>https://sper.org/wp-content/uploads/2019/07/Snowden-Reavis-SPER-Workshop-2019.pdf</a:t>
            </a:r>
          </a:p>
          <a:p>
            <a:endParaRPr lang="en-SG" dirty="0"/>
          </a:p>
          <a:p>
            <a:r>
              <a:rPr lang="en-SG" dirty="0"/>
              <a:t>Can CHAS uptake be influenced by dental utilization? Perhaps but more likely it’s a result of income status/income group</a:t>
            </a:r>
            <a:br>
              <a:rPr lang="en-SG" dirty="0"/>
            </a:br>
            <a:r>
              <a:rPr lang="en-SG" dirty="0"/>
              <a:t>Verify in prospective studies</a:t>
            </a:r>
          </a:p>
          <a:p>
            <a:r>
              <a:rPr lang="en-SG" dirty="0"/>
              <a:t>Causal models require prior research on causal modelling in this field/ prior assumptions/priors (Bayesian/DAGs), currently we are still working on priors, we are starting somewhere</a:t>
            </a:r>
            <a:br>
              <a:rPr lang="en-SG" dirty="0"/>
            </a:br>
            <a:r>
              <a:rPr lang="en-SG" dirty="0"/>
              <a:t>Somebody has to do that</a:t>
            </a:r>
          </a:p>
          <a:p>
            <a:endParaRPr lang="en-SG" dirty="0"/>
          </a:p>
          <a:p>
            <a:r>
              <a:rPr lang="en-SG" dirty="0"/>
              <a:t>Positivity – assume that individuals have option of being included in CHAS group</a:t>
            </a:r>
            <a:br>
              <a:rPr lang="en-SG" dirty="0"/>
            </a:br>
            <a:r>
              <a:rPr lang="en-SG" dirty="0"/>
              <a:t>Consistency</a:t>
            </a:r>
          </a:p>
        </p:txBody>
      </p:sp>
      <p:sp>
        <p:nvSpPr>
          <p:cNvPr id="4" name="Slide Number Placeholder 3">
            <a:extLst>
              <a:ext uri="{FF2B5EF4-FFF2-40B4-BE49-F238E27FC236}">
                <a16:creationId xmlns:a16="http://schemas.microsoft.com/office/drawing/2014/main" id="{DEB77B30-51FD-C41F-4AB9-510146319539}"/>
              </a:ext>
            </a:extLst>
          </p:cNvPr>
          <p:cNvSpPr>
            <a:spLocks noGrp="1"/>
          </p:cNvSpPr>
          <p:nvPr>
            <p:ph type="sldNum" sz="quarter" idx="5"/>
          </p:nvPr>
        </p:nvSpPr>
        <p:spPr/>
        <p:txBody>
          <a:bodyPr/>
          <a:lstStyle/>
          <a:p>
            <a:fld id="{90E04DD9-733F-4347-B3BE-CD54B8750232}" type="slidenum">
              <a:rPr lang="en-SG" smtClean="0"/>
              <a:t>30</a:t>
            </a:fld>
            <a:endParaRPr lang="en-SG"/>
          </a:p>
        </p:txBody>
      </p:sp>
    </p:spTree>
    <p:extLst>
      <p:ext uri="{BB962C8B-B14F-4D97-AF65-F5344CB8AC3E}">
        <p14:creationId xmlns:p14="http://schemas.microsoft.com/office/powerpoint/2010/main" val="312197839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Assumes linearity in associations</a:t>
            </a:r>
            <a:br>
              <a:rPr lang="en-SG" dirty="0"/>
            </a:br>
            <a:r>
              <a:rPr lang="en-SG" dirty="0"/>
              <a:t>Runs all equations together at the same time; does not take into account mediator related confounding</a:t>
            </a:r>
            <a:br>
              <a:rPr lang="en-SG" dirty="0"/>
            </a:br>
            <a:r>
              <a:rPr lang="en-SG" dirty="0"/>
              <a:t>Moderated mediation, when covariate moderates mediated effect, indirect and direct effect do not sum up to give total effect</a:t>
            </a:r>
            <a:br>
              <a:rPr lang="en-SG" dirty="0"/>
            </a:br>
            <a:r>
              <a:rPr lang="en-SG" dirty="0"/>
              <a:t>(takes into exposure-outcome confounding but not mediator-outcome)</a:t>
            </a:r>
          </a:p>
          <a:p>
            <a:r>
              <a:rPr lang="en-SG" dirty="0"/>
              <a:t>No counterfactual basis [only say mediated by how much]</a:t>
            </a:r>
          </a:p>
          <a:p>
            <a:endParaRPr lang="en-SG" dirty="0"/>
          </a:p>
          <a:p>
            <a:r>
              <a:rPr lang="en-SG" dirty="0"/>
              <a:t>Baron &amp; Kenny</a:t>
            </a:r>
          </a:p>
          <a:p>
            <a:r>
              <a:rPr lang="en-US" b="0" i="0" dirty="0">
                <a:solidFill>
                  <a:srgbClr val="000000"/>
                </a:solidFill>
                <a:effectLst/>
                <a:latin typeface="Avenir LT W01_45 Book1475508"/>
              </a:rPr>
              <a:t>First, effect decomposition – the fact that the direct and indirect effects sum to the total – using the product or difference method only works in the special case where linear regression is used for the mediator and outcome models and when there is no exposure-mediator interaction. If interaction is present and the traditional approach is utilized, the effect estimates obtained will not be interpretable. One point worth noting about assessing mediation with binary outcomes when the outcome is common is that because of non-collapsibility (</a:t>
            </a:r>
            <a:r>
              <a:rPr lang="en-US" b="0" i="0" dirty="0">
                <a:solidFill>
                  <a:srgbClr val="212121"/>
                </a:solidFill>
                <a:effectLst/>
                <a:latin typeface="BlinkMacSystemFont"/>
              </a:rPr>
              <a:t>failure of the measure when taken on a group to equal a simple average of the measure when taken on the group's members or subgroups)</a:t>
            </a:r>
            <a:r>
              <a:rPr lang="en-US" b="0" i="0" dirty="0">
                <a:solidFill>
                  <a:srgbClr val="000000"/>
                </a:solidFill>
                <a:effectLst/>
                <a:latin typeface="Avenir LT W01_45 Book1475508"/>
              </a:rPr>
              <a:t> of the odds ratio, the traditional approach to mediation even if there is no X-M interaction will result in a non-interpretable estimate. Specifically, this would give you a conservative test of mediation (see </a:t>
            </a:r>
            <a:r>
              <a:rPr lang="en-US" b="0" i="0" dirty="0" err="1">
                <a:solidFill>
                  <a:srgbClr val="000000"/>
                </a:solidFill>
                <a:effectLst/>
                <a:latin typeface="Avenir LT W01_45 Book1475508"/>
              </a:rPr>
              <a:t>VanderWeele’s</a:t>
            </a:r>
            <a:r>
              <a:rPr lang="en-US" b="0" i="0" dirty="0">
                <a:solidFill>
                  <a:srgbClr val="000000"/>
                </a:solidFill>
                <a:effectLst/>
                <a:latin typeface="Avenir LT W01_45 Book1475508"/>
              </a:rPr>
              <a:t> textbook for more information).</a:t>
            </a:r>
          </a:p>
          <a:p>
            <a:r>
              <a:rPr lang="en-SG" dirty="0"/>
              <a:t>https://www.publichealth.columbia.edu/research/population-health-methods/causal-mediation#:~:text=When%20a%20mediator%20is%20hypothesized,that%20works%20through%20the%20mediator.</a:t>
            </a:r>
          </a:p>
        </p:txBody>
      </p:sp>
      <p:sp>
        <p:nvSpPr>
          <p:cNvPr id="4" name="Slide Number Placeholder 3"/>
          <p:cNvSpPr>
            <a:spLocks noGrp="1"/>
          </p:cNvSpPr>
          <p:nvPr>
            <p:ph type="sldNum" sz="quarter" idx="5"/>
          </p:nvPr>
        </p:nvSpPr>
        <p:spPr/>
        <p:txBody>
          <a:bodyPr/>
          <a:lstStyle/>
          <a:p>
            <a:fld id="{90E04DD9-733F-4347-B3BE-CD54B8750232}" type="slidenum">
              <a:rPr lang="en-SG" smtClean="0"/>
              <a:t>32</a:t>
            </a:fld>
            <a:endParaRPr lang="en-SG" dirty="0"/>
          </a:p>
        </p:txBody>
      </p:sp>
    </p:spTree>
    <p:extLst>
      <p:ext uri="{BB962C8B-B14F-4D97-AF65-F5344CB8AC3E}">
        <p14:creationId xmlns:p14="http://schemas.microsoft.com/office/powerpoint/2010/main" val="65017318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dirty="0">
                <a:solidFill>
                  <a:srgbClr val="242021"/>
                </a:solidFill>
                <a:effectLst/>
                <a:latin typeface="Times-Roman"/>
              </a:rPr>
              <a:t>original Baron and Kenny approach did not have covariates, but the same general approach applies with covariates (i.e., 2</a:t>
            </a:r>
            <a:r>
              <a:rPr lang="en-US" sz="1800" b="0" i="1" dirty="0">
                <a:solidFill>
                  <a:srgbClr val="242021"/>
                </a:solidFill>
                <a:effectLst/>
                <a:latin typeface="Times-Italic"/>
              </a:rPr>
              <a:t>c</a:t>
            </a:r>
            <a:br>
              <a:rPr lang="en-US" sz="1800" b="0" i="1" dirty="0">
                <a:solidFill>
                  <a:srgbClr val="242021"/>
                </a:solidFill>
                <a:effectLst/>
                <a:latin typeface="Times-Italic"/>
              </a:rPr>
            </a:br>
            <a:r>
              <a:rPr lang="en-US" sz="1800" b="0" i="0" dirty="0">
                <a:solidFill>
                  <a:srgbClr val="242021"/>
                </a:solidFill>
                <a:effectLst/>
                <a:latin typeface="Times-Roman"/>
              </a:rPr>
              <a:t>and 4</a:t>
            </a:r>
            <a:r>
              <a:rPr lang="en-US" sz="1800" b="0" i="1" dirty="0">
                <a:solidFill>
                  <a:srgbClr val="242021"/>
                </a:solidFill>
                <a:effectLst/>
                <a:latin typeface="Times-Italic"/>
              </a:rPr>
              <a:t>c </a:t>
            </a:r>
            <a:r>
              <a:rPr lang="en-US" sz="1800" b="0" i="0" dirty="0">
                <a:solidFill>
                  <a:srgbClr val="242021"/>
                </a:solidFill>
                <a:effectLst/>
                <a:latin typeface="Times-Roman"/>
              </a:rPr>
              <a:t>were not included in the original models by the authors; here </a:t>
            </a:r>
            <a:r>
              <a:rPr lang="en-US" sz="1800" b="0" i="1" dirty="0">
                <a:solidFill>
                  <a:srgbClr val="242021"/>
                </a:solidFill>
                <a:effectLst/>
                <a:latin typeface="Times-Italic"/>
              </a:rPr>
              <a:t>c </a:t>
            </a:r>
            <a:r>
              <a:rPr lang="en-US" sz="1800" b="0" i="0" dirty="0">
                <a:solidFill>
                  <a:srgbClr val="242021"/>
                </a:solidFill>
                <a:effectLst/>
                <a:latin typeface="Times-Roman"/>
              </a:rPr>
              <a:t>is considered a vector and may contain multiple confounders). In particular, Baron and Kenny proposed that the direct effect be assessed by estimating theta1 and that the indirect effect be assessed by estimating beta1theta2.</a:t>
            </a:r>
            <a:r>
              <a:rPr lang="en-US" dirty="0"/>
              <a:t> </a:t>
            </a:r>
            <a:br>
              <a:rPr lang="en-US" dirty="0"/>
            </a:br>
            <a:endParaRPr lang="en-US" dirty="0"/>
          </a:p>
          <a:p>
            <a:r>
              <a:rPr lang="en-SG" dirty="0"/>
              <a:t>Product method (if no exposure-mediator interaction)</a:t>
            </a:r>
            <a:br>
              <a:rPr lang="en-SG" dirty="0"/>
            </a:br>
            <a:r>
              <a:rPr lang="en-SG" dirty="0"/>
              <a:t>Difference method (theta1 in equation without mediator – theta1 in equation with mediator; equivalent to result in product method if continuous outcome on difference scale [differs for binary outcome/logistic regression]</a:t>
            </a:r>
          </a:p>
          <a:p>
            <a:pPr lvl="1"/>
            <a:endParaRPr lang="en-SG" dirty="0"/>
          </a:p>
          <a:p>
            <a:endParaRPr lang="en-SG" dirty="0"/>
          </a:p>
        </p:txBody>
      </p:sp>
      <p:sp>
        <p:nvSpPr>
          <p:cNvPr id="4" name="Slide Number Placeholder 3"/>
          <p:cNvSpPr>
            <a:spLocks noGrp="1"/>
          </p:cNvSpPr>
          <p:nvPr>
            <p:ph type="sldNum" sz="quarter" idx="5"/>
          </p:nvPr>
        </p:nvSpPr>
        <p:spPr/>
        <p:txBody>
          <a:bodyPr/>
          <a:lstStyle/>
          <a:p>
            <a:fld id="{90E04DD9-733F-4347-B3BE-CD54B8750232}" type="slidenum">
              <a:rPr lang="en-SG" smtClean="0"/>
              <a:t>33</a:t>
            </a:fld>
            <a:endParaRPr lang="en-SG"/>
          </a:p>
        </p:txBody>
      </p:sp>
    </p:spTree>
    <p:extLst>
      <p:ext uri="{BB962C8B-B14F-4D97-AF65-F5344CB8AC3E}">
        <p14:creationId xmlns:p14="http://schemas.microsoft.com/office/powerpoint/2010/main" val="12759256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57C3F-0FB2-4B2E-BA6A-FEEEFF1AF7E3}"/>
              </a:ext>
            </a:extLst>
          </p:cNvPr>
          <p:cNvSpPr>
            <a:spLocks noGrp="1"/>
          </p:cNvSpPr>
          <p:nvPr>
            <p:ph type="ctrTitle"/>
          </p:nvPr>
        </p:nvSpPr>
        <p:spPr>
          <a:xfrm>
            <a:off x="2057400" y="685801"/>
            <a:ext cx="8115300" cy="3046228"/>
          </a:xfrm>
        </p:spPr>
        <p:txBody>
          <a:bodyPr anchor="b">
            <a:normAutofit/>
          </a:bodyPr>
          <a:lstStyle>
            <a:lvl1pPr algn="ctr">
              <a:defRPr sz="3600" cap="all" spc="300" baseline="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08583AE9-1CC1-4572-A6E5-E97F80E47661}"/>
              </a:ext>
            </a:extLst>
          </p:cNvPr>
          <p:cNvSpPr>
            <a:spLocks noGrp="1"/>
          </p:cNvSpPr>
          <p:nvPr>
            <p:ph type="subTitle" idx="1"/>
          </p:nvPr>
        </p:nvSpPr>
        <p:spPr>
          <a:xfrm>
            <a:off x="2057400" y="4114800"/>
            <a:ext cx="8115300" cy="2057400"/>
          </a:xfrm>
        </p:spPr>
        <p:txBody>
          <a:bodyPr/>
          <a:lstStyle>
            <a:lvl1pPr marL="0" indent="0" algn="ctr">
              <a:buNone/>
              <a:defRPr sz="24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C04DE7C-68AB-403D-B9D8-7398C292C6DA}"/>
              </a:ext>
            </a:extLst>
          </p:cNvPr>
          <p:cNvSpPr>
            <a:spLocks noGrp="1"/>
          </p:cNvSpPr>
          <p:nvPr>
            <p:ph type="dt" sz="half" idx="10"/>
          </p:nvPr>
        </p:nvSpPr>
        <p:spPr/>
        <p:txBody>
          <a:bodyPr/>
          <a:lstStyle/>
          <a:p>
            <a:fld id="{23FEA57E-7C1A-457B-A4CD-5DCEB057B502}" type="datetime1">
              <a:rPr lang="en-US" smtClean="0"/>
              <a:t>3/16/26</a:t>
            </a:fld>
            <a:endParaRPr lang="en-US" dirty="0"/>
          </a:p>
        </p:txBody>
      </p:sp>
      <p:sp>
        <p:nvSpPr>
          <p:cNvPr id="5" name="Footer Placeholder 4">
            <a:extLst>
              <a:ext uri="{FF2B5EF4-FFF2-40B4-BE49-F238E27FC236}">
                <a16:creationId xmlns:a16="http://schemas.microsoft.com/office/drawing/2014/main" id="{51003E50-6613-4D86-AA22-43B14E7279E9}"/>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03069AB5-A56D-471F-9236-EFA981E2EA03}"/>
              </a:ext>
            </a:extLst>
          </p:cNvPr>
          <p:cNvSpPr>
            <a:spLocks noGrp="1"/>
          </p:cNvSpPr>
          <p:nvPr>
            <p:ph type="sldNum" sz="quarter" idx="12"/>
          </p:nvPr>
        </p:nvSpPr>
        <p:spPr/>
        <p:txBody>
          <a:bodyPr/>
          <a:lstStyle/>
          <a:p>
            <a:fld id="{F8E28480-1C08-4458-AD97-0283E6FFD09D}" type="slidenum">
              <a:rPr lang="en-US" smtClean="0"/>
              <a:t>‹#›</a:t>
            </a:fld>
            <a:endParaRPr lang="en-US" dirty="0"/>
          </a:p>
        </p:txBody>
      </p:sp>
    </p:spTree>
    <p:extLst>
      <p:ext uri="{BB962C8B-B14F-4D97-AF65-F5344CB8AC3E}">
        <p14:creationId xmlns:p14="http://schemas.microsoft.com/office/powerpoint/2010/main" val="2142547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49B412-EBAB-4569-B3D9-6B346BF837B2}"/>
              </a:ext>
            </a:extLst>
          </p:cNvPr>
          <p:cNvSpPr>
            <a:spLocks noGrp="1"/>
          </p:cNvSpPr>
          <p:nvPr>
            <p:ph type="title"/>
          </p:nvPr>
        </p:nvSpPr>
        <p:spPr>
          <a:xfrm>
            <a:off x="1371600" y="685800"/>
            <a:ext cx="9486900" cy="1371600"/>
          </a:xfrm>
        </p:spPr>
        <p:txBody>
          <a:bodyPr>
            <a:normAutofit/>
          </a:bodyPr>
          <a:lstStyle>
            <a:lvl1pPr algn="l">
              <a:defRPr sz="3200" cap="all" spc="300" baseline="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5E7C8AE-B0F4-404F-BCAD-A14C18E50D9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B8AA9CAD-DAFB-4DE3-9C41-7FD03EA8D8DD}"/>
              </a:ext>
            </a:extLst>
          </p:cNvPr>
          <p:cNvSpPr>
            <a:spLocks noGrp="1"/>
          </p:cNvSpPr>
          <p:nvPr>
            <p:ph type="dt" sz="half" idx="10"/>
          </p:nvPr>
        </p:nvSpPr>
        <p:spPr/>
        <p:txBody>
          <a:bodyPr/>
          <a:lstStyle/>
          <a:p>
            <a:fld id="{201AF2CE-4F37-411C-A3EE-BBBE223265BF}" type="datetime1">
              <a:rPr lang="en-US" smtClean="0"/>
              <a:t>3/16/26</a:t>
            </a:fld>
            <a:endParaRPr lang="en-US" dirty="0"/>
          </a:p>
        </p:txBody>
      </p:sp>
      <p:sp>
        <p:nvSpPr>
          <p:cNvPr id="5" name="Footer Placeholder 4">
            <a:extLst>
              <a:ext uri="{FF2B5EF4-FFF2-40B4-BE49-F238E27FC236}">
                <a16:creationId xmlns:a16="http://schemas.microsoft.com/office/drawing/2014/main" id="{8FCE3137-8136-46C5-AC2F-49E5F55E4C73}"/>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AF1AB6EF-A0B1-4706-AE44-253A6B182D48}"/>
              </a:ext>
            </a:extLst>
          </p:cNvPr>
          <p:cNvSpPr>
            <a:spLocks noGrp="1"/>
          </p:cNvSpPr>
          <p:nvPr>
            <p:ph type="sldNum" sz="quarter" idx="12"/>
          </p:nvPr>
        </p:nvSpPr>
        <p:spPr/>
        <p:txBody>
          <a:bodyPr/>
          <a:lstStyle/>
          <a:p>
            <a:fld id="{F8E28480-1C08-4458-AD97-0283E6FFD09D}" type="slidenum">
              <a:rPr lang="en-US" smtClean="0"/>
              <a:t>‹#›</a:t>
            </a:fld>
            <a:endParaRPr lang="en-US" dirty="0"/>
          </a:p>
        </p:txBody>
      </p:sp>
    </p:spTree>
    <p:extLst>
      <p:ext uri="{BB962C8B-B14F-4D97-AF65-F5344CB8AC3E}">
        <p14:creationId xmlns:p14="http://schemas.microsoft.com/office/powerpoint/2010/main" val="15826722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02F68-BF19-468D-B422-54B6D189FA58}"/>
              </a:ext>
            </a:extLst>
          </p:cNvPr>
          <p:cNvSpPr>
            <a:spLocks noGrp="1"/>
          </p:cNvSpPr>
          <p:nvPr>
            <p:ph type="title"/>
          </p:nvPr>
        </p:nvSpPr>
        <p:spPr>
          <a:xfrm>
            <a:off x="831850" y="1709738"/>
            <a:ext cx="10515600" cy="2774071"/>
          </a:xfrm>
        </p:spPr>
        <p:txBody>
          <a:bodyPr anchor="b">
            <a:normAutofit/>
          </a:bodyPr>
          <a:lstStyle>
            <a:lvl1pPr algn="ct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BCBF7D7-84D4-4A39-B44E-9B029EEB1FE8}"/>
              </a:ext>
            </a:extLst>
          </p:cNvPr>
          <p:cNvSpPr>
            <a:spLocks noGrp="1"/>
          </p:cNvSpPr>
          <p:nvPr>
            <p:ph type="body" idx="1"/>
          </p:nvPr>
        </p:nvSpPr>
        <p:spPr>
          <a:xfrm>
            <a:off x="831850" y="4641624"/>
            <a:ext cx="10515600" cy="1448026"/>
          </a:xfrm>
        </p:spPr>
        <p:txBody>
          <a:bodyPr/>
          <a:lstStyle>
            <a:lvl1pPr marL="0" indent="0" algn="ctr">
              <a:buNone/>
              <a:defRPr sz="2400" i="1">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9E29709-D243-41E8-89FA-62FA7AEB52E1}"/>
              </a:ext>
            </a:extLst>
          </p:cNvPr>
          <p:cNvSpPr>
            <a:spLocks noGrp="1"/>
          </p:cNvSpPr>
          <p:nvPr>
            <p:ph type="dt" sz="half" idx="10"/>
          </p:nvPr>
        </p:nvSpPr>
        <p:spPr/>
        <p:txBody>
          <a:bodyPr/>
          <a:lstStyle/>
          <a:p>
            <a:fld id="{C96083D4-708C-4BB5-B4FD-30CE9FA12FD5}" type="datetime1">
              <a:rPr lang="en-US" smtClean="0"/>
              <a:t>3/16/26</a:t>
            </a:fld>
            <a:endParaRPr lang="en-US" dirty="0"/>
          </a:p>
        </p:txBody>
      </p:sp>
      <p:sp>
        <p:nvSpPr>
          <p:cNvPr id="5" name="Footer Placeholder 4">
            <a:extLst>
              <a:ext uri="{FF2B5EF4-FFF2-40B4-BE49-F238E27FC236}">
                <a16:creationId xmlns:a16="http://schemas.microsoft.com/office/drawing/2014/main" id="{5AAB99C0-DC2A-4133-A10D-D43A1E05BB1A}"/>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98122EFD-A17E-47F5-8AC9-EFD6D813DBE7}"/>
              </a:ext>
            </a:extLst>
          </p:cNvPr>
          <p:cNvSpPr>
            <a:spLocks noGrp="1"/>
          </p:cNvSpPr>
          <p:nvPr>
            <p:ph type="sldNum" sz="quarter" idx="12"/>
          </p:nvPr>
        </p:nvSpPr>
        <p:spPr/>
        <p:txBody>
          <a:bodyPr/>
          <a:lstStyle/>
          <a:p>
            <a:fld id="{F8E28480-1C08-4458-AD97-0283E6FFD09D}" type="slidenum">
              <a:rPr lang="en-US" smtClean="0"/>
              <a:t>‹#›</a:t>
            </a:fld>
            <a:endParaRPr lang="en-US" dirty="0"/>
          </a:p>
        </p:txBody>
      </p:sp>
    </p:spTree>
    <p:extLst>
      <p:ext uri="{BB962C8B-B14F-4D97-AF65-F5344CB8AC3E}">
        <p14:creationId xmlns:p14="http://schemas.microsoft.com/office/powerpoint/2010/main" val="776116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C668D-BFBE-4765-A294-8303931B57C9}"/>
              </a:ext>
            </a:extLst>
          </p:cNvPr>
          <p:cNvSpPr>
            <a:spLocks noGrp="1"/>
          </p:cNvSpPr>
          <p:nvPr>
            <p:ph type="title"/>
          </p:nvPr>
        </p:nvSpPr>
        <p:spPr>
          <a:xfrm>
            <a:off x="1346071" y="566278"/>
            <a:ext cx="9512429" cy="965458"/>
          </a:xfrm>
        </p:spPr>
        <p:txBody>
          <a:bodyPr/>
          <a:lstStyle>
            <a:lvl1pPr algn="ctr">
              <a:defRPr cap="all" spc="300" baseline="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1B3C212-F55F-4D0D-BFA7-F00A33CAA196}"/>
              </a:ext>
            </a:extLst>
          </p:cNvPr>
          <p:cNvSpPr>
            <a:spLocks noGrp="1"/>
          </p:cNvSpPr>
          <p:nvPr>
            <p:ph sz="half" idx="1"/>
          </p:nvPr>
        </p:nvSpPr>
        <p:spPr>
          <a:xfrm>
            <a:off x="909758" y="2057400"/>
            <a:ext cx="5031521" cy="41195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154BDD7-2575-4E82-887D-DCAF9EB15924}"/>
              </a:ext>
            </a:extLst>
          </p:cNvPr>
          <p:cNvSpPr>
            <a:spLocks noGrp="1"/>
          </p:cNvSpPr>
          <p:nvPr>
            <p:ph sz="half" idx="2"/>
          </p:nvPr>
        </p:nvSpPr>
        <p:spPr>
          <a:xfrm>
            <a:off x="6265408" y="2057401"/>
            <a:ext cx="5016834" cy="41195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CAECC8-3C3A-4A5D-AB7A-1F99E5023D3F}"/>
              </a:ext>
            </a:extLst>
          </p:cNvPr>
          <p:cNvSpPr>
            <a:spLocks noGrp="1"/>
          </p:cNvSpPr>
          <p:nvPr>
            <p:ph type="dt" sz="half" idx="10"/>
          </p:nvPr>
        </p:nvSpPr>
        <p:spPr/>
        <p:txBody>
          <a:bodyPr/>
          <a:lstStyle/>
          <a:p>
            <a:fld id="{D0D239B2-65BC-4C2A-A62B-3EABFE9590E4}" type="datetime1">
              <a:rPr lang="en-US" smtClean="0"/>
              <a:t>3/16/26</a:t>
            </a:fld>
            <a:endParaRPr lang="en-US" dirty="0"/>
          </a:p>
        </p:txBody>
      </p:sp>
      <p:sp>
        <p:nvSpPr>
          <p:cNvPr id="6" name="Footer Placeholder 5">
            <a:extLst>
              <a:ext uri="{FF2B5EF4-FFF2-40B4-BE49-F238E27FC236}">
                <a16:creationId xmlns:a16="http://schemas.microsoft.com/office/drawing/2014/main" id="{4447609B-ACA4-4323-9340-C7DB166D7A50}"/>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77409EA3-C5C7-4AC6-956A-DB9A3B4F3142}"/>
              </a:ext>
            </a:extLst>
          </p:cNvPr>
          <p:cNvSpPr>
            <a:spLocks noGrp="1"/>
          </p:cNvSpPr>
          <p:nvPr>
            <p:ph type="sldNum" sz="quarter" idx="12"/>
          </p:nvPr>
        </p:nvSpPr>
        <p:spPr/>
        <p:txBody>
          <a:bodyPr/>
          <a:lstStyle/>
          <a:p>
            <a:fld id="{F8E28480-1C08-4458-AD97-0283E6FFD09D}" type="slidenum">
              <a:rPr lang="en-US" smtClean="0"/>
              <a:t>‹#›</a:t>
            </a:fld>
            <a:endParaRPr lang="en-US" dirty="0"/>
          </a:p>
        </p:txBody>
      </p:sp>
    </p:spTree>
    <p:extLst>
      <p:ext uri="{BB962C8B-B14F-4D97-AF65-F5344CB8AC3E}">
        <p14:creationId xmlns:p14="http://schemas.microsoft.com/office/powerpoint/2010/main" val="42473459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E0CDE0-7431-4F05-AA47-F10EB46C9608}"/>
              </a:ext>
            </a:extLst>
          </p:cNvPr>
          <p:cNvSpPr>
            <a:spLocks noGrp="1"/>
          </p:cNvSpPr>
          <p:nvPr>
            <p:ph type="title"/>
          </p:nvPr>
        </p:nvSpPr>
        <p:spPr>
          <a:xfrm>
            <a:off x="839788" y="365126"/>
            <a:ext cx="10276552" cy="1149350"/>
          </a:xfrm>
        </p:spPr>
        <p:txBody>
          <a:bodyPr>
            <a:normAutofit/>
          </a:bodyPr>
          <a:lstStyle>
            <a:lvl1pPr algn="ctr">
              <a:defRPr sz="3200" cap="all" spc="300"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6D9FFA7-D3EA-4CB8-A471-94235AD62592}"/>
              </a:ext>
            </a:extLst>
          </p:cNvPr>
          <p:cNvSpPr>
            <a:spLocks noGrp="1"/>
          </p:cNvSpPr>
          <p:nvPr>
            <p:ph type="body" idx="1"/>
          </p:nvPr>
        </p:nvSpPr>
        <p:spPr>
          <a:xfrm>
            <a:off x="839788" y="1681163"/>
            <a:ext cx="5157787" cy="823912"/>
          </a:xfrm>
        </p:spPr>
        <p:txBody>
          <a:bodyPr anchor="b"/>
          <a:lstStyle>
            <a:lvl1pPr marL="0" indent="0">
              <a:buNone/>
              <a:defRPr sz="2400" b="1" i="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05360D2-88E8-43C8-92D1-67AB23BBE26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5C768F6-20A1-47A1-90FE-903135EEFD5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D555EC1-268F-4324-A003-3608AA0D847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C55C8E4-FCB8-4E06-9C43-0ACD949A73D4}"/>
              </a:ext>
            </a:extLst>
          </p:cNvPr>
          <p:cNvSpPr>
            <a:spLocks noGrp="1"/>
          </p:cNvSpPr>
          <p:nvPr>
            <p:ph type="dt" sz="half" idx="10"/>
          </p:nvPr>
        </p:nvSpPr>
        <p:spPr/>
        <p:txBody>
          <a:bodyPr/>
          <a:lstStyle/>
          <a:p>
            <a:fld id="{85E05F5A-E4A3-476F-A89E-C2B73F2431E4}" type="datetime1">
              <a:rPr lang="en-US" smtClean="0"/>
              <a:t>3/16/26</a:t>
            </a:fld>
            <a:endParaRPr lang="en-US" dirty="0"/>
          </a:p>
        </p:txBody>
      </p:sp>
      <p:sp>
        <p:nvSpPr>
          <p:cNvPr id="8" name="Footer Placeholder 7">
            <a:extLst>
              <a:ext uri="{FF2B5EF4-FFF2-40B4-BE49-F238E27FC236}">
                <a16:creationId xmlns:a16="http://schemas.microsoft.com/office/drawing/2014/main" id="{8B01C005-C973-4D82-942A-334F1D431A04}"/>
              </a:ext>
            </a:extLst>
          </p:cNvPr>
          <p:cNvSpPr>
            <a:spLocks noGrp="1"/>
          </p:cNvSpPr>
          <p:nvPr>
            <p:ph type="ftr" sz="quarter" idx="11"/>
          </p:nvPr>
        </p:nvSpPr>
        <p:spPr/>
        <p:txBody>
          <a:bodyPr/>
          <a:lstStyle/>
          <a:p>
            <a:r>
              <a:rPr lang="en-US" dirty="0"/>
              <a:t>Sample Footer Text</a:t>
            </a:r>
          </a:p>
        </p:txBody>
      </p:sp>
      <p:sp>
        <p:nvSpPr>
          <p:cNvPr id="9" name="Slide Number Placeholder 8">
            <a:extLst>
              <a:ext uri="{FF2B5EF4-FFF2-40B4-BE49-F238E27FC236}">
                <a16:creationId xmlns:a16="http://schemas.microsoft.com/office/drawing/2014/main" id="{AAFB6186-6570-4DE8-8603-70B0A51DFE9C}"/>
              </a:ext>
            </a:extLst>
          </p:cNvPr>
          <p:cNvSpPr>
            <a:spLocks noGrp="1"/>
          </p:cNvSpPr>
          <p:nvPr>
            <p:ph type="sldNum" sz="quarter" idx="12"/>
          </p:nvPr>
        </p:nvSpPr>
        <p:spPr/>
        <p:txBody>
          <a:bodyPr/>
          <a:lstStyle/>
          <a:p>
            <a:fld id="{F8E28480-1C08-4458-AD97-0283E6FFD09D}" type="slidenum">
              <a:rPr lang="en-US" smtClean="0"/>
              <a:t>‹#›</a:t>
            </a:fld>
            <a:endParaRPr lang="en-US" dirty="0"/>
          </a:p>
        </p:txBody>
      </p:sp>
    </p:spTree>
    <p:extLst>
      <p:ext uri="{BB962C8B-B14F-4D97-AF65-F5344CB8AC3E}">
        <p14:creationId xmlns:p14="http://schemas.microsoft.com/office/powerpoint/2010/main" val="17337436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5ADD3-88C8-4B01-8CC6-808C0E416054}"/>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02634E6A-1390-4101-B78E-7592313407D7}"/>
              </a:ext>
            </a:extLst>
          </p:cNvPr>
          <p:cNvSpPr>
            <a:spLocks noGrp="1"/>
          </p:cNvSpPr>
          <p:nvPr>
            <p:ph type="dt" sz="half" idx="10"/>
          </p:nvPr>
        </p:nvSpPr>
        <p:spPr/>
        <p:txBody>
          <a:bodyPr/>
          <a:lstStyle/>
          <a:p>
            <a:fld id="{E3761515-4A26-4F31-9F61-5A10B1FABBFC}" type="datetime1">
              <a:rPr lang="en-US" smtClean="0"/>
              <a:t>3/16/26</a:t>
            </a:fld>
            <a:endParaRPr lang="en-US" dirty="0"/>
          </a:p>
        </p:txBody>
      </p:sp>
      <p:sp>
        <p:nvSpPr>
          <p:cNvPr id="4" name="Footer Placeholder 3">
            <a:extLst>
              <a:ext uri="{FF2B5EF4-FFF2-40B4-BE49-F238E27FC236}">
                <a16:creationId xmlns:a16="http://schemas.microsoft.com/office/drawing/2014/main" id="{88BC7B90-4C99-4653-872A-3572A02DAE99}"/>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13B03516-4D31-49D2-9488-33C734A7A4F6}"/>
              </a:ext>
            </a:extLst>
          </p:cNvPr>
          <p:cNvSpPr>
            <a:spLocks noGrp="1"/>
          </p:cNvSpPr>
          <p:nvPr>
            <p:ph type="sldNum" sz="quarter" idx="12"/>
          </p:nvPr>
        </p:nvSpPr>
        <p:spPr/>
        <p:txBody>
          <a:bodyPr/>
          <a:lstStyle/>
          <a:p>
            <a:fld id="{F8E28480-1C08-4458-AD97-0283E6FFD09D}" type="slidenum">
              <a:rPr lang="en-US" smtClean="0"/>
              <a:t>‹#›</a:t>
            </a:fld>
            <a:endParaRPr lang="en-US" dirty="0"/>
          </a:p>
        </p:txBody>
      </p:sp>
    </p:spTree>
    <p:extLst>
      <p:ext uri="{BB962C8B-B14F-4D97-AF65-F5344CB8AC3E}">
        <p14:creationId xmlns:p14="http://schemas.microsoft.com/office/powerpoint/2010/main" val="1418384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10D8488-CF25-431B-A87A-AAF141BD0BBB}"/>
              </a:ext>
            </a:extLst>
          </p:cNvPr>
          <p:cNvSpPr>
            <a:spLocks noGrp="1"/>
          </p:cNvSpPr>
          <p:nvPr>
            <p:ph type="dt" sz="half" idx="10"/>
          </p:nvPr>
        </p:nvSpPr>
        <p:spPr/>
        <p:txBody>
          <a:bodyPr/>
          <a:lstStyle/>
          <a:p>
            <a:fld id="{4A75DC65-7D1F-4BAB-9695-F7E734143E14}" type="datetime1">
              <a:rPr lang="en-US" smtClean="0"/>
              <a:t>3/16/26</a:t>
            </a:fld>
            <a:endParaRPr lang="en-US" dirty="0"/>
          </a:p>
        </p:txBody>
      </p:sp>
      <p:sp>
        <p:nvSpPr>
          <p:cNvPr id="3" name="Footer Placeholder 2">
            <a:extLst>
              <a:ext uri="{FF2B5EF4-FFF2-40B4-BE49-F238E27FC236}">
                <a16:creationId xmlns:a16="http://schemas.microsoft.com/office/drawing/2014/main" id="{8A2F58E5-C92D-4C64-B867-0576B1EADD06}"/>
              </a:ext>
            </a:extLst>
          </p:cNvPr>
          <p:cNvSpPr>
            <a:spLocks noGrp="1"/>
          </p:cNvSpPr>
          <p:nvPr>
            <p:ph type="ftr" sz="quarter" idx="11"/>
          </p:nvPr>
        </p:nvSpPr>
        <p:spPr/>
        <p:txBody>
          <a:bodyPr/>
          <a:lstStyle/>
          <a:p>
            <a:r>
              <a:rPr lang="en-US" dirty="0"/>
              <a:t>Sample Footer Text</a:t>
            </a:r>
          </a:p>
        </p:txBody>
      </p:sp>
      <p:sp>
        <p:nvSpPr>
          <p:cNvPr id="4" name="Slide Number Placeholder 3">
            <a:extLst>
              <a:ext uri="{FF2B5EF4-FFF2-40B4-BE49-F238E27FC236}">
                <a16:creationId xmlns:a16="http://schemas.microsoft.com/office/drawing/2014/main" id="{89216797-ABEC-4FE0-AFDE-36107B96710D}"/>
              </a:ext>
            </a:extLst>
          </p:cNvPr>
          <p:cNvSpPr>
            <a:spLocks noGrp="1"/>
          </p:cNvSpPr>
          <p:nvPr>
            <p:ph type="sldNum" sz="quarter" idx="12"/>
          </p:nvPr>
        </p:nvSpPr>
        <p:spPr/>
        <p:txBody>
          <a:bodyPr/>
          <a:lstStyle/>
          <a:p>
            <a:fld id="{F8E28480-1C08-4458-AD97-0283E6FFD09D}" type="slidenum">
              <a:rPr lang="en-US" smtClean="0"/>
              <a:t>‹#›</a:t>
            </a:fld>
            <a:endParaRPr lang="en-US" dirty="0"/>
          </a:p>
        </p:txBody>
      </p:sp>
    </p:spTree>
    <p:extLst>
      <p:ext uri="{BB962C8B-B14F-4D97-AF65-F5344CB8AC3E}">
        <p14:creationId xmlns:p14="http://schemas.microsoft.com/office/powerpoint/2010/main" val="18675998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8F2B0-990D-418E-9D10-2464E986692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6881131-AFFD-4339-9F30-D408B5105CB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A7C47F4-7968-4698-8BD3-A583099FAA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E12BC6F-3996-4B2B-B8F2-DD3A82CCF76B}"/>
              </a:ext>
            </a:extLst>
          </p:cNvPr>
          <p:cNvSpPr>
            <a:spLocks noGrp="1"/>
          </p:cNvSpPr>
          <p:nvPr>
            <p:ph type="dt" sz="half" idx="10"/>
          </p:nvPr>
        </p:nvSpPr>
        <p:spPr/>
        <p:txBody>
          <a:bodyPr/>
          <a:lstStyle/>
          <a:p>
            <a:fld id="{7E624077-BD55-4036-8E92-6558FDF3B653}" type="datetime1">
              <a:rPr lang="en-US" smtClean="0"/>
              <a:t>3/16/26</a:t>
            </a:fld>
            <a:endParaRPr lang="en-US" dirty="0"/>
          </a:p>
        </p:txBody>
      </p:sp>
      <p:sp>
        <p:nvSpPr>
          <p:cNvPr id="6" name="Footer Placeholder 5">
            <a:extLst>
              <a:ext uri="{FF2B5EF4-FFF2-40B4-BE49-F238E27FC236}">
                <a16:creationId xmlns:a16="http://schemas.microsoft.com/office/drawing/2014/main" id="{EA832E66-581A-4CF2-A40A-4E24FAAC4AE4}"/>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E83B1C89-C625-4618-81A2-FB34E4DA0712}"/>
              </a:ext>
            </a:extLst>
          </p:cNvPr>
          <p:cNvSpPr>
            <a:spLocks noGrp="1"/>
          </p:cNvSpPr>
          <p:nvPr>
            <p:ph type="sldNum" sz="quarter" idx="12"/>
          </p:nvPr>
        </p:nvSpPr>
        <p:spPr/>
        <p:txBody>
          <a:bodyPr/>
          <a:lstStyle/>
          <a:p>
            <a:fld id="{F8E28480-1C08-4458-AD97-0283E6FFD09D}" type="slidenum">
              <a:rPr lang="en-US" smtClean="0"/>
              <a:t>‹#›</a:t>
            </a:fld>
            <a:endParaRPr lang="en-US" dirty="0"/>
          </a:p>
        </p:txBody>
      </p:sp>
    </p:spTree>
    <p:extLst>
      <p:ext uri="{BB962C8B-B14F-4D97-AF65-F5344CB8AC3E}">
        <p14:creationId xmlns:p14="http://schemas.microsoft.com/office/powerpoint/2010/main" val="18518811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51486F-443A-4F2D-AB1F-8B1F4C4DE72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3A21213-E7FB-406A-B8CD-735AAC7AD0D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F4F41A03-500E-49F7-8D99-A1EAFE4D34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391523D-69E9-4EAE-A610-B3A237B75842}"/>
              </a:ext>
            </a:extLst>
          </p:cNvPr>
          <p:cNvSpPr>
            <a:spLocks noGrp="1"/>
          </p:cNvSpPr>
          <p:nvPr>
            <p:ph type="dt" sz="half" idx="10"/>
          </p:nvPr>
        </p:nvSpPr>
        <p:spPr/>
        <p:txBody>
          <a:bodyPr/>
          <a:lstStyle/>
          <a:p>
            <a:fld id="{804225F2-7107-4609-BCC2-77C63064A5E8}" type="datetime1">
              <a:rPr lang="en-US" smtClean="0"/>
              <a:t>3/16/26</a:t>
            </a:fld>
            <a:endParaRPr lang="en-US" dirty="0"/>
          </a:p>
        </p:txBody>
      </p:sp>
      <p:sp>
        <p:nvSpPr>
          <p:cNvPr id="6" name="Footer Placeholder 5">
            <a:extLst>
              <a:ext uri="{FF2B5EF4-FFF2-40B4-BE49-F238E27FC236}">
                <a16:creationId xmlns:a16="http://schemas.microsoft.com/office/drawing/2014/main" id="{4EDB852F-4134-4AB5-BA87-483B1E1ADD21}"/>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5E34C5CB-918E-4A09-8222-D36E37B63C02}"/>
              </a:ext>
            </a:extLst>
          </p:cNvPr>
          <p:cNvSpPr>
            <a:spLocks noGrp="1"/>
          </p:cNvSpPr>
          <p:nvPr>
            <p:ph type="sldNum" sz="quarter" idx="12"/>
          </p:nvPr>
        </p:nvSpPr>
        <p:spPr/>
        <p:txBody>
          <a:bodyPr/>
          <a:lstStyle/>
          <a:p>
            <a:fld id="{F8E28480-1C08-4458-AD97-0283E6FFD09D}" type="slidenum">
              <a:rPr lang="en-US" smtClean="0"/>
              <a:t>‹#›</a:t>
            </a:fld>
            <a:endParaRPr lang="en-US" dirty="0"/>
          </a:p>
        </p:txBody>
      </p:sp>
    </p:spTree>
    <p:extLst>
      <p:ext uri="{BB962C8B-B14F-4D97-AF65-F5344CB8AC3E}">
        <p14:creationId xmlns:p14="http://schemas.microsoft.com/office/powerpoint/2010/main" val="16138770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02744C-12E6-455B-B646-2EA92DE0E9A2}"/>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B7D71C4D-C062-4EEE-9A9A-31ADCC5C876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1944DC97-C26E-407A-9E29-68C52D547BDA}"/>
              </a:ext>
            </a:extLst>
          </p:cNvPr>
          <p:cNvSpPr>
            <a:spLocks noGrp="1"/>
          </p:cNvSpPr>
          <p:nvPr>
            <p:ph type="dt" sz="half" idx="10"/>
          </p:nvPr>
        </p:nvSpPr>
        <p:spPr/>
        <p:txBody>
          <a:bodyPr/>
          <a:lstStyle/>
          <a:p>
            <a:fld id="{11789749-A4CD-447F-8298-2B7988C91CEA}" type="datetime1">
              <a:rPr lang="en-US" smtClean="0"/>
              <a:t>3/16/26</a:t>
            </a:fld>
            <a:endParaRPr lang="en-US" dirty="0"/>
          </a:p>
        </p:txBody>
      </p:sp>
      <p:sp>
        <p:nvSpPr>
          <p:cNvPr id="5" name="Footer Placeholder 4">
            <a:extLst>
              <a:ext uri="{FF2B5EF4-FFF2-40B4-BE49-F238E27FC236}">
                <a16:creationId xmlns:a16="http://schemas.microsoft.com/office/drawing/2014/main" id="{E72E9353-B771-47FF-975E-72337414E0ED}"/>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1EA5A858-B8B2-4364-A7D0-B2E8FAE0ADD4}"/>
              </a:ext>
            </a:extLst>
          </p:cNvPr>
          <p:cNvSpPr>
            <a:spLocks noGrp="1"/>
          </p:cNvSpPr>
          <p:nvPr>
            <p:ph type="sldNum" sz="quarter" idx="12"/>
          </p:nvPr>
        </p:nvSpPr>
        <p:spPr/>
        <p:txBody>
          <a:bodyPr/>
          <a:lstStyle/>
          <a:p>
            <a:fld id="{F8E28480-1C08-4458-AD97-0283E6FFD09D}" type="slidenum">
              <a:rPr lang="en-US" smtClean="0"/>
              <a:t>‹#›</a:t>
            </a:fld>
            <a:endParaRPr lang="en-US" dirty="0"/>
          </a:p>
        </p:txBody>
      </p:sp>
    </p:spTree>
    <p:extLst>
      <p:ext uri="{BB962C8B-B14F-4D97-AF65-F5344CB8AC3E}">
        <p14:creationId xmlns:p14="http://schemas.microsoft.com/office/powerpoint/2010/main" val="3304235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2A6BABE-D80C-4F54-A03C-E1F9EBCA832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9285191-EF5B-48BE-AB5D-B7BA4C3D093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FA387A-1231-4FE3-8574-D4331A3432D2}"/>
              </a:ext>
            </a:extLst>
          </p:cNvPr>
          <p:cNvSpPr>
            <a:spLocks noGrp="1"/>
          </p:cNvSpPr>
          <p:nvPr>
            <p:ph type="dt" sz="half" idx="10"/>
          </p:nvPr>
        </p:nvSpPr>
        <p:spPr/>
        <p:txBody>
          <a:bodyPr/>
          <a:lstStyle/>
          <a:p>
            <a:fld id="{BA0444D3-C0BA-4587-A56C-581AB9F841BE}" type="datetime1">
              <a:rPr lang="en-US" smtClean="0"/>
              <a:t>3/16/26</a:t>
            </a:fld>
            <a:endParaRPr lang="en-US" dirty="0"/>
          </a:p>
        </p:txBody>
      </p:sp>
      <p:sp>
        <p:nvSpPr>
          <p:cNvPr id="5" name="Footer Placeholder 4">
            <a:extLst>
              <a:ext uri="{FF2B5EF4-FFF2-40B4-BE49-F238E27FC236}">
                <a16:creationId xmlns:a16="http://schemas.microsoft.com/office/drawing/2014/main" id="{02F21559-4901-4AD3-ABE7-DF0235457312}"/>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D8F6C18E-B751-4E7B-9CD8-1BF44DAB80F4}"/>
              </a:ext>
            </a:extLst>
          </p:cNvPr>
          <p:cNvSpPr>
            <a:spLocks noGrp="1"/>
          </p:cNvSpPr>
          <p:nvPr>
            <p:ph type="sldNum" sz="quarter" idx="12"/>
          </p:nvPr>
        </p:nvSpPr>
        <p:spPr/>
        <p:txBody>
          <a:bodyPr/>
          <a:lstStyle/>
          <a:p>
            <a:fld id="{F8E28480-1C08-4458-AD97-0283E6FFD09D}" type="slidenum">
              <a:rPr lang="en-US" smtClean="0"/>
              <a:t>‹#›</a:t>
            </a:fld>
            <a:endParaRPr lang="en-US" dirty="0"/>
          </a:p>
        </p:txBody>
      </p:sp>
    </p:spTree>
    <p:extLst>
      <p:ext uri="{BB962C8B-B14F-4D97-AF65-F5344CB8AC3E}">
        <p14:creationId xmlns:p14="http://schemas.microsoft.com/office/powerpoint/2010/main" val="36473409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3AA0686-7BAC-45C0-BA30-0D0CBCE5CE63}"/>
              </a:ext>
            </a:extLst>
          </p:cNvPr>
          <p:cNvSpPr>
            <a:spLocks noGrp="1"/>
          </p:cNvSpPr>
          <p:nvPr>
            <p:ph type="title"/>
          </p:nvPr>
        </p:nvSpPr>
        <p:spPr>
          <a:xfrm>
            <a:off x="1371600" y="685800"/>
            <a:ext cx="9486900" cy="1371600"/>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34202DE-82CD-407D-8C68-174B0CBB57F7}"/>
              </a:ext>
            </a:extLst>
          </p:cNvPr>
          <p:cNvSpPr>
            <a:spLocks noGrp="1"/>
          </p:cNvSpPr>
          <p:nvPr>
            <p:ph type="body" idx="1"/>
          </p:nvPr>
        </p:nvSpPr>
        <p:spPr>
          <a:xfrm>
            <a:off x="1371599" y="2254103"/>
            <a:ext cx="9486901" cy="391809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554AC9D-6E1B-46D3-959F-A068A1EDBDBA}"/>
              </a:ext>
            </a:extLst>
          </p:cNvPr>
          <p:cNvSpPr>
            <a:spLocks noGrp="1"/>
          </p:cNvSpPr>
          <p:nvPr>
            <p:ph type="dt" sz="half" idx="2"/>
          </p:nvPr>
        </p:nvSpPr>
        <p:spPr>
          <a:xfrm rot="5400000">
            <a:off x="9800022" y="3223751"/>
            <a:ext cx="4114801" cy="410501"/>
          </a:xfrm>
          <a:prstGeom prst="rect">
            <a:avLst/>
          </a:prstGeom>
        </p:spPr>
        <p:txBody>
          <a:bodyPr vert="horz" lIns="91440" tIns="45720" rIns="91440" bIns="45720" rtlCol="0" anchor="ctr"/>
          <a:lstStyle>
            <a:lvl1pPr algn="ctr">
              <a:defRPr sz="900" cap="all" spc="300" baseline="0">
                <a:solidFill>
                  <a:schemeClr val="tx2">
                    <a:lumMod val="75000"/>
                    <a:lumOff val="25000"/>
                  </a:schemeClr>
                </a:solidFill>
                <a:latin typeface="+mn-lt"/>
              </a:defRPr>
            </a:lvl1pPr>
          </a:lstStyle>
          <a:p>
            <a:fld id="{D3FE42E8-8B57-452D-A122-4DCE9AC771EF}" type="datetime1">
              <a:rPr lang="en-US" smtClean="0"/>
              <a:t>3/16/26</a:t>
            </a:fld>
            <a:endParaRPr lang="en-US" dirty="0"/>
          </a:p>
        </p:txBody>
      </p:sp>
      <p:sp>
        <p:nvSpPr>
          <p:cNvPr id="5" name="Footer Placeholder 4">
            <a:extLst>
              <a:ext uri="{FF2B5EF4-FFF2-40B4-BE49-F238E27FC236}">
                <a16:creationId xmlns:a16="http://schemas.microsoft.com/office/drawing/2014/main" id="{A5FC0015-9EFB-40F8-BC00-AC2483D60905}"/>
              </a:ext>
            </a:extLst>
          </p:cNvPr>
          <p:cNvSpPr>
            <a:spLocks noGrp="1"/>
          </p:cNvSpPr>
          <p:nvPr>
            <p:ph type="ftr" sz="quarter" idx="3"/>
          </p:nvPr>
        </p:nvSpPr>
        <p:spPr>
          <a:xfrm rot="5400000">
            <a:off x="-1708136" y="3223750"/>
            <a:ext cx="4114800" cy="410501"/>
          </a:xfrm>
          <a:prstGeom prst="rect">
            <a:avLst/>
          </a:prstGeom>
        </p:spPr>
        <p:txBody>
          <a:bodyPr vert="horz" lIns="91440" tIns="45720" rIns="91440" bIns="45720" rtlCol="0" anchor="ctr"/>
          <a:lstStyle>
            <a:lvl1pPr algn="ctr">
              <a:defRPr sz="900" cap="all" spc="300" baseline="0">
                <a:solidFill>
                  <a:schemeClr val="tx2">
                    <a:lumMod val="75000"/>
                    <a:lumOff val="25000"/>
                  </a:schemeClr>
                </a:solidFill>
                <a:latin typeface="+mn-lt"/>
              </a:defRPr>
            </a:lvl1pPr>
          </a:lstStyle>
          <a:p>
            <a:r>
              <a:rPr lang="en-US" dirty="0"/>
              <a:t>Sample Footer Text</a:t>
            </a:r>
          </a:p>
        </p:txBody>
      </p:sp>
      <p:sp>
        <p:nvSpPr>
          <p:cNvPr id="6" name="Slide Number Placeholder 5">
            <a:extLst>
              <a:ext uri="{FF2B5EF4-FFF2-40B4-BE49-F238E27FC236}">
                <a16:creationId xmlns:a16="http://schemas.microsoft.com/office/drawing/2014/main" id="{E572C732-0E3E-49E0-A72E-D4C08CB4455A}"/>
              </a:ext>
            </a:extLst>
          </p:cNvPr>
          <p:cNvSpPr>
            <a:spLocks noGrp="1"/>
          </p:cNvSpPr>
          <p:nvPr>
            <p:ph type="sldNum" sz="quarter" idx="4"/>
          </p:nvPr>
        </p:nvSpPr>
        <p:spPr>
          <a:xfrm>
            <a:off x="11116340" y="6356350"/>
            <a:ext cx="871868" cy="365125"/>
          </a:xfrm>
          <a:prstGeom prst="rect">
            <a:avLst/>
          </a:prstGeom>
        </p:spPr>
        <p:txBody>
          <a:bodyPr vert="horz" lIns="91440" tIns="45720" rIns="91440" bIns="45720" rtlCol="0" anchor="ctr"/>
          <a:lstStyle>
            <a:lvl1pPr algn="r">
              <a:defRPr sz="900" spc="300">
                <a:solidFill>
                  <a:schemeClr val="tx2">
                    <a:lumMod val="75000"/>
                    <a:lumOff val="25000"/>
                  </a:schemeClr>
                </a:solidFill>
                <a:latin typeface="+mn-lt"/>
              </a:defRPr>
            </a:lvl1pPr>
          </a:lstStyle>
          <a:p>
            <a:fld id="{F8E28480-1C08-4458-AD97-0283E6FFD09D}" type="slidenum">
              <a:rPr lang="en-US" smtClean="0"/>
              <a:pPr/>
              <a:t>‹#›</a:t>
            </a:fld>
            <a:endParaRPr lang="en-US" dirty="0"/>
          </a:p>
        </p:txBody>
      </p:sp>
    </p:spTree>
    <p:extLst>
      <p:ext uri="{BB962C8B-B14F-4D97-AF65-F5344CB8AC3E}">
        <p14:creationId xmlns:p14="http://schemas.microsoft.com/office/powerpoint/2010/main" val="2438625305"/>
      </p:ext>
    </p:extLst>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02" r:id="rId6"/>
    <p:sldLayoutId id="2147483698" r:id="rId7"/>
    <p:sldLayoutId id="2147483699" r:id="rId8"/>
    <p:sldLayoutId id="2147483700" r:id="rId9"/>
    <p:sldLayoutId id="2147483701" r:id="rId10"/>
    <p:sldLayoutId id="2147483703" r:id="rId11"/>
  </p:sldLayoutIdLst>
  <p:hf sldNum="0" hdr="0" ftr="0" dt="0"/>
  <p:txStyles>
    <p:titleStyle>
      <a:lvl1pPr algn="l" defTabSz="914400" rtl="0" eaLnBrk="1" latinLnBrk="0" hangingPunct="1">
        <a:lnSpc>
          <a:spcPct val="90000"/>
        </a:lnSpc>
        <a:spcBef>
          <a:spcPct val="0"/>
        </a:spcBef>
        <a:buNone/>
        <a:defRPr sz="3600" kern="1200">
          <a:solidFill>
            <a:schemeClr val="tx2"/>
          </a:solidFill>
          <a:latin typeface="+mj-lt"/>
          <a:ea typeface="+mj-ea"/>
          <a:cs typeface="+mj-cs"/>
        </a:defRPr>
      </a:lvl1pPr>
    </p:titleStyle>
    <p:bodyStyle>
      <a:lvl1pPr marL="228600" indent="-228600" algn="l" defTabSz="914400" rtl="0" eaLnBrk="1" latinLnBrk="0" hangingPunct="1">
        <a:lnSpc>
          <a:spcPct val="100000"/>
        </a:lnSpc>
        <a:spcBef>
          <a:spcPts val="1000"/>
        </a:spcBef>
        <a:buSzPct val="70000"/>
        <a:buFont typeface="Arial" panose="020B0604020202020204" pitchFamily="34" charset="0"/>
        <a:buChar char="•"/>
        <a:defRPr sz="2400" kern="1200">
          <a:solidFill>
            <a:schemeClr val="tx2"/>
          </a:solidFill>
          <a:latin typeface="+mj-lt"/>
          <a:ea typeface="+mn-ea"/>
          <a:cs typeface="+mn-cs"/>
        </a:defRPr>
      </a:lvl1pPr>
      <a:lvl2pPr marL="685800" indent="-228600" algn="l" defTabSz="914400" rtl="0" eaLnBrk="1" latinLnBrk="0" hangingPunct="1">
        <a:lnSpc>
          <a:spcPct val="100000"/>
        </a:lnSpc>
        <a:spcBef>
          <a:spcPts val="500"/>
        </a:spcBef>
        <a:buSzPct val="70000"/>
        <a:buFont typeface="Arial" panose="020B0604020202020204" pitchFamily="34" charset="0"/>
        <a:buChar char="•"/>
        <a:defRPr sz="2000" kern="1200">
          <a:solidFill>
            <a:schemeClr val="tx2"/>
          </a:solidFill>
          <a:latin typeface="+mj-lt"/>
          <a:ea typeface="+mn-ea"/>
          <a:cs typeface="+mn-cs"/>
        </a:defRPr>
      </a:lvl2pPr>
      <a:lvl3pPr marL="1143000" indent="-228600" algn="l" defTabSz="914400" rtl="0" eaLnBrk="1" latinLnBrk="0" hangingPunct="1">
        <a:lnSpc>
          <a:spcPct val="100000"/>
        </a:lnSpc>
        <a:spcBef>
          <a:spcPts val="500"/>
        </a:spcBef>
        <a:buSzPct val="70000"/>
        <a:buFont typeface="Arial" panose="020B0604020202020204" pitchFamily="34" charset="0"/>
        <a:buChar char="•"/>
        <a:defRPr sz="1800" kern="1200">
          <a:solidFill>
            <a:schemeClr val="tx2"/>
          </a:solidFill>
          <a:latin typeface="+mj-lt"/>
          <a:ea typeface="+mn-ea"/>
          <a:cs typeface="+mn-cs"/>
        </a:defRPr>
      </a:lvl3pPr>
      <a:lvl4pPr marL="1600200" indent="-228600" algn="l" defTabSz="914400" rtl="0" eaLnBrk="1" latinLnBrk="0" hangingPunct="1">
        <a:lnSpc>
          <a:spcPct val="100000"/>
        </a:lnSpc>
        <a:spcBef>
          <a:spcPts val="500"/>
        </a:spcBef>
        <a:buSzPct val="70000"/>
        <a:buFont typeface="Arial" panose="020B0604020202020204" pitchFamily="34" charset="0"/>
        <a:buChar char="•"/>
        <a:defRPr sz="1600" kern="1200">
          <a:solidFill>
            <a:schemeClr val="tx2"/>
          </a:solidFill>
          <a:latin typeface="+mj-lt"/>
          <a:ea typeface="+mn-ea"/>
          <a:cs typeface="+mn-cs"/>
        </a:defRPr>
      </a:lvl4pPr>
      <a:lvl5pPr marL="2057400" indent="-228600" algn="l" defTabSz="914400" rtl="0" eaLnBrk="1" latinLnBrk="0" hangingPunct="1">
        <a:lnSpc>
          <a:spcPct val="100000"/>
        </a:lnSpc>
        <a:spcBef>
          <a:spcPts val="500"/>
        </a:spcBef>
        <a:buSzPct val="70000"/>
        <a:buFont typeface="Arial" panose="020B0604020202020204" pitchFamily="34" charset="0"/>
        <a:buChar char="•"/>
        <a:defRPr sz="1600" kern="1200">
          <a:solidFill>
            <a:schemeClr val="tx2"/>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9E433CB3-EAB2-4842-A1DD-7BC051B556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3" descr="Triangular abstract background">
            <a:extLst>
              <a:ext uri="{FF2B5EF4-FFF2-40B4-BE49-F238E27FC236}">
                <a16:creationId xmlns:a16="http://schemas.microsoft.com/office/drawing/2014/main" id="{0937B7CA-F4D2-FA4A-E4ED-EF7DDF652840}"/>
              </a:ext>
            </a:extLst>
          </p:cNvPr>
          <p:cNvPicPr>
            <a:picLocks noChangeAspect="1"/>
          </p:cNvPicPr>
          <p:nvPr/>
        </p:nvPicPr>
        <p:blipFill rotWithShape="1">
          <a:blip r:embed="rId2"/>
          <a:srcRect t="15730"/>
          <a:stretch>
            <a:fillRect/>
          </a:stretch>
        </p:blipFill>
        <p:spPr>
          <a:xfrm>
            <a:off x="1" y="10"/>
            <a:ext cx="12192000" cy="6857990"/>
          </a:xfrm>
          <a:prstGeom prst="rect">
            <a:avLst/>
          </a:prstGeom>
        </p:spPr>
      </p:pic>
      <p:sp>
        <p:nvSpPr>
          <p:cNvPr id="33" name="Rectangle 32">
            <a:extLst>
              <a:ext uri="{FF2B5EF4-FFF2-40B4-BE49-F238E27FC236}">
                <a16:creationId xmlns:a16="http://schemas.microsoft.com/office/drawing/2014/main" id="{ADB75148-2791-4D20-8938-D7554D86B9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920343"/>
            <a:ext cx="12192000" cy="1937657"/>
          </a:xfrm>
          <a:prstGeom prst="rect">
            <a:avLst/>
          </a:prstGeom>
          <a:gradFill>
            <a:gsLst>
              <a:gs pos="47000">
                <a:srgbClr val="000000">
                  <a:alpha val="18000"/>
                </a:srgbClr>
              </a:gs>
              <a:gs pos="0">
                <a:schemeClr val="tx1">
                  <a:alpha val="0"/>
                </a:schemeClr>
              </a:gs>
              <a:gs pos="100000">
                <a:srgbClr val="000000">
                  <a:alpha val="33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3218918-D16B-45C6-B433-E693BD530D0A}"/>
              </a:ext>
            </a:extLst>
          </p:cNvPr>
          <p:cNvSpPr>
            <a:spLocks noGrp="1"/>
          </p:cNvSpPr>
          <p:nvPr>
            <p:ph type="ctrTitle"/>
          </p:nvPr>
        </p:nvSpPr>
        <p:spPr>
          <a:xfrm>
            <a:off x="613611" y="2138364"/>
            <a:ext cx="9767989" cy="1873029"/>
          </a:xfrm>
          <a:solidFill>
            <a:srgbClr val="7F7F7F">
              <a:alpha val="29804"/>
            </a:srgbClr>
          </a:solidFill>
        </p:spPr>
        <p:txBody>
          <a:bodyPr anchor="ctr">
            <a:noAutofit/>
          </a:bodyPr>
          <a:lstStyle/>
          <a:p>
            <a:pPr algn="l"/>
            <a:r>
              <a:rPr lang="en-SG" sz="7200" cap="none" dirty="0">
                <a:solidFill>
                  <a:srgbClr val="FFFFFF"/>
                </a:solidFill>
                <a:latin typeface="Times-Roman"/>
                <a:ea typeface="DengXian" panose="02010600030101010101" pitchFamily="2" charset="-122"/>
                <a:cs typeface="Times New Roman" panose="02020603050405020304" pitchFamily="18" charset="0"/>
              </a:rPr>
              <a:t>CAUSAL MEDIATION ANALYSIS</a:t>
            </a:r>
            <a:endParaRPr lang="en-SG" sz="7200" cap="none" dirty="0">
              <a:solidFill>
                <a:srgbClr val="FFFFFF"/>
              </a:solidFill>
              <a:latin typeface="Times-Roman"/>
            </a:endParaRPr>
          </a:p>
        </p:txBody>
      </p:sp>
      <p:sp>
        <p:nvSpPr>
          <p:cNvPr id="3" name="Subtitle 2">
            <a:extLst>
              <a:ext uri="{FF2B5EF4-FFF2-40B4-BE49-F238E27FC236}">
                <a16:creationId xmlns:a16="http://schemas.microsoft.com/office/drawing/2014/main" id="{FC95986C-7C89-4EF8-9D06-E1B80FB30BC4}"/>
              </a:ext>
            </a:extLst>
          </p:cNvPr>
          <p:cNvSpPr>
            <a:spLocks noGrp="1"/>
          </p:cNvSpPr>
          <p:nvPr>
            <p:ph type="subTitle" idx="1"/>
          </p:nvPr>
        </p:nvSpPr>
        <p:spPr>
          <a:xfrm>
            <a:off x="613611" y="4276717"/>
            <a:ext cx="10964778" cy="1873030"/>
          </a:xfrm>
          <a:solidFill>
            <a:srgbClr val="7F7F7F">
              <a:alpha val="20000"/>
            </a:srgbClr>
          </a:solidFill>
        </p:spPr>
        <p:txBody>
          <a:bodyPr anchor="ctr">
            <a:noAutofit/>
          </a:bodyPr>
          <a:lstStyle/>
          <a:p>
            <a:pPr algn="l">
              <a:lnSpc>
                <a:spcPct val="90000"/>
              </a:lnSpc>
              <a:spcBef>
                <a:spcPts val="1200"/>
              </a:spcBef>
              <a:spcAft>
                <a:spcPts val="800"/>
              </a:spcAft>
            </a:pPr>
            <a:r>
              <a:rPr lang="es-ES_tradnl" sz="2800" b="1" i="0" dirty="0">
                <a:solidFill>
                  <a:srgbClr val="FFFFFF"/>
                </a:solidFill>
                <a:effectLst/>
                <a:latin typeface="Times-Roman"/>
                <a:ea typeface="DengXian" panose="02010600030101010101" pitchFamily="2" charset="-122"/>
                <a:cs typeface="Calibri" panose="020F0502020204030204" pitchFamily="34" charset="0"/>
              </a:rPr>
              <a:t>Sharon Tan (</a:t>
            </a:r>
            <a:r>
              <a:rPr lang="es-ES_tradnl" sz="2800" b="1" i="0" dirty="0" err="1">
                <a:solidFill>
                  <a:srgbClr val="FFFFFF"/>
                </a:solidFill>
                <a:effectLst/>
                <a:latin typeface="Times-Roman"/>
                <a:ea typeface="DengXian" panose="02010600030101010101" pitchFamily="2" charset="-122"/>
                <a:cs typeface="Calibri" panose="020F0502020204030204" pitchFamily="34" charset="0"/>
              </a:rPr>
              <a:t>Dr</a:t>
            </a:r>
            <a:r>
              <a:rPr lang="es-ES_tradnl" sz="2800" b="1" i="0" dirty="0">
                <a:solidFill>
                  <a:srgbClr val="FFFFFF"/>
                </a:solidFill>
                <a:effectLst/>
                <a:latin typeface="Times-Roman"/>
                <a:ea typeface="DengXian" panose="02010600030101010101" pitchFamily="2" charset="-122"/>
                <a:cs typeface="Calibri" panose="020F0502020204030204" pitchFamily="34" charset="0"/>
              </a:rPr>
              <a:t>)</a:t>
            </a:r>
            <a:endParaRPr lang="en-SG" sz="2800" b="1" i="0" dirty="0">
              <a:solidFill>
                <a:srgbClr val="FFFFFF"/>
              </a:solidFill>
              <a:latin typeface="Times-Roman"/>
              <a:ea typeface="DengXian" panose="02010600030101010101" pitchFamily="2" charset="-122"/>
              <a:cs typeface="Times New Roman" panose="02020603050405020304" pitchFamily="18" charset="0"/>
            </a:endParaRPr>
          </a:p>
          <a:p>
            <a:pPr algn="l">
              <a:lnSpc>
                <a:spcPct val="90000"/>
              </a:lnSpc>
              <a:spcBef>
                <a:spcPts val="1200"/>
              </a:spcBef>
              <a:spcAft>
                <a:spcPts val="800"/>
              </a:spcAft>
            </a:pPr>
            <a:r>
              <a:rPr lang="es-ES_tradnl" sz="2200" i="0" dirty="0" err="1">
                <a:solidFill>
                  <a:srgbClr val="FFFFFF"/>
                </a:solidFill>
                <a:effectLst/>
                <a:latin typeface="Times-Roman"/>
                <a:ea typeface="Arial" panose="020B0604020202020204" pitchFamily="34" charset="0"/>
                <a:cs typeface="Calibri" panose="020F0502020204030204" pitchFamily="34" charset="0"/>
              </a:rPr>
              <a:t>Faculty</a:t>
            </a:r>
            <a:r>
              <a:rPr lang="es-ES_tradnl" sz="2200" i="0" dirty="0">
                <a:solidFill>
                  <a:srgbClr val="FFFFFF"/>
                </a:solidFill>
                <a:effectLst/>
                <a:latin typeface="Times-Roman"/>
                <a:ea typeface="Arial" panose="020B0604020202020204" pitchFamily="34" charset="0"/>
                <a:cs typeface="Calibri" panose="020F0502020204030204" pitchFamily="34" charset="0"/>
              </a:rPr>
              <a:t> </a:t>
            </a:r>
            <a:r>
              <a:rPr lang="es-ES_tradnl" sz="2200" i="0" dirty="0" err="1">
                <a:solidFill>
                  <a:srgbClr val="FFFFFF"/>
                </a:solidFill>
                <a:effectLst/>
                <a:latin typeface="Times-Roman"/>
                <a:ea typeface="Arial" panose="020B0604020202020204" pitchFamily="34" charset="0"/>
                <a:cs typeface="Calibri" panose="020F0502020204030204" pitchFamily="34" charset="0"/>
              </a:rPr>
              <a:t>of</a:t>
            </a:r>
            <a:r>
              <a:rPr lang="es-ES_tradnl" sz="2200" i="0" dirty="0">
                <a:solidFill>
                  <a:srgbClr val="FFFFFF"/>
                </a:solidFill>
                <a:effectLst/>
                <a:latin typeface="Times-Roman"/>
                <a:ea typeface="Arial" panose="020B0604020202020204" pitchFamily="34" charset="0"/>
                <a:cs typeface="Calibri" panose="020F0502020204030204" pitchFamily="34" charset="0"/>
              </a:rPr>
              <a:t> </a:t>
            </a:r>
            <a:r>
              <a:rPr lang="es-ES_tradnl" sz="2200" i="0" dirty="0" err="1">
                <a:solidFill>
                  <a:srgbClr val="FFFFFF"/>
                </a:solidFill>
                <a:effectLst/>
                <a:latin typeface="Times-Roman"/>
                <a:ea typeface="Arial" panose="020B0604020202020204" pitchFamily="34" charset="0"/>
                <a:cs typeface="Calibri" panose="020F0502020204030204" pitchFamily="34" charset="0"/>
              </a:rPr>
              <a:t>Dentistry</a:t>
            </a:r>
            <a:r>
              <a:rPr lang="es-ES_tradnl" sz="2200" i="0" dirty="0">
                <a:solidFill>
                  <a:srgbClr val="FFFFFF"/>
                </a:solidFill>
                <a:latin typeface="Times-Roman"/>
                <a:ea typeface="Arial" panose="020B0604020202020204" pitchFamily="34" charset="0"/>
                <a:cs typeface="Calibri" panose="020F0502020204030204" pitchFamily="34" charset="0"/>
              </a:rPr>
              <a:t>, Oral &amp; </a:t>
            </a:r>
            <a:r>
              <a:rPr lang="es-ES_tradnl" sz="2200" i="0" dirty="0" err="1">
                <a:solidFill>
                  <a:srgbClr val="FFFFFF"/>
                </a:solidFill>
                <a:latin typeface="Times-Roman"/>
                <a:ea typeface="Arial" panose="020B0604020202020204" pitchFamily="34" charset="0"/>
                <a:cs typeface="Calibri" panose="020F0502020204030204" pitchFamily="34" charset="0"/>
              </a:rPr>
              <a:t>Craniofacial</a:t>
            </a:r>
            <a:r>
              <a:rPr lang="es-ES_tradnl" sz="2200" i="0" dirty="0">
                <a:solidFill>
                  <a:srgbClr val="FFFFFF"/>
                </a:solidFill>
                <a:latin typeface="Times-Roman"/>
                <a:ea typeface="Arial" panose="020B0604020202020204" pitchFamily="34" charset="0"/>
                <a:cs typeface="Calibri" panose="020F0502020204030204" pitchFamily="34" charset="0"/>
              </a:rPr>
              <a:t> </a:t>
            </a:r>
            <a:r>
              <a:rPr lang="es-ES_tradnl" sz="2200" i="0" dirty="0" err="1">
                <a:solidFill>
                  <a:srgbClr val="FFFFFF"/>
                </a:solidFill>
                <a:latin typeface="Times-Roman"/>
                <a:ea typeface="Arial" panose="020B0604020202020204" pitchFamily="34" charset="0"/>
                <a:cs typeface="Calibri" panose="020F0502020204030204" pitchFamily="34" charset="0"/>
              </a:rPr>
              <a:t>Sciences</a:t>
            </a:r>
            <a:r>
              <a:rPr lang="es-ES_tradnl" sz="2200" i="0" dirty="0">
                <a:solidFill>
                  <a:srgbClr val="FFFFFF"/>
                </a:solidFill>
                <a:latin typeface="Times-Roman"/>
                <a:ea typeface="Arial" panose="020B0604020202020204" pitchFamily="34" charset="0"/>
                <a:cs typeface="Calibri" panose="020F0502020204030204" pitchFamily="34" charset="0"/>
              </a:rPr>
              <a:t>, </a:t>
            </a:r>
            <a:r>
              <a:rPr lang="es-ES_tradnl" sz="2200" i="0" dirty="0" err="1">
                <a:solidFill>
                  <a:srgbClr val="FFFFFF"/>
                </a:solidFill>
                <a:effectLst/>
                <a:latin typeface="Times-Roman"/>
                <a:ea typeface="Arial" panose="020B0604020202020204" pitchFamily="34" charset="0"/>
                <a:cs typeface="Calibri" panose="020F0502020204030204" pitchFamily="34" charset="0"/>
              </a:rPr>
              <a:t>King’s</a:t>
            </a:r>
            <a:r>
              <a:rPr lang="es-ES_tradnl" sz="2200" i="0" dirty="0">
                <a:solidFill>
                  <a:srgbClr val="FFFFFF"/>
                </a:solidFill>
                <a:effectLst/>
                <a:latin typeface="Times-Roman"/>
                <a:ea typeface="Arial" panose="020B0604020202020204" pitchFamily="34" charset="0"/>
                <a:cs typeface="Calibri" panose="020F0502020204030204" pitchFamily="34" charset="0"/>
              </a:rPr>
              <a:t> </a:t>
            </a:r>
            <a:r>
              <a:rPr lang="es-ES_tradnl" sz="2200" i="0" dirty="0" err="1">
                <a:solidFill>
                  <a:srgbClr val="FFFFFF"/>
                </a:solidFill>
                <a:latin typeface="Times-Roman"/>
                <a:ea typeface="Arial" panose="020B0604020202020204" pitchFamily="34" charset="0"/>
                <a:cs typeface="Calibri" panose="020F0502020204030204" pitchFamily="34" charset="0"/>
              </a:rPr>
              <a:t>College</a:t>
            </a:r>
            <a:r>
              <a:rPr lang="es-ES_tradnl" sz="2200" i="0" dirty="0">
                <a:solidFill>
                  <a:srgbClr val="FFFFFF"/>
                </a:solidFill>
                <a:latin typeface="Times-Roman"/>
                <a:ea typeface="Arial" panose="020B0604020202020204" pitchFamily="34" charset="0"/>
                <a:cs typeface="Calibri" panose="020F0502020204030204" pitchFamily="34" charset="0"/>
              </a:rPr>
              <a:t> London, </a:t>
            </a:r>
            <a:r>
              <a:rPr lang="es-ES_tradnl" sz="2200" i="0" dirty="0" err="1">
                <a:solidFill>
                  <a:srgbClr val="FFFFFF"/>
                </a:solidFill>
                <a:latin typeface="Times-Roman"/>
                <a:ea typeface="Arial" panose="020B0604020202020204" pitchFamily="34" charset="0"/>
                <a:cs typeface="Calibri" panose="020F0502020204030204" pitchFamily="34" charset="0"/>
              </a:rPr>
              <a:t>United</a:t>
            </a:r>
            <a:r>
              <a:rPr lang="es-ES_tradnl" sz="2200" i="0" dirty="0">
                <a:solidFill>
                  <a:srgbClr val="FFFFFF"/>
                </a:solidFill>
                <a:latin typeface="Times-Roman"/>
                <a:ea typeface="Arial" panose="020B0604020202020204" pitchFamily="34" charset="0"/>
                <a:cs typeface="Calibri" panose="020F0502020204030204" pitchFamily="34" charset="0"/>
              </a:rPr>
              <a:t> </a:t>
            </a:r>
            <a:r>
              <a:rPr lang="es-ES_tradnl" sz="2200" i="0" dirty="0" err="1">
                <a:solidFill>
                  <a:srgbClr val="FFFFFF"/>
                </a:solidFill>
                <a:latin typeface="Times-Roman"/>
                <a:ea typeface="Arial" panose="020B0604020202020204" pitchFamily="34" charset="0"/>
                <a:cs typeface="Calibri" panose="020F0502020204030204" pitchFamily="34" charset="0"/>
              </a:rPr>
              <a:t>Kingdom</a:t>
            </a:r>
            <a:br>
              <a:rPr lang="es-ES_tradnl" sz="2200" i="0" dirty="0">
                <a:solidFill>
                  <a:srgbClr val="FFFFFF"/>
                </a:solidFill>
                <a:latin typeface="Times-Roman"/>
                <a:ea typeface="Arial" panose="020B0604020202020204" pitchFamily="34" charset="0"/>
                <a:cs typeface="Calibri" panose="020F0502020204030204" pitchFamily="34" charset="0"/>
              </a:rPr>
            </a:br>
            <a:r>
              <a:rPr lang="es-ES_tradnl" sz="2200" i="0" dirty="0" err="1">
                <a:solidFill>
                  <a:srgbClr val="FFFFFF"/>
                </a:solidFill>
                <a:effectLst/>
                <a:latin typeface="Times-Roman"/>
                <a:ea typeface="DengXian" panose="02010600030101010101" pitchFamily="2" charset="-122"/>
                <a:cs typeface="Calibri" panose="020F0502020204030204" pitchFamily="34" charset="0"/>
              </a:rPr>
              <a:t>Saw</a:t>
            </a:r>
            <a:r>
              <a:rPr lang="es-ES_tradnl" sz="2200" i="0" dirty="0">
                <a:solidFill>
                  <a:srgbClr val="FFFFFF"/>
                </a:solidFill>
                <a:effectLst/>
                <a:latin typeface="Times-Roman"/>
                <a:ea typeface="DengXian" panose="02010600030101010101" pitchFamily="2" charset="-122"/>
                <a:cs typeface="Calibri" panose="020F0502020204030204" pitchFamily="34" charset="0"/>
              </a:rPr>
              <a:t> </a:t>
            </a:r>
            <a:r>
              <a:rPr lang="es-ES_tradnl" sz="2200" i="0" dirty="0" err="1">
                <a:solidFill>
                  <a:srgbClr val="FFFFFF"/>
                </a:solidFill>
                <a:effectLst/>
                <a:latin typeface="Times-Roman"/>
                <a:ea typeface="DengXian" panose="02010600030101010101" pitchFamily="2" charset="-122"/>
                <a:cs typeface="Calibri" panose="020F0502020204030204" pitchFamily="34" charset="0"/>
              </a:rPr>
              <a:t>Swee</a:t>
            </a:r>
            <a:r>
              <a:rPr lang="es-ES_tradnl" sz="2200" i="0" dirty="0">
                <a:solidFill>
                  <a:srgbClr val="FFFFFF"/>
                </a:solidFill>
                <a:effectLst/>
                <a:latin typeface="Times-Roman"/>
                <a:ea typeface="DengXian" panose="02010600030101010101" pitchFamily="2" charset="-122"/>
                <a:cs typeface="Calibri" panose="020F0502020204030204" pitchFamily="34" charset="0"/>
              </a:rPr>
              <a:t> </a:t>
            </a:r>
            <a:r>
              <a:rPr lang="es-ES_tradnl" sz="2200" i="0" dirty="0" err="1">
                <a:solidFill>
                  <a:srgbClr val="FFFFFF"/>
                </a:solidFill>
                <a:effectLst/>
                <a:latin typeface="Times-Roman"/>
                <a:ea typeface="DengXian" panose="02010600030101010101" pitchFamily="2" charset="-122"/>
                <a:cs typeface="Calibri" panose="020F0502020204030204" pitchFamily="34" charset="0"/>
              </a:rPr>
              <a:t>Hock</a:t>
            </a:r>
            <a:r>
              <a:rPr lang="es-ES_tradnl" sz="2200" i="0" dirty="0">
                <a:solidFill>
                  <a:srgbClr val="FFFFFF"/>
                </a:solidFill>
                <a:effectLst/>
                <a:latin typeface="Times-Roman"/>
                <a:ea typeface="DengXian" panose="02010600030101010101" pitchFamily="2" charset="-122"/>
                <a:cs typeface="Calibri" panose="020F0502020204030204" pitchFamily="34" charset="0"/>
              </a:rPr>
              <a:t> </a:t>
            </a:r>
            <a:r>
              <a:rPr lang="es-ES_tradnl" sz="2200" i="0" dirty="0" err="1">
                <a:solidFill>
                  <a:srgbClr val="FFFFFF"/>
                </a:solidFill>
                <a:effectLst/>
                <a:latin typeface="Times-Roman"/>
                <a:ea typeface="DengXian" panose="02010600030101010101" pitchFamily="2" charset="-122"/>
                <a:cs typeface="Calibri" panose="020F0502020204030204" pitchFamily="34" charset="0"/>
              </a:rPr>
              <a:t>School</a:t>
            </a:r>
            <a:r>
              <a:rPr lang="es-ES_tradnl" sz="2200" i="0" dirty="0">
                <a:solidFill>
                  <a:srgbClr val="FFFFFF"/>
                </a:solidFill>
                <a:effectLst/>
                <a:latin typeface="Times-Roman"/>
                <a:ea typeface="DengXian" panose="02010600030101010101" pitchFamily="2" charset="-122"/>
                <a:cs typeface="Calibri" panose="020F0502020204030204" pitchFamily="34" charset="0"/>
              </a:rPr>
              <a:t> </a:t>
            </a:r>
            <a:r>
              <a:rPr lang="es-ES_tradnl" sz="2200" i="0" dirty="0" err="1">
                <a:solidFill>
                  <a:srgbClr val="FFFFFF"/>
                </a:solidFill>
                <a:effectLst/>
                <a:latin typeface="Times-Roman"/>
                <a:ea typeface="DengXian" panose="02010600030101010101" pitchFamily="2" charset="-122"/>
                <a:cs typeface="Calibri" panose="020F0502020204030204" pitchFamily="34" charset="0"/>
              </a:rPr>
              <a:t>of</a:t>
            </a:r>
            <a:r>
              <a:rPr lang="es-ES_tradnl" sz="2200" i="0" dirty="0">
                <a:solidFill>
                  <a:srgbClr val="FFFFFF"/>
                </a:solidFill>
                <a:effectLst/>
                <a:latin typeface="Times-Roman"/>
                <a:ea typeface="DengXian" panose="02010600030101010101" pitchFamily="2" charset="-122"/>
                <a:cs typeface="Calibri" panose="020F0502020204030204" pitchFamily="34" charset="0"/>
              </a:rPr>
              <a:t> </a:t>
            </a:r>
            <a:r>
              <a:rPr lang="es-ES_tradnl" sz="2200" i="0" dirty="0" err="1">
                <a:solidFill>
                  <a:srgbClr val="FFFFFF"/>
                </a:solidFill>
                <a:effectLst/>
                <a:latin typeface="Times-Roman"/>
                <a:ea typeface="DengXian" panose="02010600030101010101" pitchFamily="2" charset="-122"/>
                <a:cs typeface="Calibri" panose="020F0502020204030204" pitchFamily="34" charset="0"/>
              </a:rPr>
              <a:t>Public</a:t>
            </a:r>
            <a:r>
              <a:rPr lang="es-ES_tradnl" sz="2200" i="0" dirty="0">
                <a:solidFill>
                  <a:srgbClr val="FFFFFF"/>
                </a:solidFill>
                <a:effectLst/>
                <a:latin typeface="Times-Roman"/>
                <a:ea typeface="DengXian" panose="02010600030101010101" pitchFamily="2" charset="-122"/>
                <a:cs typeface="Calibri" panose="020F0502020204030204" pitchFamily="34" charset="0"/>
              </a:rPr>
              <a:t> </a:t>
            </a:r>
            <a:r>
              <a:rPr lang="es-ES_tradnl" sz="2200" i="0" dirty="0" err="1">
                <a:solidFill>
                  <a:srgbClr val="FFFFFF"/>
                </a:solidFill>
                <a:effectLst/>
                <a:latin typeface="Times-Roman"/>
                <a:ea typeface="DengXian" panose="02010600030101010101" pitchFamily="2" charset="-122"/>
                <a:cs typeface="Calibri" panose="020F0502020204030204" pitchFamily="34" charset="0"/>
              </a:rPr>
              <a:t>Health</a:t>
            </a:r>
            <a:r>
              <a:rPr lang="es-ES_tradnl" sz="2200" i="0" dirty="0">
                <a:solidFill>
                  <a:srgbClr val="FFFFFF"/>
                </a:solidFill>
                <a:effectLst/>
                <a:latin typeface="Times-Roman"/>
                <a:ea typeface="DengXian" panose="02010600030101010101" pitchFamily="2" charset="-122"/>
                <a:cs typeface="Calibri" panose="020F0502020204030204" pitchFamily="34" charset="0"/>
              </a:rPr>
              <a:t>, </a:t>
            </a:r>
            <a:r>
              <a:rPr lang="es-ES_tradnl" sz="2200" i="0" dirty="0" err="1">
                <a:solidFill>
                  <a:srgbClr val="FFFFFF"/>
                </a:solidFill>
                <a:effectLst/>
                <a:latin typeface="Times-Roman"/>
                <a:ea typeface="DengXian" panose="02010600030101010101" pitchFamily="2" charset="-122"/>
                <a:cs typeface="Calibri" panose="020F0502020204030204" pitchFamily="34" charset="0"/>
              </a:rPr>
              <a:t>National</a:t>
            </a:r>
            <a:r>
              <a:rPr lang="es-ES_tradnl" sz="2200" i="0" dirty="0">
                <a:solidFill>
                  <a:srgbClr val="FFFFFF"/>
                </a:solidFill>
                <a:effectLst/>
                <a:latin typeface="Times-Roman"/>
                <a:ea typeface="DengXian" panose="02010600030101010101" pitchFamily="2" charset="-122"/>
                <a:cs typeface="Calibri" panose="020F0502020204030204" pitchFamily="34" charset="0"/>
              </a:rPr>
              <a:t> </a:t>
            </a:r>
            <a:r>
              <a:rPr lang="es-ES_tradnl" sz="2200" i="0" dirty="0" err="1">
                <a:solidFill>
                  <a:srgbClr val="FFFFFF"/>
                </a:solidFill>
                <a:effectLst/>
                <a:latin typeface="Times-Roman"/>
                <a:ea typeface="DengXian" panose="02010600030101010101" pitchFamily="2" charset="-122"/>
                <a:cs typeface="Calibri" panose="020F0502020204030204" pitchFamily="34" charset="0"/>
              </a:rPr>
              <a:t>University</a:t>
            </a:r>
            <a:r>
              <a:rPr lang="es-ES_tradnl" sz="2200" i="0" dirty="0">
                <a:solidFill>
                  <a:srgbClr val="FFFFFF"/>
                </a:solidFill>
                <a:effectLst/>
                <a:latin typeface="Times-Roman"/>
                <a:ea typeface="DengXian" panose="02010600030101010101" pitchFamily="2" charset="-122"/>
                <a:cs typeface="Calibri" panose="020F0502020204030204" pitchFamily="34" charset="0"/>
              </a:rPr>
              <a:t> </a:t>
            </a:r>
            <a:r>
              <a:rPr lang="es-ES_tradnl" sz="2200" i="0" dirty="0" err="1">
                <a:solidFill>
                  <a:srgbClr val="FFFFFF"/>
                </a:solidFill>
                <a:effectLst/>
                <a:latin typeface="Times-Roman"/>
                <a:ea typeface="DengXian" panose="02010600030101010101" pitchFamily="2" charset="-122"/>
                <a:cs typeface="Calibri" panose="020F0502020204030204" pitchFamily="34" charset="0"/>
              </a:rPr>
              <a:t>of</a:t>
            </a:r>
            <a:r>
              <a:rPr lang="es-ES_tradnl" sz="2200" i="0" dirty="0">
                <a:solidFill>
                  <a:srgbClr val="FFFFFF"/>
                </a:solidFill>
                <a:effectLst/>
                <a:latin typeface="Times-Roman"/>
                <a:ea typeface="DengXian" panose="02010600030101010101" pitchFamily="2" charset="-122"/>
                <a:cs typeface="Calibri" panose="020F0502020204030204" pitchFamily="34" charset="0"/>
              </a:rPr>
              <a:t> </a:t>
            </a:r>
            <a:r>
              <a:rPr lang="es-ES_tradnl" sz="2200" i="0" dirty="0" err="1">
                <a:solidFill>
                  <a:srgbClr val="FFFFFF"/>
                </a:solidFill>
                <a:effectLst/>
                <a:latin typeface="Times-Roman"/>
                <a:ea typeface="DengXian" panose="02010600030101010101" pitchFamily="2" charset="-122"/>
                <a:cs typeface="Calibri" panose="020F0502020204030204" pitchFamily="34" charset="0"/>
              </a:rPr>
              <a:t>Singapore</a:t>
            </a:r>
            <a:r>
              <a:rPr lang="es-ES_tradnl" sz="2200" i="0" dirty="0">
                <a:solidFill>
                  <a:srgbClr val="FFFFFF"/>
                </a:solidFill>
                <a:effectLst/>
                <a:latin typeface="Times-Roman"/>
                <a:ea typeface="DengXian" panose="02010600030101010101" pitchFamily="2" charset="-122"/>
                <a:cs typeface="Calibri" panose="020F0502020204030204" pitchFamily="34" charset="0"/>
              </a:rPr>
              <a:t>, </a:t>
            </a:r>
            <a:r>
              <a:rPr lang="es-ES_tradnl" sz="2200" i="0" dirty="0" err="1">
                <a:solidFill>
                  <a:srgbClr val="FFFFFF"/>
                </a:solidFill>
                <a:effectLst/>
                <a:latin typeface="Times-Roman"/>
                <a:ea typeface="DengXian" panose="02010600030101010101" pitchFamily="2" charset="-122"/>
                <a:cs typeface="Calibri" panose="020F0502020204030204" pitchFamily="34" charset="0"/>
              </a:rPr>
              <a:t>Singapore</a:t>
            </a:r>
            <a:r>
              <a:rPr lang="es-ES_tradnl" sz="2200" i="0" dirty="0">
                <a:solidFill>
                  <a:srgbClr val="FFFFFF"/>
                </a:solidFill>
                <a:effectLst/>
                <a:latin typeface="Times-Roman"/>
                <a:ea typeface="Arial" panose="020B0604020202020204" pitchFamily="34" charset="0"/>
                <a:cs typeface="Calibri" panose="020F0502020204030204" pitchFamily="34" charset="0"/>
              </a:rPr>
              <a:t> </a:t>
            </a:r>
            <a:br>
              <a:rPr lang="en-SG" sz="2200" i="0" dirty="0">
                <a:solidFill>
                  <a:srgbClr val="FFFFFF"/>
                </a:solidFill>
                <a:effectLst/>
                <a:latin typeface="Times-Roman"/>
                <a:ea typeface="Arial" panose="020B0604020202020204" pitchFamily="34" charset="0"/>
                <a:cs typeface="Calibri" panose="020F0502020204030204" pitchFamily="34" charset="0"/>
              </a:rPr>
            </a:br>
            <a:r>
              <a:rPr lang="es-ES_tradnl" sz="2200" i="0" dirty="0" err="1">
                <a:solidFill>
                  <a:srgbClr val="FFFFFF"/>
                </a:solidFill>
                <a:effectLst/>
                <a:latin typeface="Times-Roman"/>
                <a:ea typeface="DengXian" panose="02010600030101010101" pitchFamily="2" charset="-122"/>
                <a:cs typeface="Calibri" panose="020F0502020204030204" pitchFamily="34" charset="0"/>
              </a:rPr>
              <a:t>Faculty</a:t>
            </a:r>
            <a:r>
              <a:rPr lang="es-ES_tradnl" sz="2200" i="0" dirty="0">
                <a:solidFill>
                  <a:srgbClr val="FFFFFF"/>
                </a:solidFill>
                <a:effectLst/>
                <a:latin typeface="Times-Roman"/>
                <a:ea typeface="DengXian" panose="02010600030101010101" pitchFamily="2" charset="-122"/>
                <a:cs typeface="Calibri" panose="020F0502020204030204" pitchFamily="34" charset="0"/>
              </a:rPr>
              <a:t> </a:t>
            </a:r>
            <a:r>
              <a:rPr lang="es-ES_tradnl" sz="2200" i="0" dirty="0" err="1">
                <a:solidFill>
                  <a:srgbClr val="FFFFFF"/>
                </a:solidFill>
                <a:effectLst/>
                <a:latin typeface="Times-Roman"/>
                <a:ea typeface="DengXian" panose="02010600030101010101" pitchFamily="2" charset="-122"/>
                <a:cs typeface="Calibri" panose="020F0502020204030204" pitchFamily="34" charset="0"/>
              </a:rPr>
              <a:t>of</a:t>
            </a:r>
            <a:r>
              <a:rPr lang="es-ES_tradnl" sz="2200" i="0" dirty="0">
                <a:solidFill>
                  <a:srgbClr val="FFFFFF"/>
                </a:solidFill>
                <a:effectLst/>
                <a:latin typeface="Times-Roman"/>
                <a:ea typeface="DengXian" panose="02010600030101010101" pitchFamily="2" charset="-122"/>
                <a:cs typeface="Calibri" panose="020F0502020204030204" pitchFamily="34" charset="0"/>
              </a:rPr>
              <a:t> </a:t>
            </a:r>
            <a:r>
              <a:rPr lang="es-ES_tradnl" sz="2200" i="0" dirty="0" err="1">
                <a:solidFill>
                  <a:srgbClr val="FFFFFF"/>
                </a:solidFill>
                <a:effectLst/>
                <a:latin typeface="Times-Roman"/>
                <a:ea typeface="DengXian" panose="02010600030101010101" pitchFamily="2" charset="-122"/>
                <a:cs typeface="Calibri" panose="020F0502020204030204" pitchFamily="34" charset="0"/>
              </a:rPr>
              <a:t>Dentistry</a:t>
            </a:r>
            <a:r>
              <a:rPr lang="es-ES_tradnl" sz="2200" i="0" dirty="0">
                <a:solidFill>
                  <a:srgbClr val="FFFFFF"/>
                </a:solidFill>
                <a:effectLst/>
                <a:latin typeface="Times-Roman"/>
                <a:ea typeface="DengXian" panose="02010600030101010101" pitchFamily="2" charset="-122"/>
                <a:cs typeface="Calibri" panose="020F0502020204030204" pitchFamily="34" charset="0"/>
              </a:rPr>
              <a:t>, </a:t>
            </a:r>
            <a:r>
              <a:rPr lang="es-ES_tradnl" sz="2200" i="0" dirty="0" err="1">
                <a:solidFill>
                  <a:srgbClr val="FFFFFF"/>
                </a:solidFill>
                <a:effectLst/>
                <a:latin typeface="Times-Roman"/>
                <a:ea typeface="DengXian" panose="02010600030101010101" pitchFamily="2" charset="-122"/>
                <a:cs typeface="Calibri" panose="020F0502020204030204" pitchFamily="34" charset="0"/>
              </a:rPr>
              <a:t>National</a:t>
            </a:r>
            <a:r>
              <a:rPr lang="es-ES_tradnl" sz="2200" i="0" dirty="0">
                <a:solidFill>
                  <a:srgbClr val="FFFFFF"/>
                </a:solidFill>
                <a:effectLst/>
                <a:latin typeface="Times-Roman"/>
                <a:ea typeface="DengXian" panose="02010600030101010101" pitchFamily="2" charset="-122"/>
                <a:cs typeface="Calibri" panose="020F0502020204030204" pitchFamily="34" charset="0"/>
              </a:rPr>
              <a:t> </a:t>
            </a:r>
            <a:r>
              <a:rPr lang="es-ES_tradnl" sz="2200" i="0" dirty="0" err="1">
                <a:solidFill>
                  <a:srgbClr val="FFFFFF"/>
                </a:solidFill>
                <a:effectLst/>
                <a:latin typeface="Times-Roman"/>
                <a:ea typeface="DengXian" panose="02010600030101010101" pitchFamily="2" charset="-122"/>
                <a:cs typeface="Calibri" panose="020F0502020204030204" pitchFamily="34" charset="0"/>
              </a:rPr>
              <a:t>University</a:t>
            </a:r>
            <a:r>
              <a:rPr lang="es-ES_tradnl" sz="2200" i="0" dirty="0">
                <a:solidFill>
                  <a:srgbClr val="FFFFFF"/>
                </a:solidFill>
                <a:effectLst/>
                <a:latin typeface="Times-Roman"/>
                <a:ea typeface="DengXian" panose="02010600030101010101" pitchFamily="2" charset="-122"/>
                <a:cs typeface="Calibri" panose="020F0502020204030204" pitchFamily="34" charset="0"/>
              </a:rPr>
              <a:t> </a:t>
            </a:r>
            <a:r>
              <a:rPr lang="es-ES_tradnl" sz="2200" i="0" dirty="0" err="1">
                <a:solidFill>
                  <a:srgbClr val="FFFFFF"/>
                </a:solidFill>
                <a:effectLst/>
                <a:latin typeface="Times-Roman"/>
                <a:ea typeface="DengXian" panose="02010600030101010101" pitchFamily="2" charset="-122"/>
                <a:cs typeface="Calibri" panose="020F0502020204030204" pitchFamily="34" charset="0"/>
              </a:rPr>
              <a:t>of</a:t>
            </a:r>
            <a:r>
              <a:rPr lang="es-ES_tradnl" sz="2200" i="0" dirty="0">
                <a:solidFill>
                  <a:srgbClr val="FFFFFF"/>
                </a:solidFill>
                <a:effectLst/>
                <a:latin typeface="Times-Roman"/>
                <a:ea typeface="DengXian" panose="02010600030101010101" pitchFamily="2" charset="-122"/>
                <a:cs typeface="Calibri" panose="020F0502020204030204" pitchFamily="34" charset="0"/>
              </a:rPr>
              <a:t> </a:t>
            </a:r>
            <a:r>
              <a:rPr lang="es-ES_tradnl" sz="2200" i="0" dirty="0" err="1">
                <a:solidFill>
                  <a:srgbClr val="FFFFFF"/>
                </a:solidFill>
                <a:effectLst/>
                <a:latin typeface="Times-Roman"/>
                <a:ea typeface="DengXian" panose="02010600030101010101" pitchFamily="2" charset="-122"/>
                <a:cs typeface="Calibri" panose="020F0502020204030204" pitchFamily="34" charset="0"/>
              </a:rPr>
              <a:t>Singapore</a:t>
            </a:r>
            <a:r>
              <a:rPr lang="es-ES_tradnl" sz="2200" i="0" dirty="0">
                <a:solidFill>
                  <a:srgbClr val="FFFFFF"/>
                </a:solidFill>
                <a:effectLst/>
                <a:latin typeface="Times-Roman"/>
                <a:ea typeface="DengXian" panose="02010600030101010101" pitchFamily="2" charset="-122"/>
                <a:cs typeface="Calibri" panose="020F0502020204030204" pitchFamily="34" charset="0"/>
              </a:rPr>
              <a:t>, </a:t>
            </a:r>
            <a:r>
              <a:rPr lang="es-ES_tradnl" sz="2200" i="0" dirty="0" err="1">
                <a:solidFill>
                  <a:srgbClr val="FFFFFF"/>
                </a:solidFill>
                <a:effectLst/>
                <a:latin typeface="Times-Roman"/>
                <a:ea typeface="DengXian" panose="02010600030101010101" pitchFamily="2" charset="-122"/>
                <a:cs typeface="Calibri" panose="020F0502020204030204" pitchFamily="34" charset="0"/>
              </a:rPr>
              <a:t>Singapore</a:t>
            </a:r>
            <a:br>
              <a:rPr lang="es-ES_tradnl" sz="2200" i="0" dirty="0">
                <a:solidFill>
                  <a:srgbClr val="FFFFFF"/>
                </a:solidFill>
                <a:effectLst/>
                <a:latin typeface="Times-Roman"/>
                <a:ea typeface="DengXian" panose="02010600030101010101" pitchFamily="2" charset="-122"/>
                <a:cs typeface="Calibri" panose="020F0502020204030204" pitchFamily="34" charset="0"/>
              </a:rPr>
            </a:br>
            <a:endParaRPr lang="en-SG" sz="2200" i="0" dirty="0">
              <a:solidFill>
                <a:srgbClr val="FFFFFF"/>
              </a:solidFill>
              <a:effectLst/>
              <a:latin typeface="Times-Roman"/>
              <a:ea typeface="DengXian" panose="02010600030101010101" pitchFamily="2" charset="-122"/>
              <a:cs typeface="Times New Roman" panose="02020603050405020304" pitchFamily="18" charset="0"/>
            </a:endParaRPr>
          </a:p>
        </p:txBody>
      </p:sp>
      <p:pic>
        <p:nvPicPr>
          <p:cNvPr id="4" name="Picture 3" descr="A logo of a national university of singapore&#10;&#10;AI-generated content may be incorrect.">
            <a:extLst>
              <a:ext uri="{FF2B5EF4-FFF2-40B4-BE49-F238E27FC236}">
                <a16:creationId xmlns:a16="http://schemas.microsoft.com/office/drawing/2014/main" id="{169A30F4-7472-0FEC-184D-F5F8BDB0D206}"/>
              </a:ext>
            </a:extLst>
          </p:cNvPr>
          <p:cNvPicPr>
            <a:picLocks noChangeAspect="1"/>
          </p:cNvPicPr>
          <p:nvPr/>
        </p:nvPicPr>
        <p:blipFill>
          <a:blip r:embed="rId3"/>
          <a:stretch>
            <a:fillRect/>
          </a:stretch>
        </p:blipFill>
        <p:spPr>
          <a:xfrm>
            <a:off x="9498914" y="0"/>
            <a:ext cx="2692312" cy="1665514"/>
          </a:xfrm>
          <a:prstGeom prst="rect">
            <a:avLst/>
          </a:prstGeom>
        </p:spPr>
      </p:pic>
      <p:pic>
        <p:nvPicPr>
          <p:cNvPr id="5" name="Picture 4" descr="A red sign with white text&#10;&#10;AI-generated content may be incorrect.">
            <a:extLst>
              <a:ext uri="{FF2B5EF4-FFF2-40B4-BE49-F238E27FC236}">
                <a16:creationId xmlns:a16="http://schemas.microsoft.com/office/drawing/2014/main" id="{65D88EBB-9856-4164-F976-7434E7EEC092}"/>
              </a:ext>
            </a:extLst>
          </p:cNvPr>
          <p:cNvPicPr>
            <a:picLocks noChangeAspect="1"/>
          </p:cNvPicPr>
          <p:nvPr/>
        </p:nvPicPr>
        <p:blipFill>
          <a:blip r:embed="rId4"/>
          <a:stretch>
            <a:fillRect/>
          </a:stretch>
        </p:blipFill>
        <p:spPr>
          <a:xfrm>
            <a:off x="7311645" y="8102"/>
            <a:ext cx="2187270" cy="1665514"/>
          </a:xfrm>
          <a:prstGeom prst="rect">
            <a:avLst/>
          </a:prstGeom>
        </p:spPr>
      </p:pic>
      <p:sp>
        <p:nvSpPr>
          <p:cNvPr id="6" name="TextBox 5">
            <a:extLst>
              <a:ext uri="{FF2B5EF4-FFF2-40B4-BE49-F238E27FC236}">
                <a16:creationId xmlns:a16="http://schemas.microsoft.com/office/drawing/2014/main" id="{495897CA-9B3F-DCA1-1D34-185B01137E29}"/>
              </a:ext>
            </a:extLst>
          </p:cNvPr>
          <p:cNvSpPr txBox="1"/>
          <p:nvPr/>
        </p:nvSpPr>
        <p:spPr>
          <a:xfrm>
            <a:off x="0" y="0"/>
            <a:ext cx="7224889" cy="276999"/>
          </a:xfrm>
          <a:prstGeom prst="rect">
            <a:avLst/>
          </a:prstGeom>
          <a:noFill/>
        </p:spPr>
        <p:txBody>
          <a:bodyPr wrap="square" rtlCol="0">
            <a:spAutoFit/>
          </a:bodyPr>
          <a:lstStyle/>
          <a:p>
            <a:r>
              <a:rPr lang="en-SG" sz="1200" i="1" dirty="0">
                <a:solidFill>
                  <a:schemeClr val="bg1">
                    <a:lumMod val="65000"/>
                  </a:schemeClr>
                </a:solidFill>
                <a:latin typeface="Arial" panose="020B0604020202020204" pitchFamily="34" charset="0"/>
                <a:cs typeface="Arial" panose="020B0604020202020204" pitchFamily="34" charset="0"/>
              </a:rPr>
              <a:t>[Restricted] For workshop participants only, not for distribution.</a:t>
            </a:r>
          </a:p>
        </p:txBody>
      </p:sp>
    </p:spTree>
    <p:extLst>
      <p:ext uri="{BB962C8B-B14F-4D97-AF65-F5344CB8AC3E}">
        <p14:creationId xmlns:p14="http://schemas.microsoft.com/office/powerpoint/2010/main" val="2353362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FF9146B-4CCD-4CDB-AB9C-458005307E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E1FEFA6-7D4F-4746-AE64-D4D52FE76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BF8DA3CF-9D4B-403A-9AD4-BB177DAB6C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 y="685800"/>
            <a:ext cx="10820400" cy="5486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85B467-8696-47E3-883B-CFDC97DC7581}"/>
              </a:ext>
            </a:extLst>
          </p:cNvPr>
          <p:cNvSpPr>
            <a:spLocks noGrp="1"/>
          </p:cNvSpPr>
          <p:nvPr>
            <p:ph type="title"/>
          </p:nvPr>
        </p:nvSpPr>
        <p:spPr>
          <a:xfrm>
            <a:off x="1371599" y="1010097"/>
            <a:ext cx="9486901" cy="1010088"/>
          </a:xfrm>
        </p:spPr>
        <p:txBody>
          <a:bodyPr anchor="b">
            <a:normAutofit/>
          </a:bodyPr>
          <a:lstStyle/>
          <a:p>
            <a:pPr algn="ctr"/>
            <a:r>
              <a:rPr lang="en-SG" dirty="0"/>
              <a:t>disclosure</a:t>
            </a:r>
          </a:p>
        </p:txBody>
      </p:sp>
      <p:sp>
        <p:nvSpPr>
          <p:cNvPr id="3" name="Content Placeholder 2">
            <a:extLst>
              <a:ext uri="{FF2B5EF4-FFF2-40B4-BE49-F238E27FC236}">
                <a16:creationId xmlns:a16="http://schemas.microsoft.com/office/drawing/2014/main" id="{30330FA1-3034-401C-9222-94ADB733BDB6}"/>
              </a:ext>
            </a:extLst>
          </p:cNvPr>
          <p:cNvSpPr>
            <a:spLocks noGrp="1"/>
          </p:cNvSpPr>
          <p:nvPr>
            <p:ph idx="1"/>
          </p:nvPr>
        </p:nvSpPr>
        <p:spPr>
          <a:xfrm>
            <a:off x="1371600" y="2206257"/>
            <a:ext cx="9486901" cy="3540642"/>
          </a:xfrm>
        </p:spPr>
        <p:txBody>
          <a:bodyPr>
            <a:normAutofit/>
          </a:bodyPr>
          <a:lstStyle/>
          <a:p>
            <a:pPr>
              <a:lnSpc>
                <a:spcPct val="90000"/>
              </a:lnSpc>
            </a:pPr>
            <a:r>
              <a:rPr lang="en-US" sz="2200" dirty="0">
                <a:solidFill>
                  <a:schemeClr val="tx1"/>
                </a:solidFill>
                <a:latin typeface="Times-Roman"/>
              </a:rPr>
              <a:t>I declare no conflict of interest</a:t>
            </a:r>
          </a:p>
        </p:txBody>
      </p:sp>
      <p:sp>
        <p:nvSpPr>
          <p:cNvPr id="6" name="TextBox 5">
            <a:extLst>
              <a:ext uri="{FF2B5EF4-FFF2-40B4-BE49-F238E27FC236}">
                <a16:creationId xmlns:a16="http://schemas.microsoft.com/office/drawing/2014/main" id="{5EFD9906-832F-1E9F-2E9A-176011A97BA1}"/>
              </a:ext>
            </a:extLst>
          </p:cNvPr>
          <p:cNvSpPr txBox="1"/>
          <p:nvPr/>
        </p:nvSpPr>
        <p:spPr>
          <a:xfrm>
            <a:off x="0" y="0"/>
            <a:ext cx="7224889" cy="276999"/>
          </a:xfrm>
          <a:prstGeom prst="rect">
            <a:avLst/>
          </a:prstGeom>
          <a:noFill/>
        </p:spPr>
        <p:txBody>
          <a:bodyPr wrap="square" rtlCol="0">
            <a:spAutoFit/>
          </a:bodyPr>
          <a:lstStyle/>
          <a:p>
            <a:r>
              <a:rPr lang="en-SG" sz="1200" i="1" dirty="0">
                <a:solidFill>
                  <a:schemeClr val="bg1">
                    <a:lumMod val="65000"/>
                  </a:schemeClr>
                </a:solidFill>
                <a:latin typeface="Arial" panose="020B0604020202020204" pitchFamily="34" charset="0"/>
                <a:cs typeface="Arial" panose="020B0604020202020204" pitchFamily="34" charset="0"/>
              </a:rPr>
              <a:t>[Restricted] For workshop participants only, not for distribution.</a:t>
            </a:r>
          </a:p>
        </p:txBody>
      </p:sp>
    </p:spTree>
    <p:extLst>
      <p:ext uri="{BB962C8B-B14F-4D97-AF65-F5344CB8AC3E}">
        <p14:creationId xmlns:p14="http://schemas.microsoft.com/office/powerpoint/2010/main" val="29338950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FF9146B-4CCD-4CDB-AB9C-458005307E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ill Sans MT"/>
              <a:ea typeface="+mn-ea"/>
              <a:cs typeface="+mn-cs"/>
            </a:endParaRPr>
          </a:p>
        </p:txBody>
      </p:sp>
      <p:sp>
        <p:nvSpPr>
          <p:cNvPr id="10" name="Rectangle 9">
            <a:extLst>
              <a:ext uri="{FF2B5EF4-FFF2-40B4-BE49-F238E27FC236}">
                <a16:creationId xmlns:a16="http://schemas.microsoft.com/office/drawing/2014/main" id="{5E1FEFA6-7D4F-4746-AE64-D4D52FE76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ill Sans MT"/>
              <a:ea typeface="+mn-ea"/>
              <a:cs typeface="+mn-cs"/>
            </a:endParaRPr>
          </a:p>
        </p:txBody>
      </p:sp>
      <p:sp useBgFill="1">
        <p:nvSpPr>
          <p:cNvPr id="12" name="Rectangle 11">
            <a:extLst>
              <a:ext uri="{FF2B5EF4-FFF2-40B4-BE49-F238E27FC236}">
                <a16:creationId xmlns:a16="http://schemas.microsoft.com/office/drawing/2014/main" id="{BF8DA3CF-9D4B-403A-9AD4-BB177DAB6C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 y="685800"/>
            <a:ext cx="10820400" cy="5486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ill Sans MT"/>
              <a:ea typeface="+mn-ea"/>
              <a:cs typeface="+mn-cs"/>
            </a:endParaRPr>
          </a:p>
        </p:txBody>
      </p:sp>
      <p:sp>
        <p:nvSpPr>
          <p:cNvPr id="2" name="Title 1">
            <a:extLst>
              <a:ext uri="{FF2B5EF4-FFF2-40B4-BE49-F238E27FC236}">
                <a16:creationId xmlns:a16="http://schemas.microsoft.com/office/drawing/2014/main" id="{8B85B467-8696-47E3-883B-CFDC97DC7581}"/>
              </a:ext>
            </a:extLst>
          </p:cNvPr>
          <p:cNvSpPr>
            <a:spLocks noGrp="1"/>
          </p:cNvSpPr>
          <p:nvPr>
            <p:ph type="title"/>
          </p:nvPr>
        </p:nvSpPr>
        <p:spPr>
          <a:xfrm>
            <a:off x="1371599" y="1010097"/>
            <a:ext cx="9486901" cy="1010088"/>
          </a:xfrm>
        </p:spPr>
        <p:txBody>
          <a:bodyPr anchor="b">
            <a:normAutofit/>
          </a:bodyPr>
          <a:lstStyle/>
          <a:p>
            <a:pPr algn="ctr"/>
            <a:r>
              <a:rPr lang="en-SG" dirty="0"/>
              <a:t>Case study - BACKGROUND</a:t>
            </a:r>
          </a:p>
        </p:txBody>
      </p:sp>
      <p:sp>
        <p:nvSpPr>
          <p:cNvPr id="3" name="Content Placeholder 2">
            <a:extLst>
              <a:ext uri="{FF2B5EF4-FFF2-40B4-BE49-F238E27FC236}">
                <a16:creationId xmlns:a16="http://schemas.microsoft.com/office/drawing/2014/main" id="{30330FA1-3034-401C-9222-94ADB733BDB6}"/>
              </a:ext>
            </a:extLst>
          </p:cNvPr>
          <p:cNvSpPr>
            <a:spLocks noGrp="1"/>
          </p:cNvSpPr>
          <p:nvPr>
            <p:ph idx="1"/>
          </p:nvPr>
        </p:nvSpPr>
        <p:spPr>
          <a:xfrm>
            <a:off x="1371600" y="2206257"/>
            <a:ext cx="9486901" cy="3540642"/>
          </a:xfrm>
        </p:spPr>
        <p:txBody>
          <a:bodyPr>
            <a:normAutofit/>
          </a:bodyPr>
          <a:lstStyle/>
          <a:p>
            <a:pPr>
              <a:lnSpc>
                <a:spcPct val="90000"/>
              </a:lnSpc>
            </a:pPr>
            <a:r>
              <a:rPr lang="en-US" sz="2200" dirty="0">
                <a:solidFill>
                  <a:schemeClr val="tx1"/>
                </a:solidFill>
                <a:latin typeface="Times-Roman"/>
              </a:rPr>
              <a:t>Oral disease burden among persons from different income groups influenced by</a:t>
            </a:r>
          </a:p>
          <a:p>
            <a:pPr lvl="1">
              <a:lnSpc>
                <a:spcPct val="90000"/>
              </a:lnSpc>
            </a:pPr>
            <a:r>
              <a:rPr lang="en-US" sz="2200" dirty="0">
                <a:solidFill>
                  <a:schemeClr val="tx1"/>
                </a:solidFill>
                <a:latin typeface="Times-Roman"/>
              </a:rPr>
              <a:t>Diet</a:t>
            </a:r>
          </a:p>
          <a:p>
            <a:pPr lvl="1">
              <a:lnSpc>
                <a:spcPct val="90000"/>
              </a:lnSpc>
            </a:pPr>
            <a:r>
              <a:rPr lang="en-US" sz="2200" dirty="0">
                <a:solidFill>
                  <a:schemeClr val="tx1"/>
                </a:solidFill>
                <a:latin typeface="Times-Roman"/>
              </a:rPr>
              <a:t>Dental care </a:t>
            </a:r>
            <a:r>
              <a:rPr lang="en-US" sz="2200" dirty="0" err="1">
                <a:solidFill>
                  <a:schemeClr val="tx1"/>
                </a:solidFill>
                <a:latin typeface="Times-Roman"/>
              </a:rPr>
              <a:t>utilisation</a:t>
            </a:r>
            <a:endParaRPr lang="en-US" sz="2200" dirty="0">
              <a:solidFill>
                <a:schemeClr val="tx1"/>
              </a:solidFill>
              <a:latin typeface="Times-Roman"/>
            </a:endParaRPr>
          </a:p>
          <a:p>
            <a:pPr lvl="1">
              <a:lnSpc>
                <a:spcPct val="90000"/>
              </a:lnSpc>
            </a:pPr>
            <a:r>
              <a:rPr lang="en-US" sz="2200" dirty="0">
                <a:solidFill>
                  <a:schemeClr val="tx1"/>
                </a:solidFill>
                <a:latin typeface="Times-Roman"/>
              </a:rPr>
              <a:t>Oral hygiene practices </a:t>
            </a:r>
          </a:p>
          <a:p>
            <a:pPr marL="457200" lvl="1" indent="0">
              <a:lnSpc>
                <a:spcPct val="90000"/>
              </a:lnSpc>
              <a:buNone/>
            </a:pPr>
            <a:r>
              <a:rPr lang="en-US" sz="2200" dirty="0">
                <a:solidFill>
                  <a:schemeClr val="tx1"/>
                </a:solidFill>
                <a:latin typeface="Times-Roman"/>
              </a:rPr>
              <a:t>   etc.</a:t>
            </a:r>
          </a:p>
          <a:p>
            <a:pPr>
              <a:lnSpc>
                <a:spcPct val="90000"/>
              </a:lnSpc>
            </a:pPr>
            <a:r>
              <a:rPr lang="en-US" sz="2200" dirty="0">
                <a:solidFill>
                  <a:schemeClr val="tx1"/>
                </a:solidFill>
                <a:latin typeface="Times-Roman"/>
              </a:rPr>
              <a:t>Studies suggest sugar consumption is associated with higher risk of dental caries (as measured by DMFT) (</a:t>
            </a:r>
            <a:r>
              <a:rPr lang="en-US" sz="2200" dirty="0" err="1">
                <a:solidFill>
                  <a:schemeClr val="tx1"/>
                </a:solidFill>
                <a:latin typeface="Times-Roman"/>
              </a:rPr>
              <a:t>Moores</a:t>
            </a:r>
            <a:r>
              <a:rPr lang="en-US" sz="2200" dirty="0">
                <a:solidFill>
                  <a:schemeClr val="tx1"/>
                </a:solidFill>
                <a:latin typeface="Times-Roman"/>
              </a:rPr>
              <a:t> et al, 2022)</a:t>
            </a:r>
          </a:p>
          <a:p>
            <a:pPr marL="0" indent="0">
              <a:lnSpc>
                <a:spcPct val="90000"/>
              </a:lnSpc>
              <a:buNone/>
            </a:pPr>
            <a:endParaRPr lang="en-SG" sz="12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F9F7AEBC-703C-FBBA-906B-165E0CE6D8F4}"/>
              </a:ext>
            </a:extLst>
          </p:cNvPr>
          <p:cNvSpPr txBox="1"/>
          <p:nvPr/>
        </p:nvSpPr>
        <p:spPr>
          <a:xfrm>
            <a:off x="19050" y="6322469"/>
            <a:ext cx="12191998" cy="535531"/>
          </a:xfrm>
          <a:prstGeom prst="rect">
            <a:avLst/>
          </a:prstGeom>
          <a:noFill/>
        </p:spPr>
        <p:txBody>
          <a:bodyPr wrap="square">
            <a:spAutoFit/>
          </a:bodyPr>
          <a:lstStyle/>
          <a:p>
            <a:pPr marL="0" indent="0" algn="r">
              <a:lnSpc>
                <a:spcPct val="90000"/>
              </a:lnSpc>
              <a:buNone/>
            </a:pPr>
            <a:r>
              <a:rPr lang="en-SG" sz="1600" dirty="0" err="1">
                <a:solidFill>
                  <a:schemeClr val="bg1"/>
                </a:solidFill>
                <a:latin typeface="Times New Roman" panose="02020603050405020304" pitchFamily="18" charset="0"/>
                <a:cs typeface="Times New Roman" panose="02020603050405020304" pitchFamily="18" charset="0"/>
              </a:rPr>
              <a:t>Moores</a:t>
            </a:r>
            <a:r>
              <a:rPr lang="en-SG" sz="1600" dirty="0">
                <a:solidFill>
                  <a:schemeClr val="bg1"/>
                </a:solidFill>
                <a:latin typeface="Times New Roman" panose="02020603050405020304" pitchFamily="18" charset="0"/>
                <a:cs typeface="Times New Roman" panose="02020603050405020304" pitchFamily="18" charset="0"/>
              </a:rPr>
              <a:t>, C. J., Kelly, S. A. M., &amp; Moynihan, P. J. (2022). Systematic Review of the Effect on Caries of Sugars Intake: Ten-Year Update. </a:t>
            </a:r>
            <a:r>
              <a:rPr lang="en-SG" sz="1600" i="1" dirty="0">
                <a:solidFill>
                  <a:schemeClr val="bg1"/>
                </a:solidFill>
                <a:latin typeface="Times New Roman" panose="02020603050405020304" pitchFamily="18" charset="0"/>
                <a:cs typeface="Times New Roman" panose="02020603050405020304" pitchFamily="18" charset="0"/>
              </a:rPr>
              <a:t>Journal of dental research</a:t>
            </a:r>
            <a:r>
              <a:rPr lang="en-SG" sz="1600" dirty="0">
                <a:solidFill>
                  <a:schemeClr val="bg1"/>
                </a:solidFill>
                <a:latin typeface="Times New Roman" panose="02020603050405020304" pitchFamily="18" charset="0"/>
                <a:cs typeface="Times New Roman" panose="02020603050405020304" pitchFamily="18" charset="0"/>
              </a:rPr>
              <a:t>, </a:t>
            </a:r>
            <a:r>
              <a:rPr lang="en-SG" sz="1600" i="1" dirty="0">
                <a:solidFill>
                  <a:schemeClr val="bg1"/>
                </a:solidFill>
                <a:latin typeface="Times New Roman" panose="02020603050405020304" pitchFamily="18" charset="0"/>
                <a:cs typeface="Times New Roman" panose="02020603050405020304" pitchFamily="18" charset="0"/>
              </a:rPr>
              <a:t>101</a:t>
            </a:r>
            <a:r>
              <a:rPr lang="en-SG" sz="1600" dirty="0">
                <a:solidFill>
                  <a:schemeClr val="bg1"/>
                </a:solidFill>
                <a:latin typeface="Times New Roman" panose="02020603050405020304" pitchFamily="18" charset="0"/>
                <a:cs typeface="Times New Roman" panose="02020603050405020304" pitchFamily="18" charset="0"/>
              </a:rPr>
              <a:t>(9), 1034–1045. https://</a:t>
            </a:r>
            <a:r>
              <a:rPr lang="en-SG" sz="1600" dirty="0" err="1">
                <a:solidFill>
                  <a:schemeClr val="bg1"/>
                </a:solidFill>
                <a:latin typeface="Times New Roman" panose="02020603050405020304" pitchFamily="18" charset="0"/>
                <a:cs typeface="Times New Roman" panose="02020603050405020304" pitchFamily="18" charset="0"/>
              </a:rPr>
              <a:t>doi.org</a:t>
            </a:r>
            <a:r>
              <a:rPr lang="en-SG" sz="1600" dirty="0">
                <a:solidFill>
                  <a:schemeClr val="bg1"/>
                </a:solidFill>
                <a:latin typeface="Times New Roman" panose="02020603050405020304" pitchFamily="18" charset="0"/>
                <a:cs typeface="Times New Roman" panose="02020603050405020304" pitchFamily="18" charset="0"/>
              </a:rPr>
              <a:t>/10.1177/00220345221082918</a:t>
            </a:r>
            <a:endParaRPr lang="en-US" sz="1600" dirty="0">
              <a:solidFill>
                <a:schemeClr val="bg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D08B43D6-1E29-C0B1-4676-0CE0A7F0C64E}"/>
              </a:ext>
            </a:extLst>
          </p:cNvPr>
          <p:cNvSpPr txBox="1"/>
          <p:nvPr/>
        </p:nvSpPr>
        <p:spPr>
          <a:xfrm>
            <a:off x="0" y="0"/>
            <a:ext cx="7224889" cy="276999"/>
          </a:xfrm>
          <a:prstGeom prst="rect">
            <a:avLst/>
          </a:prstGeom>
          <a:noFill/>
        </p:spPr>
        <p:txBody>
          <a:bodyPr wrap="square" rtlCol="0">
            <a:spAutoFit/>
          </a:bodyPr>
          <a:lstStyle/>
          <a:p>
            <a:r>
              <a:rPr lang="en-SG" sz="1200" i="1" dirty="0">
                <a:solidFill>
                  <a:schemeClr val="bg1">
                    <a:lumMod val="65000"/>
                  </a:schemeClr>
                </a:solidFill>
                <a:latin typeface="Arial" panose="020B0604020202020204" pitchFamily="34" charset="0"/>
                <a:cs typeface="Arial" panose="020B0604020202020204" pitchFamily="34" charset="0"/>
              </a:rPr>
              <a:t>[Restricted] For workshop participants only, not for distribution.</a:t>
            </a:r>
          </a:p>
        </p:txBody>
      </p:sp>
    </p:spTree>
    <p:extLst>
      <p:ext uri="{BB962C8B-B14F-4D97-AF65-F5344CB8AC3E}">
        <p14:creationId xmlns:p14="http://schemas.microsoft.com/office/powerpoint/2010/main" val="16354648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FF9146B-4CCD-4CDB-AB9C-458005307E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E1FEFA6-7D4F-4746-AE64-D4D52FE76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BF8DA3CF-9D4B-403A-9AD4-BB177DAB6C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 y="685800"/>
            <a:ext cx="10820400" cy="5486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85B467-8696-47E3-883B-CFDC97DC7581}"/>
              </a:ext>
            </a:extLst>
          </p:cNvPr>
          <p:cNvSpPr>
            <a:spLocks noGrp="1"/>
          </p:cNvSpPr>
          <p:nvPr>
            <p:ph type="title"/>
          </p:nvPr>
        </p:nvSpPr>
        <p:spPr>
          <a:xfrm>
            <a:off x="1371599" y="1010097"/>
            <a:ext cx="9486901" cy="1010088"/>
          </a:xfrm>
        </p:spPr>
        <p:txBody>
          <a:bodyPr anchor="b">
            <a:normAutofit/>
          </a:bodyPr>
          <a:lstStyle/>
          <a:p>
            <a:pPr algn="ctr"/>
            <a:r>
              <a:rPr lang="en-SG" dirty="0"/>
              <a:t>Case study - Aim</a:t>
            </a:r>
          </a:p>
        </p:txBody>
      </p:sp>
      <p:sp>
        <p:nvSpPr>
          <p:cNvPr id="3" name="Content Placeholder 2">
            <a:extLst>
              <a:ext uri="{FF2B5EF4-FFF2-40B4-BE49-F238E27FC236}">
                <a16:creationId xmlns:a16="http://schemas.microsoft.com/office/drawing/2014/main" id="{30330FA1-3034-401C-9222-94ADB733BDB6}"/>
              </a:ext>
            </a:extLst>
          </p:cNvPr>
          <p:cNvSpPr>
            <a:spLocks noGrp="1"/>
          </p:cNvSpPr>
          <p:nvPr>
            <p:ph idx="1"/>
          </p:nvPr>
        </p:nvSpPr>
        <p:spPr>
          <a:xfrm>
            <a:off x="1371600" y="2206257"/>
            <a:ext cx="9486901" cy="3540642"/>
          </a:xfrm>
        </p:spPr>
        <p:txBody>
          <a:bodyPr>
            <a:normAutofit/>
          </a:bodyPr>
          <a:lstStyle/>
          <a:p>
            <a:pPr>
              <a:lnSpc>
                <a:spcPct val="90000"/>
              </a:lnSpc>
            </a:pPr>
            <a:r>
              <a:rPr lang="en-US" sz="2200" dirty="0">
                <a:solidFill>
                  <a:schemeClr val="tx1"/>
                </a:solidFill>
                <a:latin typeface="Times-Roman"/>
              </a:rPr>
              <a:t>To assess the influence of socioeconomic status (income) and sugar consumption on dental caries</a:t>
            </a:r>
          </a:p>
        </p:txBody>
      </p:sp>
      <p:sp>
        <p:nvSpPr>
          <p:cNvPr id="15" name="TextBox 14">
            <a:extLst>
              <a:ext uri="{FF2B5EF4-FFF2-40B4-BE49-F238E27FC236}">
                <a16:creationId xmlns:a16="http://schemas.microsoft.com/office/drawing/2014/main" id="{47CE77CF-7E10-BFB5-C1AD-479ABBD52A68}"/>
              </a:ext>
            </a:extLst>
          </p:cNvPr>
          <p:cNvSpPr txBox="1"/>
          <p:nvPr/>
        </p:nvSpPr>
        <p:spPr>
          <a:xfrm>
            <a:off x="0" y="0"/>
            <a:ext cx="7224889" cy="276999"/>
          </a:xfrm>
          <a:prstGeom prst="rect">
            <a:avLst/>
          </a:prstGeom>
          <a:noFill/>
        </p:spPr>
        <p:txBody>
          <a:bodyPr wrap="square" rtlCol="0">
            <a:spAutoFit/>
          </a:bodyPr>
          <a:lstStyle/>
          <a:p>
            <a:r>
              <a:rPr lang="en-SG" sz="1200" i="1" dirty="0">
                <a:solidFill>
                  <a:schemeClr val="bg1">
                    <a:lumMod val="65000"/>
                  </a:schemeClr>
                </a:solidFill>
                <a:latin typeface="Arial" panose="020B0604020202020204" pitchFamily="34" charset="0"/>
                <a:cs typeface="Arial" panose="020B0604020202020204" pitchFamily="34" charset="0"/>
              </a:rPr>
              <a:t>[Restricted] For workshop participants only, not for distribution.</a:t>
            </a:r>
          </a:p>
        </p:txBody>
      </p:sp>
    </p:spTree>
    <p:extLst>
      <p:ext uri="{BB962C8B-B14F-4D97-AF65-F5344CB8AC3E}">
        <p14:creationId xmlns:p14="http://schemas.microsoft.com/office/powerpoint/2010/main" val="20387347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9D17360-3FA5-CB1F-6EF5-C72C1E26C737}"/>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CDF7CF4-4552-C1DD-C65C-43597292F7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80D5580-F1F4-8843-14F2-CEE02221AD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44C51998-541D-2BF4-5204-54AC0A53F9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 y="685800"/>
            <a:ext cx="10820400" cy="5486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6EDCF28-6B8B-2436-5026-A955DD229383}"/>
              </a:ext>
            </a:extLst>
          </p:cNvPr>
          <p:cNvSpPr>
            <a:spLocks noGrp="1"/>
          </p:cNvSpPr>
          <p:nvPr>
            <p:ph type="title"/>
          </p:nvPr>
        </p:nvSpPr>
        <p:spPr>
          <a:xfrm>
            <a:off x="1371599" y="1010097"/>
            <a:ext cx="9486901" cy="1010088"/>
          </a:xfrm>
        </p:spPr>
        <p:txBody>
          <a:bodyPr anchor="b">
            <a:normAutofit/>
          </a:bodyPr>
          <a:lstStyle/>
          <a:p>
            <a:pPr algn="ctr"/>
            <a:r>
              <a:rPr lang="en-SG" dirty="0"/>
              <a:t>Case study - Aim</a:t>
            </a:r>
          </a:p>
        </p:txBody>
      </p:sp>
      <p:sp>
        <p:nvSpPr>
          <p:cNvPr id="9" name="TextBox 8">
            <a:extLst>
              <a:ext uri="{FF2B5EF4-FFF2-40B4-BE49-F238E27FC236}">
                <a16:creationId xmlns:a16="http://schemas.microsoft.com/office/drawing/2014/main" id="{8DAC8B25-D5E6-0268-E927-F136E495A3BB}"/>
              </a:ext>
            </a:extLst>
          </p:cNvPr>
          <p:cNvSpPr txBox="1"/>
          <p:nvPr/>
        </p:nvSpPr>
        <p:spPr>
          <a:xfrm>
            <a:off x="0" y="6251828"/>
            <a:ext cx="12192000" cy="584775"/>
          </a:xfrm>
          <a:prstGeom prst="rect">
            <a:avLst/>
          </a:prstGeom>
          <a:noFill/>
        </p:spPr>
        <p:txBody>
          <a:bodyPr wrap="square">
            <a:spAutoFit/>
          </a:bodyPr>
          <a:lstStyle/>
          <a:p>
            <a:pPr algn="r"/>
            <a:r>
              <a:rPr lang="en-SG" sz="1600" b="0" i="0" u="none" strike="noStrike" dirty="0" err="1">
                <a:solidFill>
                  <a:schemeClr val="bg1"/>
                </a:solidFill>
                <a:effectLst/>
                <a:latin typeface="Times New Roman" panose="02020603050405020304" pitchFamily="18" charset="0"/>
                <a:cs typeface="Times New Roman" panose="02020603050405020304" pitchFamily="18" charset="0"/>
              </a:rPr>
              <a:t>Schwendicke</a:t>
            </a:r>
            <a:r>
              <a:rPr lang="en-SG" sz="1600" b="0" i="0" u="none" strike="noStrike" dirty="0">
                <a:solidFill>
                  <a:schemeClr val="bg1"/>
                </a:solidFill>
                <a:effectLst/>
                <a:latin typeface="Times New Roman" panose="02020603050405020304" pitchFamily="18" charset="0"/>
                <a:cs typeface="Times New Roman" panose="02020603050405020304" pitchFamily="18" charset="0"/>
              </a:rPr>
              <a:t>, F., </a:t>
            </a:r>
            <a:r>
              <a:rPr lang="en-SG" sz="1600" b="0" i="0" u="none" strike="noStrike" dirty="0" err="1">
                <a:solidFill>
                  <a:schemeClr val="bg1"/>
                </a:solidFill>
                <a:effectLst/>
                <a:latin typeface="Times New Roman" panose="02020603050405020304" pitchFamily="18" charset="0"/>
                <a:cs typeface="Times New Roman" panose="02020603050405020304" pitchFamily="18" charset="0"/>
              </a:rPr>
              <a:t>Dörfer</a:t>
            </a:r>
            <a:r>
              <a:rPr lang="en-SG" sz="1600" b="0" i="0" u="none" strike="noStrike" dirty="0">
                <a:solidFill>
                  <a:schemeClr val="bg1"/>
                </a:solidFill>
                <a:effectLst/>
                <a:latin typeface="Times New Roman" panose="02020603050405020304" pitchFamily="18" charset="0"/>
                <a:cs typeface="Times New Roman" panose="02020603050405020304" pitchFamily="18" charset="0"/>
              </a:rPr>
              <a:t>, C. E., Schlattmann, P., Foster Page, L., Thomson, W. M., &amp; Paris, S. (2015). Socioeconomic inequality and caries: a systematic review and meta-analysis. </a:t>
            </a:r>
            <a:r>
              <a:rPr lang="en-SG" sz="1600" b="0" i="1" u="none" strike="noStrike" dirty="0">
                <a:solidFill>
                  <a:schemeClr val="bg1"/>
                </a:solidFill>
                <a:effectLst/>
                <a:latin typeface="Times New Roman" panose="02020603050405020304" pitchFamily="18" charset="0"/>
                <a:cs typeface="Times New Roman" panose="02020603050405020304" pitchFamily="18" charset="0"/>
              </a:rPr>
              <a:t>Journal of dental research</a:t>
            </a:r>
            <a:r>
              <a:rPr lang="en-SG" sz="1600" b="0" i="0" u="none" strike="noStrike" dirty="0">
                <a:solidFill>
                  <a:schemeClr val="bg1"/>
                </a:solidFill>
                <a:effectLst/>
                <a:latin typeface="Times New Roman" panose="02020603050405020304" pitchFamily="18" charset="0"/>
                <a:cs typeface="Times New Roman" panose="02020603050405020304" pitchFamily="18" charset="0"/>
              </a:rPr>
              <a:t>, </a:t>
            </a:r>
            <a:r>
              <a:rPr lang="en-SG" sz="1600" b="0" i="1" u="none" strike="noStrike" dirty="0">
                <a:solidFill>
                  <a:schemeClr val="bg1"/>
                </a:solidFill>
                <a:effectLst/>
                <a:latin typeface="Times New Roman" panose="02020603050405020304" pitchFamily="18" charset="0"/>
                <a:cs typeface="Times New Roman" panose="02020603050405020304" pitchFamily="18" charset="0"/>
              </a:rPr>
              <a:t>94</a:t>
            </a:r>
            <a:r>
              <a:rPr lang="en-SG" sz="1600" b="0" i="0" u="none" strike="noStrike" dirty="0">
                <a:solidFill>
                  <a:schemeClr val="bg1"/>
                </a:solidFill>
                <a:effectLst/>
                <a:latin typeface="Times New Roman" panose="02020603050405020304" pitchFamily="18" charset="0"/>
                <a:cs typeface="Times New Roman" panose="02020603050405020304" pitchFamily="18" charset="0"/>
              </a:rPr>
              <a:t>(1), 10–18. https://</a:t>
            </a:r>
            <a:r>
              <a:rPr lang="en-SG" sz="1600" b="0" i="0" u="none" strike="noStrike" dirty="0" err="1">
                <a:solidFill>
                  <a:schemeClr val="bg1"/>
                </a:solidFill>
                <a:effectLst/>
                <a:latin typeface="Times New Roman" panose="02020603050405020304" pitchFamily="18" charset="0"/>
                <a:cs typeface="Times New Roman" panose="02020603050405020304" pitchFamily="18" charset="0"/>
              </a:rPr>
              <a:t>doi.org</a:t>
            </a:r>
            <a:r>
              <a:rPr lang="en-SG" sz="1600" b="0" i="0" u="none" strike="noStrike" dirty="0">
                <a:solidFill>
                  <a:schemeClr val="bg1"/>
                </a:solidFill>
                <a:effectLst/>
                <a:latin typeface="Times New Roman" panose="02020603050405020304" pitchFamily="18" charset="0"/>
                <a:cs typeface="Times New Roman" panose="02020603050405020304" pitchFamily="18" charset="0"/>
              </a:rPr>
              <a:t>/10.1177/0022034514557546</a:t>
            </a:r>
            <a:endParaRPr lang="en-US" sz="1600" dirty="0">
              <a:solidFill>
                <a:schemeClr val="bg1"/>
              </a:solidFill>
              <a:latin typeface="Times New Roman" panose="02020603050405020304" pitchFamily="18" charset="0"/>
              <a:cs typeface="Times New Roman" panose="02020603050405020304" pitchFamily="18" charset="0"/>
            </a:endParaRPr>
          </a:p>
        </p:txBody>
      </p:sp>
      <p:sp>
        <p:nvSpPr>
          <p:cNvPr id="11" name="Oval 10">
            <a:extLst>
              <a:ext uri="{FF2B5EF4-FFF2-40B4-BE49-F238E27FC236}">
                <a16:creationId xmlns:a16="http://schemas.microsoft.com/office/drawing/2014/main" id="{E1E569F9-4F02-5882-7E68-704CA2F03B03}"/>
              </a:ext>
            </a:extLst>
          </p:cNvPr>
          <p:cNvSpPr/>
          <p:nvPr/>
        </p:nvSpPr>
        <p:spPr>
          <a:xfrm>
            <a:off x="1888958" y="2430379"/>
            <a:ext cx="2442410" cy="11309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800" b="0" i="0" u="none" strike="noStrike" kern="1200" cap="none" spc="0" normalizeH="0" baseline="0" noProof="0" dirty="0">
                <a:ln>
                  <a:noFill/>
                </a:ln>
                <a:solidFill>
                  <a:srgbClr val="FFFFFF"/>
                </a:solidFill>
                <a:effectLst/>
                <a:uLnTx/>
                <a:uFillTx/>
                <a:latin typeface="Gill Sans MT"/>
                <a:ea typeface="+mn-ea"/>
                <a:cs typeface="+mn-cs"/>
              </a:rPr>
              <a:t>Income</a:t>
            </a:r>
          </a:p>
        </p:txBody>
      </p:sp>
      <p:sp>
        <p:nvSpPr>
          <p:cNvPr id="13" name="Oval 12">
            <a:extLst>
              <a:ext uri="{FF2B5EF4-FFF2-40B4-BE49-F238E27FC236}">
                <a16:creationId xmlns:a16="http://schemas.microsoft.com/office/drawing/2014/main" id="{34F6EA27-33D8-385E-04DB-B3B9694B6F4D}"/>
              </a:ext>
            </a:extLst>
          </p:cNvPr>
          <p:cNvSpPr/>
          <p:nvPr/>
        </p:nvSpPr>
        <p:spPr>
          <a:xfrm>
            <a:off x="7497679" y="2453882"/>
            <a:ext cx="2442410" cy="11309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800" b="0" i="0" u="none" strike="noStrike" kern="1200" cap="none" spc="0" normalizeH="0" baseline="0" noProof="0" dirty="0">
                <a:ln>
                  <a:noFill/>
                </a:ln>
                <a:solidFill>
                  <a:srgbClr val="FFFFFF"/>
                </a:solidFill>
                <a:effectLst/>
                <a:uLnTx/>
                <a:uFillTx/>
                <a:latin typeface="Gill Sans MT"/>
                <a:ea typeface="+mn-ea"/>
                <a:cs typeface="+mn-cs"/>
              </a:rPr>
              <a:t>Dental caries (DMFT)</a:t>
            </a:r>
          </a:p>
        </p:txBody>
      </p:sp>
      <p:cxnSp>
        <p:nvCxnSpPr>
          <p:cNvPr id="14" name="Straight Arrow Connector 13">
            <a:extLst>
              <a:ext uri="{FF2B5EF4-FFF2-40B4-BE49-F238E27FC236}">
                <a16:creationId xmlns:a16="http://schemas.microsoft.com/office/drawing/2014/main" id="{5B441347-D15D-77BC-3132-641422A9D1A9}"/>
              </a:ext>
            </a:extLst>
          </p:cNvPr>
          <p:cNvCxnSpPr>
            <a:stCxn id="11" idx="6"/>
            <a:endCxn id="13" idx="2"/>
          </p:cNvCxnSpPr>
          <p:nvPr/>
        </p:nvCxnSpPr>
        <p:spPr>
          <a:xfrm>
            <a:off x="4331368" y="2995863"/>
            <a:ext cx="3166311" cy="2350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8" name="Content Placeholder 17">
            <a:extLst>
              <a:ext uri="{FF2B5EF4-FFF2-40B4-BE49-F238E27FC236}">
                <a16:creationId xmlns:a16="http://schemas.microsoft.com/office/drawing/2014/main" id="{2E8D597C-AE8C-FF30-D113-F723798C0B0F}"/>
              </a:ext>
            </a:extLst>
          </p:cNvPr>
          <p:cNvSpPr>
            <a:spLocks noGrp="1"/>
          </p:cNvSpPr>
          <p:nvPr>
            <p:ph idx="1"/>
          </p:nvPr>
        </p:nvSpPr>
        <p:spPr>
          <a:xfrm>
            <a:off x="1371599" y="4457783"/>
            <a:ext cx="9486901" cy="1714417"/>
          </a:xfrm>
        </p:spPr>
        <p:txBody>
          <a:bodyPr/>
          <a:lstStyle/>
          <a:p>
            <a:r>
              <a:rPr lang="en-US" dirty="0">
                <a:solidFill>
                  <a:srgbClr val="000000"/>
                </a:solidFill>
                <a:latin typeface="Times-Roman"/>
              </a:rPr>
              <a:t>DMFT is higher in those with lower income (</a:t>
            </a:r>
            <a:r>
              <a:rPr lang="en-US" dirty="0" err="1">
                <a:solidFill>
                  <a:srgbClr val="000000"/>
                </a:solidFill>
                <a:latin typeface="Times-Roman"/>
              </a:rPr>
              <a:t>Schwendicke</a:t>
            </a:r>
            <a:r>
              <a:rPr lang="en-US" dirty="0">
                <a:solidFill>
                  <a:srgbClr val="000000"/>
                </a:solidFill>
                <a:latin typeface="Times-Roman"/>
              </a:rPr>
              <a:t> et al 2015)</a:t>
            </a:r>
          </a:p>
        </p:txBody>
      </p:sp>
      <p:sp>
        <p:nvSpPr>
          <p:cNvPr id="19" name="TextBox 18">
            <a:extLst>
              <a:ext uri="{FF2B5EF4-FFF2-40B4-BE49-F238E27FC236}">
                <a16:creationId xmlns:a16="http://schemas.microsoft.com/office/drawing/2014/main" id="{9C7EB46B-A889-5986-AE85-7FC5F5BE5A69}"/>
              </a:ext>
            </a:extLst>
          </p:cNvPr>
          <p:cNvSpPr txBox="1"/>
          <p:nvPr/>
        </p:nvSpPr>
        <p:spPr>
          <a:xfrm>
            <a:off x="0" y="0"/>
            <a:ext cx="7224889" cy="276999"/>
          </a:xfrm>
          <a:prstGeom prst="rect">
            <a:avLst/>
          </a:prstGeom>
          <a:noFill/>
        </p:spPr>
        <p:txBody>
          <a:bodyPr wrap="square" rtlCol="0">
            <a:spAutoFit/>
          </a:bodyPr>
          <a:lstStyle/>
          <a:p>
            <a:r>
              <a:rPr lang="en-SG" sz="1200" i="1" dirty="0">
                <a:solidFill>
                  <a:schemeClr val="bg1">
                    <a:lumMod val="65000"/>
                  </a:schemeClr>
                </a:solidFill>
                <a:latin typeface="Arial" panose="020B0604020202020204" pitchFamily="34" charset="0"/>
                <a:cs typeface="Arial" panose="020B0604020202020204" pitchFamily="34" charset="0"/>
              </a:rPr>
              <a:t>[Restricted] For workshop participants only, not for distribution.</a:t>
            </a:r>
          </a:p>
        </p:txBody>
      </p:sp>
    </p:spTree>
    <p:extLst>
      <p:ext uri="{BB962C8B-B14F-4D97-AF65-F5344CB8AC3E}">
        <p14:creationId xmlns:p14="http://schemas.microsoft.com/office/powerpoint/2010/main" val="37228375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FF9146B-4CCD-4CDB-AB9C-458005307E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ill Sans MT"/>
              <a:ea typeface="+mn-ea"/>
              <a:cs typeface="+mn-cs"/>
            </a:endParaRPr>
          </a:p>
        </p:txBody>
      </p:sp>
      <p:sp>
        <p:nvSpPr>
          <p:cNvPr id="10" name="Rectangle 9">
            <a:extLst>
              <a:ext uri="{FF2B5EF4-FFF2-40B4-BE49-F238E27FC236}">
                <a16:creationId xmlns:a16="http://schemas.microsoft.com/office/drawing/2014/main" id="{5E1FEFA6-7D4F-4746-AE64-D4D52FE76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ill Sans MT"/>
              <a:ea typeface="+mn-ea"/>
              <a:cs typeface="+mn-cs"/>
            </a:endParaRPr>
          </a:p>
        </p:txBody>
      </p:sp>
      <p:sp useBgFill="1">
        <p:nvSpPr>
          <p:cNvPr id="12" name="Rectangle 11">
            <a:extLst>
              <a:ext uri="{FF2B5EF4-FFF2-40B4-BE49-F238E27FC236}">
                <a16:creationId xmlns:a16="http://schemas.microsoft.com/office/drawing/2014/main" id="{BF8DA3CF-9D4B-403A-9AD4-BB177DAB6C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 y="685800"/>
            <a:ext cx="10820400" cy="5486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ill Sans MT"/>
              <a:ea typeface="+mn-ea"/>
              <a:cs typeface="+mn-cs"/>
            </a:endParaRPr>
          </a:p>
        </p:txBody>
      </p:sp>
      <p:sp>
        <p:nvSpPr>
          <p:cNvPr id="2" name="Title 1">
            <a:extLst>
              <a:ext uri="{FF2B5EF4-FFF2-40B4-BE49-F238E27FC236}">
                <a16:creationId xmlns:a16="http://schemas.microsoft.com/office/drawing/2014/main" id="{8B85B467-8696-47E3-883B-CFDC97DC7581}"/>
              </a:ext>
            </a:extLst>
          </p:cNvPr>
          <p:cNvSpPr>
            <a:spLocks noGrp="1"/>
          </p:cNvSpPr>
          <p:nvPr>
            <p:ph type="title"/>
          </p:nvPr>
        </p:nvSpPr>
        <p:spPr>
          <a:xfrm>
            <a:off x="1371599" y="1010097"/>
            <a:ext cx="9486901" cy="1010088"/>
          </a:xfrm>
        </p:spPr>
        <p:txBody>
          <a:bodyPr anchor="b">
            <a:normAutofit/>
          </a:bodyPr>
          <a:lstStyle/>
          <a:p>
            <a:pPr algn="ctr"/>
            <a:r>
              <a:rPr lang="en-SG" dirty="0"/>
              <a:t>Case study - Aim</a:t>
            </a:r>
          </a:p>
        </p:txBody>
      </p:sp>
      <p:sp>
        <p:nvSpPr>
          <p:cNvPr id="4" name="Oval 3">
            <a:extLst>
              <a:ext uri="{FF2B5EF4-FFF2-40B4-BE49-F238E27FC236}">
                <a16:creationId xmlns:a16="http://schemas.microsoft.com/office/drawing/2014/main" id="{D0A8F45B-CF84-020B-DCB8-3C2539A736BC}"/>
              </a:ext>
            </a:extLst>
          </p:cNvPr>
          <p:cNvSpPr/>
          <p:nvPr/>
        </p:nvSpPr>
        <p:spPr>
          <a:xfrm>
            <a:off x="1888958" y="2430379"/>
            <a:ext cx="2442410" cy="11309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800" b="0" i="0" u="none" strike="noStrike" kern="1200" cap="none" spc="0" normalizeH="0" baseline="0" noProof="0" dirty="0">
                <a:ln>
                  <a:noFill/>
                </a:ln>
                <a:solidFill>
                  <a:srgbClr val="FFFFFF"/>
                </a:solidFill>
                <a:effectLst/>
                <a:uLnTx/>
                <a:uFillTx/>
                <a:latin typeface="Gill Sans MT"/>
                <a:ea typeface="+mn-ea"/>
                <a:cs typeface="+mn-cs"/>
              </a:rPr>
              <a:t>Income</a:t>
            </a:r>
          </a:p>
        </p:txBody>
      </p:sp>
      <p:sp>
        <p:nvSpPr>
          <p:cNvPr id="9" name="Oval 8">
            <a:extLst>
              <a:ext uri="{FF2B5EF4-FFF2-40B4-BE49-F238E27FC236}">
                <a16:creationId xmlns:a16="http://schemas.microsoft.com/office/drawing/2014/main" id="{2DDE4F6D-F8DD-1935-46B6-4C6A3AE215A7}"/>
              </a:ext>
            </a:extLst>
          </p:cNvPr>
          <p:cNvSpPr/>
          <p:nvPr/>
        </p:nvSpPr>
        <p:spPr>
          <a:xfrm>
            <a:off x="7497679" y="2453882"/>
            <a:ext cx="2442410" cy="11309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800" b="0" i="0" u="none" strike="noStrike" kern="1200" cap="none" spc="0" normalizeH="0" baseline="0" noProof="0" dirty="0">
                <a:ln>
                  <a:noFill/>
                </a:ln>
                <a:solidFill>
                  <a:srgbClr val="FFFFFF"/>
                </a:solidFill>
                <a:effectLst/>
                <a:uLnTx/>
                <a:uFillTx/>
                <a:latin typeface="Gill Sans MT"/>
                <a:ea typeface="+mn-ea"/>
                <a:cs typeface="+mn-cs"/>
              </a:rPr>
              <a:t>Dental caries (DMFT)</a:t>
            </a:r>
          </a:p>
        </p:txBody>
      </p:sp>
      <p:cxnSp>
        <p:nvCxnSpPr>
          <p:cNvPr id="6" name="Straight Arrow Connector 5">
            <a:extLst>
              <a:ext uri="{FF2B5EF4-FFF2-40B4-BE49-F238E27FC236}">
                <a16:creationId xmlns:a16="http://schemas.microsoft.com/office/drawing/2014/main" id="{DF70EACB-E29C-4BBA-71DC-BE120580756C}"/>
              </a:ext>
            </a:extLst>
          </p:cNvPr>
          <p:cNvCxnSpPr>
            <a:stCxn id="4" idx="6"/>
            <a:endCxn id="9" idx="2"/>
          </p:cNvCxnSpPr>
          <p:nvPr/>
        </p:nvCxnSpPr>
        <p:spPr>
          <a:xfrm>
            <a:off x="4331368" y="2995863"/>
            <a:ext cx="3166311" cy="2350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2628C9E4-F67C-1AC9-7860-E7849DCDF385}"/>
              </a:ext>
            </a:extLst>
          </p:cNvPr>
          <p:cNvSpPr/>
          <p:nvPr/>
        </p:nvSpPr>
        <p:spPr>
          <a:xfrm>
            <a:off x="4642436" y="3371649"/>
            <a:ext cx="2442410" cy="11309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800" b="0" i="0" u="none" strike="noStrike" kern="1200" cap="none" spc="0" normalizeH="0" baseline="0" noProof="0" dirty="0">
                <a:ln>
                  <a:noFill/>
                </a:ln>
                <a:solidFill>
                  <a:srgbClr val="FFFFFF"/>
                </a:solidFill>
                <a:effectLst/>
                <a:uLnTx/>
                <a:uFillTx/>
                <a:latin typeface="Gill Sans MT"/>
                <a:ea typeface="+mn-ea"/>
                <a:cs typeface="+mn-cs"/>
              </a:rPr>
              <a:t>Sugar</a:t>
            </a:r>
            <a:r>
              <a:rPr kumimoji="0" lang="en-SG" sz="1800" b="0" i="0" u="none" strike="noStrike" kern="1200" cap="none" spc="0" normalizeH="0" noProof="0" dirty="0">
                <a:ln>
                  <a:noFill/>
                </a:ln>
                <a:solidFill>
                  <a:srgbClr val="FFFFFF"/>
                </a:solidFill>
                <a:effectLst/>
                <a:uLnTx/>
                <a:uFillTx/>
                <a:latin typeface="Gill Sans MT"/>
                <a:ea typeface="+mn-ea"/>
                <a:cs typeface="+mn-cs"/>
              </a:rPr>
              <a:t> consumption</a:t>
            </a:r>
            <a:endParaRPr kumimoji="0" lang="en-SG" sz="1800" b="0" i="0" u="none" strike="noStrike" kern="1200" cap="none" spc="0" normalizeH="0" baseline="0" noProof="0" dirty="0">
              <a:ln>
                <a:noFill/>
              </a:ln>
              <a:solidFill>
                <a:srgbClr val="FFFFFF"/>
              </a:solidFill>
              <a:effectLst/>
              <a:uLnTx/>
              <a:uFillTx/>
              <a:latin typeface="Gill Sans MT"/>
              <a:ea typeface="+mn-ea"/>
              <a:cs typeface="+mn-cs"/>
            </a:endParaRPr>
          </a:p>
        </p:txBody>
      </p:sp>
      <p:cxnSp>
        <p:nvCxnSpPr>
          <p:cNvPr id="14" name="Straight Arrow Connector 13">
            <a:extLst>
              <a:ext uri="{FF2B5EF4-FFF2-40B4-BE49-F238E27FC236}">
                <a16:creationId xmlns:a16="http://schemas.microsoft.com/office/drawing/2014/main" id="{0236756F-E6CE-F845-FDD0-18530D9073EA}"/>
              </a:ext>
            </a:extLst>
          </p:cNvPr>
          <p:cNvCxnSpPr>
            <a:cxnSpLocks/>
            <a:endCxn id="13" idx="2"/>
          </p:cNvCxnSpPr>
          <p:nvPr/>
        </p:nvCxnSpPr>
        <p:spPr>
          <a:xfrm>
            <a:off x="3681663" y="3429000"/>
            <a:ext cx="960773" cy="50813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0670553B-0DD9-0E3D-09A0-D249FFF565DC}"/>
              </a:ext>
            </a:extLst>
          </p:cNvPr>
          <p:cNvCxnSpPr>
            <a:cxnSpLocks/>
            <a:stCxn id="13" idx="6"/>
          </p:cNvCxnSpPr>
          <p:nvPr/>
        </p:nvCxnSpPr>
        <p:spPr>
          <a:xfrm flipV="1">
            <a:off x="7084846" y="3458801"/>
            <a:ext cx="864518" cy="478332"/>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2A7A6186-62E3-32A1-C6A3-C782DBF24EFB}"/>
              </a:ext>
            </a:extLst>
          </p:cNvPr>
          <p:cNvSpPr txBox="1"/>
          <p:nvPr/>
        </p:nvSpPr>
        <p:spPr>
          <a:xfrm>
            <a:off x="4380997" y="3516307"/>
            <a:ext cx="32485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SG" sz="1800" b="0" i="0" u="none" strike="noStrike" kern="1200" cap="none" spc="0" normalizeH="0" baseline="0" noProof="0" dirty="0">
                <a:ln>
                  <a:noFill/>
                </a:ln>
                <a:solidFill>
                  <a:srgbClr val="000000"/>
                </a:solidFill>
                <a:effectLst/>
                <a:uLnTx/>
                <a:uFillTx/>
                <a:latin typeface="Gill Sans MT"/>
                <a:ea typeface="+mn-ea"/>
                <a:cs typeface="+mn-cs"/>
              </a:rPr>
              <a:t>?</a:t>
            </a:r>
          </a:p>
        </p:txBody>
      </p:sp>
      <p:sp>
        <p:nvSpPr>
          <p:cNvPr id="15" name="TextBox 14">
            <a:extLst>
              <a:ext uri="{FF2B5EF4-FFF2-40B4-BE49-F238E27FC236}">
                <a16:creationId xmlns:a16="http://schemas.microsoft.com/office/drawing/2014/main" id="{E69C3E26-8F87-BA1F-26DD-5F59EBE3FE07}"/>
              </a:ext>
            </a:extLst>
          </p:cNvPr>
          <p:cNvSpPr txBox="1"/>
          <p:nvPr/>
        </p:nvSpPr>
        <p:spPr>
          <a:xfrm>
            <a:off x="7197390" y="3445384"/>
            <a:ext cx="32485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SG" sz="1800" b="0" i="0" u="none" strike="noStrike" kern="1200" cap="none" spc="0" normalizeH="0" baseline="0" noProof="0" dirty="0">
                <a:ln>
                  <a:noFill/>
                </a:ln>
                <a:solidFill>
                  <a:srgbClr val="000000"/>
                </a:solidFill>
                <a:effectLst/>
                <a:uLnTx/>
                <a:uFillTx/>
                <a:latin typeface="Gill Sans MT"/>
                <a:ea typeface="+mn-ea"/>
                <a:cs typeface="+mn-cs"/>
              </a:rPr>
              <a:t>?</a:t>
            </a:r>
          </a:p>
        </p:txBody>
      </p:sp>
      <p:sp>
        <p:nvSpPr>
          <p:cNvPr id="17" name="TextBox 16">
            <a:extLst>
              <a:ext uri="{FF2B5EF4-FFF2-40B4-BE49-F238E27FC236}">
                <a16:creationId xmlns:a16="http://schemas.microsoft.com/office/drawing/2014/main" id="{58B83D03-12AD-B6DB-26C7-EB0AD93CF390}"/>
              </a:ext>
            </a:extLst>
          </p:cNvPr>
          <p:cNvSpPr txBox="1"/>
          <p:nvPr/>
        </p:nvSpPr>
        <p:spPr>
          <a:xfrm>
            <a:off x="5793205" y="2583924"/>
            <a:ext cx="32485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SG" sz="1800" b="0" i="0" u="none" strike="noStrike" kern="1200" cap="none" spc="0" normalizeH="0" baseline="0" noProof="0" dirty="0">
                <a:ln>
                  <a:noFill/>
                </a:ln>
                <a:solidFill>
                  <a:srgbClr val="000000"/>
                </a:solidFill>
                <a:effectLst/>
                <a:uLnTx/>
                <a:uFillTx/>
                <a:latin typeface="Gill Sans MT"/>
                <a:ea typeface="+mn-ea"/>
                <a:cs typeface="+mn-cs"/>
              </a:rPr>
              <a:t>?</a:t>
            </a:r>
          </a:p>
        </p:txBody>
      </p:sp>
      <p:sp>
        <p:nvSpPr>
          <p:cNvPr id="3" name="Content Placeholder 4">
            <a:extLst>
              <a:ext uri="{FF2B5EF4-FFF2-40B4-BE49-F238E27FC236}">
                <a16:creationId xmlns:a16="http://schemas.microsoft.com/office/drawing/2014/main" id="{F1BAFF6F-493E-6480-FE6F-0E2358915530}"/>
              </a:ext>
            </a:extLst>
          </p:cNvPr>
          <p:cNvSpPr>
            <a:spLocks noGrp="1"/>
          </p:cNvSpPr>
          <p:nvPr>
            <p:ph idx="1"/>
          </p:nvPr>
        </p:nvSpPr>
        <p:spPr>
          <a:xfrm>
            <a:off x="838200" y="5159854"/>
            <a:ext cx="10515599" cy="306864"/>
          </a:xfrm>
        </p:spPr>
        <p:txBody>
          <a:bodyPr anchor="ctr">
            <a:noAutofit/>
          </a:bodyPr>
          <a:lstStyle/>
          <a:p>
            <a:r>
              <a:rPr lang="en-US" sz="2200" dirty="0">
                <a:latin typeface="Times New Roman" panose="02020603050405020304" pitchFamily="18" charset="0"/>
                <a:cs typeface="Times New Roman" panose="02020603050405020304" pitchFamily="18" charset="0"/>
              </a:rPr>
              <a:t>Potential outcomes framework (Holland 1986, Rubin 2005)</a:t>
            </a:r>
          </a:p>
          <a:p>
            <a:r>
              <a:rPr lang="en-SG" sz="2200" i="1" dirty="0">
                <a:latin typeface="Times New Roman" panose="02020603050405020304" pitchFamily="18" charset="0"/>
                <a:cs typeface="Times New Roman" panose="02020603050405020304" pitchFamily="18" charset="0"/>
              </a:rPr>
              <a:t>Y</a:t>
            </a:r>
            <a:r>
              <a:rPr lang="en-SG" sz="2200" i="1" baseline="-25000" dirty="0">
                <a:latin typeface="Times New Roman" panose="02020603050405020304" pitchFamily="18" charset="0"/>
                <a:cs typeface="Times New Roman" panose="02020603050405020304" pitchFamily="18" charset="0"/>
              </a:rPr>
              <a:t>i</a:t>
            </a:r>
            <a:r>
              <a:rPr lang="en-SG" sz="2200" dirty="0">
                <a:latin typeface="Times New Roman" panose="02020603050405020304" pitchFamily="18" charset="0"/>
                <a:cs typeface="Times New Roman" panose="02020603050405020304" pitchFamily="18" charset="0"/>
              </a:rPr>
              <a:t>(1) – </a:t>
            </a:r>
            <a:r>
              <a:rPr lang="en-SG" sz="2200" i="1" dirty="0">
                <a:latin typeface="Times New Roman" panose="02020603050405020304" pitchFamily="18" charset="0"/>
                <a:cs typeface="Times New Roman" panose="02020603050405020304" pitchFamily="18" charset="0"/>
              </a:rPr>
              <a:t>Y</a:t>
            </a:r>
            <a:r>
              <a:rPr lang="en-SG" sz="2200" i="1" baseline="-25000" dirty="0">
                <a:latin typeface="Times New Roman" panose="02020603050405020304" pitchFamily="18" charset="0"/>
                <a:cs typeface="Times New Roman" panose="02020603050405020304" pitchFamily="18" charset="0"/>
              </a:rPr>
              <a:t>i</a:t>
            </a:r>
            <a:r>
              <a:rPr lang="en-SG" sz="2200" dirty="0">
                <a:latin typeface="Times New Roman" panose="02020603050405020304" pitchFamily="18" charset="0"/>
                <a:cs typeface="Times New Roman" panose="02020603050405020304" pitchFamily="18" charset="0"/>
              </a:rPr>
              <a:t>(0), but one outcome will not be observed</a:t>
            </a:r>
          </a:p>
          <a:p>
            <a:r>
              <a:rPr lang="en-SG" sz="2200" dirty="0">
                <a:latin typeface="Times New Roman" panose="02020603050405020304" pitchFamily="18" charset="0"/>
                <a:cs typeface="Times New Roman" panose="02020603050405020304" pitchFamily="18" charset="0"/>
              </a:rPr>
              <a:t>Causal treatment effect estimated at average level</a:t>
            </a:r>
          </a:p>
        </p:txBody>
      </p:sp>
      <p:sp>
        <p:nvSpPr>
          <p:cNvPr id="19" name="TextBox 18">
            <a:extLst>
              <a:ext uri="{FF2B5EF4-FFF2-40B4-BE49-F238E27FC236}">
                <a16:creationId xmlns:a16="http://schemas.microsoft.com/office/drawing/2014/main" id="{8CF5F639-0360-BA91-F91F-BB1C09AB8D4B}"/>
              </a:ext>
            </a:extLst>
          </p:cNvPr>
          <p:cNvSpPr txBox="1"/>
          <p:nvPr/>
        </p:nvSpPr>
        <p:spPr>
          <a:xfrm>
            <a:off x="-808073" y="6270396"/>
            <a:ext cx="13000074" cy="584775"/>
          </a:xfrm>
          <a:prstGeom prst="rect">
            <a:avLst/>
          </a:prstGeom>
          <a:noFill/>
        </p:spPr>
        <p:txBody>
          <a:bodyPr wrap="square">
            <a:spAutoFit/>
          </a:bodyPr>
          <a:lstStyle/>
          <a:p>
            <a:pPr algn="r"/>
            <a:r>
              <a:rPr lang="en-SG" sz="1600" b="0" i="0" u="none" strike="noStrike" dirty="0">
                <a:solidFill>
                  <a:schemeClr val="bg1"/>
                </a:solidFill>
                <a:effectLst/>
                <a:latin typeface="Times New Roman" panose="02020603050405020304" pitchFamily="18" charset="0"/>
                <a:cs typeface="Times New Roman" panose="02020603050405020304" pitchFamily="18" charset="0"/>
              </a:rPr>
              <a:t>Holland, P. W. (1986). Statistics and causal inference. </a:t>
            </a:r>
            <a:r>
              <a:rPr lang="en-SG" sz="1600" b="0" i="1" u="none" strike="noStrike" dirty="0">
                <a:solidFill>
                  <a:schemeClr val="bg1"/>
                </a:solidFill>
                <a:effectLst/>
                <a:latin typeface="Times New Roman" panose="02020603050405020304" pitchFamily="18" charset="0"/>
                <a:cs typeface="Times New Roman" panose="02020603050405020304" pitchFamily="18" charset="0"/>
              </a:rPr>
              <a:t>Journal of the American statistical Association</a:t>
            </a:r>
            <a:r>
              <a:rPr lang="en-SG" sz="1600" b="0" i="0" u="none" strike="noStrike" dirty="0">
                <a:solidFill>
                  <a:schemeClr val="bg1"/>
                </a:solidFill>
                <a:effectLst/>
                <a:latin typeface="Times New Roman" panose="02020603050405020304" pitchFamily="18" charset="0"/>
                <a:cs typeface="Times New Roman" panose="02020603050405020304" pitchFamily="18" charset="0"/>
              </a:rPr>
              <a:t>, </a:t>
            </a:r>
            <a:r>
              <a:rPr lang="en-SG" sz="1600" b="0" i="1" u="none" strike="noStrike" dirty="0">
                <a:solidFill>
                  <a:schemeClr val="bg1"/>
                </a:solidFill>
                <a:effectLst/>
                <a:latin typeface="Times New Roman" panose="02020603050405020304" pitchFamily="18" charset="0"/>
                <a:cs typeface="Times New Roman" panose="02020603050405020304" pitchFamily="18" charset="0"/>
              </a:rPr>
              <a:t>81</a:t>
            </a:r>
            <a:r>
              <a:rPr lang="en-SG" sz="1600" b="0" i="0" u="none" strike="noStrike" dirty="0">
                <a:solidFill>
                  <a:schemeClr val="bg1"/>
                </a:solidFill>
                <a:effectLst/>
                <a:latin typeface="Times New Roman" panose="02020603050405020304" pitchFamily="18" charset="0"/>
                <a:cs typeface="Times New Roman" panose="02020603050405020304" pitchFamily="18" charset="0"/>
              </a:rPr>
              <a:t>(396), 945-960.</a:t>
            </a:r>
          </a:p>
          <a:p>
            <a:pPr algn="r"/>
            <a:r>
              <a:rPr lang="en-SG" sz="1600" dirty="0">
                <a:solidFill>
                  <a:schemeClr val="bg1"/>
                </a:solidFill>
                <a:latin typeface="Times New Roman" panose="02020603050405020304" pitchFamily="18" charset="0"/>
                <a:cs typeface="Times New Roman" panose="02020603050405020304" pitchFamily="18" charset="0"/>
              </a:rPr>
              <a:t>Rubin, D. B. (2005). Causal inference using potential outcomes: Design, </a:t>
            </a:r>
            <a:r>
              <a:rPr lang="en-SG" sz="1600" dirty="0" err="1">
                <a:solidFill>
                  <a:schemeClr val="bg1"/>
                </a:solidFill>
                <a:latin typeface="Times New Roman" panose="02020603050405020304" pitchFamily="18" charset="0"/>
                <a:cs typeface="Times New Roman" panose="02020603050405020304" pitchFamily="18" charset="0"/>
              </a:rPr>
              <a:t>modeling</a:t>
            </a:r>
            <a:r>
              <a:rPr lang="en-SG" sz="1600" dirty="0">
                <a:solidFill>
                  <a:schemeClr val="bg1"/>
                </a:solidFill>
                <a:latin typeface="Times New Roman" panose="02020603050405020304" pitchFamily="18" charset="0"/>
                <a:cs typeface="Times New Roman" panose="02020603050405020304" pitchFamily="18" charset="0"/>
              </a:rPr>
              <a:t>, decisions. </a:t>
            </a:r>
            <a:r>
              <a:rPr lang="en-SG" sz="1600" i="1" dirty="0">
                <a:solidFill>
                  <a:schemeClr val="bg1"/>
                </a:solidFill>
                <a:latin typeface="Times New Roman" panose="02020603050405020304" pitchFamily="18" charset="0"/>
                <a:cs typeface="Times New Roman" panose="02020603050405020304" pitchFamily="18" charset="0"/>
              </a:rPr>
              <a:t>Journal of the American statistical Association</a:t>
            </a:r>
            <a:endParaRPr lang="en-US" sz="1600" dirty="0">
              <a:solidFill>
                <a:schemeClr val="bg1"/>
              </a:solidFill>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BC08EFFF-65EB-3E11-764C-3CACB58BFA64}"/>
              </a:ext>
            </a:extLst>
          </p:cNvPr>
          <p:cNvSpPr txBox="1"/>
          <p:nvPr/>
        </p:nvSpPr>
        <p:spPr>
          <a:xfrm>
            <a:off x="0" y="0"/>
            <a:ext cx="7224889" cy="276999"/>
          </a:xfrm>
          <a:prstGeom prst="rect">
            <a:avLst/>
          </a:prstGeom>
          <a:noFill/>
        </p:spPr>
        <p:txBody>
          <a:bodyPr wrap="square" rtlCol="0">
            <a:spAutoFit/>
          </a:bodyPr>
          <a:lstStyle/>
          <a:p>
            <a:r>
              <a:rPr lang="en-SG" sz="1200" i="1" dirty="0">
                <a:solidFill>
                  <a:schemeClr val="bg1">
                    <a:lumMod val="65000"/>
                  </a:schemeClr>
                </a:solidFill>
                <a:latin typeface="Arial" panose="020B0604020202020204" pitchFamily="34" charset="0"/>
                <a:cs typeface="Arial" panose="020B0604020202020204" pitchFamily="34" charset="0"/>
              </a:rPr>
              <a:t>[Restricted] For workshop participants only, not for distribution.</a:t>
            </a:r>
          </a:p>
        </p:txBody>
      </p:sp>
    </p:spTree>
    <p:extLst>
      <p:ext uri="{BB962C8B-B14F-4D97-AF65-F5344CB8AC3E}">
        <p14:creationId xmlns:p14="http://schemas.microsoft.com/office/powerpoint/2010/main" val="2465510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0" end="0"/>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1" end="1"/>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5" grpId="0"/>
      <p:bldP spid="15" grpId="0"/>
      <p:bldP spid="17" grpId="0"/>
      <p:bldP spid="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9CC531A-37EB-259C-54D2-F6C83E866918}"/>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556DDF3-6FDD-6DFF-27D3-380FAEFD78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40F7AA91-906F-5CF5-575E-6A71578937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99DAD5A3-C4BD-2E58-53AC-408FEDF3B8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 y="685800"/>
            <a:ext cx="10820400" cy="5486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3D3D85D-A69E-609C-C005-06482812FAFC}"/>
              </a:ext>
            </a:extLst>
          </p:cNvPr>
          <p:cNvSpPr>
            <a:spLocks noGrp="1"/>
          </p:cNvSpPr>
          <p:nvPr>
            <p:ph type="title"/>
          </p:nvPr>
        </p:nvSpPr>
        <p:spPr>
          <a:xfrm>
            <a:off x="1371599" y="1010097"/>
            <a:ext cx="9486901" cy="1010088"/>
          </a:xfrm>
        </p:spPr>
        <p:txBody>
          <a:bodyPr anchor="b">
            <a:normAutofit/>
          </a:bodyPr>
          <a:lstStyle/>
          <a:p>
            <a:pPr algn="ctr"/>
            <a:r>
              <a:rPr lang="en-SG" dirty="0"/>
              <a:t>WHY CAUSAL MEDIATION?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C4EF96E6-8CBD-8D6C-711F-A10B121A7C3E}"/>
                  </a:ext>
                </a:extLst>
              </p:cNvPr>
              <p:cNvSpPr>
                <a:spLocks noGrp="1"/>
              </p:cNvSpPr>
              <p:nvPr>
                <p:ph idx="1"/>
              </p:nvPr>
            </p:nvSpPr>
            <p:spPr>
              <a:xfrm>
                <a:off x="1371600" y="2206257"/>
                <a:ext cx="9486901" cy="3540642"/>
              </a:xfrm>
            </p:spPr>
            <p:txBody>
              <a:bodyPr>
                <a:normAutofit/>
              </a:bodyPr>
              <a:lstStyle/>
              <a:p>
                <a:r>
                  <a:rPr lang="en-SG" dirty="0">
                    <a:solidFill>
                      <a:schemeClr val="tx1"/>
                    </a:solidFill>
                    <a:latin typeface="Times New Roman" panose="02020603050405020304" pitchFamily="18" charset="0"/>
                    <a:cs typeface="Times New Roman" panose="02020603050405020304" pitchFamily="18" charset="0"/>
                  </a:rPr>
                  <a:t>Goes beyond “does </a:t>
                </a:r>
                <a14:m>
                  <m:oMath xmlns:m="http://schemas.openxmlformats.org/officeDocument/2006/math">
                    <m:r>
                      <a:rPr lang="en-SG" i="1">
                        <a:solidFill>
                          <a:schemeClr val="tx1"/>
                        </a:solidFill>
                        <a:latin typeface="Cambria Math" panose="02040503050406030204" pitchFamily="18" charset="0"/>
                      </a:rPr>
                      <m:t>𝑋</m:t>
                    </m:r>
                  </m:oMath>
                </a14:m>
                <a:r>
                  <a:rPr lang="en-SG" dirty="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r>
                      <a:rPr lang="en-US" i="1">
                        <a:solidFill>
                          <a:schemeClr val="tx1"/>
                        </a:solidFill>
                        <a:latin typeface="Cambria Math" panose="02040503050406030204" pitchFamily="18" charset="0"/>
                      </a:rPr>
                      <m:t>(</m:t>
                    </m:r>
                    <m:r>
                      <a:rPr lang="en-US" i="1">
                        <a:solidFill>
                          <a:schemeClr val="tx1"/>
                        </a:solidFill>
                        <a:latin typeface="Cambria Math" panose="02040503050406030204" pitchFamily="18" charset="0"/>
                      </a:rPr>
                      <m:t>𝑖𝑛𝑐𝑜𝑚𝑒</m:t>
                    </m:r>
                    <m:r>
                      <a:rPr lang="en-US" i="1">
                        <a:solidFill>
                          <a:schemeClr val="tx1"/>
                        </a:solidFill>
                        <a:latin typeface="Cambria Math" panose="02040503050406030204" pitchFamily="18" charset="0"/>
                      </a:rPr>
                      <m:t>) </m:t>
                    </m:r>
                  </m:oMath>
                </a14:m>
                <a:r>
                  <a:rPr lang="en-SG" dirty="0">
                    <a:solidFill>
                      <a:schemeClr val="tx1"/>
                    </a:solidFill>
                    <a:latin typeface="Times New Roman" panose="02020603050405020304" pitchFamily="18" charset="0"/>
                    <a:cs typeface="Times New Roman" panose="02020603050405020304" pitchFamily="18" charset="0"/>
                  </a:rPr>
                  <a:t>affect </a:t>
                </a:r>
                <a14:m>
                  <m:oMath xmlns:m="http://schemas.openxmlformats.org/officeDocument/2006/math">
                    <m:r>
                      <a:rPr lang="en-SG" i="1">
                        <a:solidFill>
                          <a:schemeClr val="tx1"/>
                        </a:solidFill>
                        <a:latin typeface="Cambria Math" panose="02040503050406030204" pitchFamily="18" charset="0"/>
                      </a:rPr>
                      <m:t>𝑌</m:t>
                    </m:r>
                    <m:r>
                      <a:rPr lang="en-US" b="0" i="1" smtClean="0">
                        <a:solidFill>
                          <a:schemeClr val="tx1"/>
                        </a:solidFill>
                        <a:latin typeface="Cambria Math" panose="02040503050406030204" pitchFamily="18" charset="0"/>
                      </a:rPr>
                      <m:t> (</m:t>
                    </m:r>
                  </m:oMath>
                </a14:m>
                <a:r>
                  <a:rPr lang="en-SG" i="1" dirty="0">
                    <a:solidFill>
                      <a:schemeClr val="tx1"/>
                    </a:solidFill>
                    <a:latin typeface="Times New Roman" panose="02020603050405020304" pitchFamily="18" charset="0"/>
                    <a:cs typeface="Times New Roman" panose="02020603050405020304" pitchFamily="18" charset="0"/>
                  </a:rPr>
                  <a:t>DMFT</a:t>
                </a:r>
                <a:r>
                  <a:rPr lang="en-SG" dirty="0">
                    <a:solidFill>
                      <a:schemeClr val="tx1"/>
                    </a:solidFill>
                    <a:latin typeface="Times New Roman" panose="02020603050405020304" pitchFamily="18" charset="0"/>
                    <a:cs typeface="Times New Roman" panose="02020603050405020304" pitchFamily="18" charset="0"/>
                  </a:rPr>
                  <a:t>)?” to “</a:t>
                </a:r>
                <a:r>
                  <a:rPr lang="en-SG" b="1" dirty="0">
                    <a:solidFill>
                      <a:schemeClr val="tx1"/>
                    </a:solidFill>
                    <a:latin typeface="Times New Roman" panose="02020603050405020304" pitchFamily="18" charset="0"/>
                    <a:cs typeface="Times New Roman" panose="02020603050405020304" pitchFamily="18" charset="0"/>
                  </a:rPr>
                  <a:t>how</a:t>
                </a:r>
                <a:r>
                  <a:rPr lang="en-SG" dirty="0">
                    <a:solidFill>
                      <a:schemeClr val="tx1"/>
                    </a:solidFill>
                    <a:latin typeface="Times New Roman" panose="02020603050405020304" pitchFamily="18" charset="0"/>
                    <a:cs typeface="Times New Roman" panose="02020603050405020304" pitchFamily="18" charset="0"/>
                  </a:rPr>
                  <a:t> does </a:t>
                </a:r>
                <a14:m>
                  <m:oMath xmlns:m="http://schemas.openxmlformats.org/officeDocument/2006/math">
                    <m:r>
                      <a:rPr lang="en-SG" i="1">
                        <a:solidFill>
                          <a:schemeClr val="tx1"/>
                        </a:solidFill>
                        <a:latin typeface="Cambria Math" panose="02040503050406030204" pitchFamily="18" charset="0"/>
                      </a:rPr>
                      <m:t>𝑋</m:t>
                    </m:r>
                  </m:oMath>
                </a14:m>
                <a:r>
                  <a:rPr lang="en-SG" dirty="0">
                    <a:solidFill>
                      <a:schemeClr val="tx1"/>
                    </a:solidFill>
                    <a:latin typeface="Times New Roman" panose="02020603050405020304" pitchFamily="18" charset="0"/>
                    <a:cs typeface="Times New Roman" panose="02020603050405020304" pitchFamily="18" charset="0"/>
                  </a:rPr>
                  <a:t> affect </a:t>
                </a:r>
                <a14:m>
                  <m:oMath xmlns:m="http://schemas.openxmlformats.org/officeDocument/2006/math">
                    <m:r>
                      <a:rPr lang="en-SG" i="1">
                        <a:solidFill>
                          <a:schemeClr val="tx1"/>
                        </a:solidFill>
                        <a:latin typeface="Cambria Math" panose="02040503050406030204" pitchFamily="18" charset="0"/>
                      </a:rPr>
                      <m:t>𝑌</m:t>
                    </m:r>
                    <m:r>
                      <a:rPr lang="en-US" b="0" i="0" smtClean="0">
                        <a:solidFill>
                          <a:schemeClr val="tx1"/>
                        </a:solidFill>
                        <a:latin typeface="Cambria Math" panose="02040503050406030204" pitchFamily="18" charset="0"/>
                      </a:rPr>
                      <m:t>?</m:t>
                    </m:r>
                  </m:oMath>
                </a14:m>
                <a:r>
                  <a:rPr lang="en-SG" dirty="0">
                    <a:solidFill>
                      <a:schemeClr val="tx1"/>
                    </a:solidFill>
                    <a:latin typeface="Times New Roman" panose="02020603050405020304" pitchFamily="18" charset="0"/>
                    <a:cs typeface="Times New Roman" panose="02020603050405020304" pitchFamily="18" charset="0"/>
                  </a:rPr>
                  <a:t>” </a:t>
                </a:r>
              </a:p>
              <a:p>
                <a:pPr lvl="1"/>
                <a:r>
                  <a:rPr lang="en-SG" dirty="0">
                    <a:solidFill>
                      <a:schemeClr val="tx1"/>
                    </a:solidFill>
                    <a:latin typeface="Times New Roman" panose="02020603050405020304" pitchFamily="18" charset="0"/>
                    <a:cs typeface="Times New Roman" panose="02020603050405020304" pitchFamily="18" charset="0"/>
                  </a:rPr>
                  <a:t>via mediator </a:t>
                </a:r>
                <a14:m>
                  <m:oMath xmlns:m="http://schemas.openxmlformats.org/officeDocument/2006/math">
                    <m:r>
                      <a:rPr lang="en-SG" i="1">
                        <a:solidFill>
                          <a:schemeClr val="tx1"/>
                        </a:solidFill>
                        <a:latin typeface="Cambria Math" panose="02040503050406030204" pitchFamily="18" charset="0"/>
                      </a:rPr>
                      <m:t>𝑀</m:t>
                    </m:r>
                  </m:oMath>
                </a14:m>
                <a:r>
                  <a:rPr lang="en-US" dirty="0">
                    <a:solidFill>
                      <a:schemeClr val="tx1"/>
                    </a:solidFill>
                  </a:rPr>
                  <a:t> </a:t>
                </a:r>
                <a14:m>
                  <m:oMath xmlns:m="http://schemas.openxmlformats.org/officeDocument/2006/math">
                    <m:r>
                      <a:rPr lang="en-US" i="1">
                        <a:solidFill>
                          <a:schemeClr val="tx1"/>
                        </a:solidFill>
                        <a:latin typeface="Cambria Math" panose="02040503050406030204" pitchFamily="18" charset="0"/>
                      </a:rPr>
                      <m:t>(</m:t>
                    </m:r>
                    <m:r>
                      <a:rPr lang="en-US" i="1">
                        <a:solidFill>
                          <a:schemeClr val="tx1"/>
                        </a:solidFill>
                        <a:latin typeface="Cambria Math" panose="02040503050406030204" pitchFamily="18" charset="0"/>
                      </a:rPr>
                      <m:t>𝑠𝑢𝑔𝑎𝑟</m:t>
                    </m:r>
                    <m:r>
                      <a:rPr lang="en-US" i="1">
                        <a:solidFill>
                          <a:schemeClr val="tx1"/>
                        </a:solidFill>
                        <a:latin typeface="Cambria Math" panose="02040503050406030204" pitchFamily="18" charset="0"/>
                      </a:rPr>
                      <m:t> </m:t>
                    </m:r>
                    <m:r>
                      <a:rPr lang="en-US" i="1">
                        <a:solidFill>
                          <a:schemeClr val="tx1"/>
                        </a:solidFill>
                        <a:latin typeface="Cambria Math" panose="02040503050406030204" pitchFamily="18" charset="0"/>
                      </a:rPr>
                      <m:t>𝑐𝑜𝑛𝑠𝑢𝑚𝑝𝑡𝑖𝑜𝑛</m:t>
                    </m:r>
                    <m:r>
                      <a:rPr lang="en-US" b="0" i="1" smtClean="0">
                        <a:solidFill>
                          <a:schemeClr val="tx1"/>
                        </a:solidFill>
                        <a:latin typeface="Cambria Math" panose="02040503050406030204" pitchFamily="18" charset="0"/>
                      </a:rPr>
                      <m:t>)</m:t>
                    </m:r>
                  </m:oMath>
                </a14:m>
                <a:endParaRPr lang="en-SG" dirty="0">
                  <a:solidFill>
                    <a:schemeClr val="tx1"/>
                  </a:solidFill>
                  <a:latin typeface="Times New Roman" panose="02020603050405020304" pitchFamily="18" charset="0"/>
                  <a:cs typeface="Times New Roman" panose="02020603050405020304" pitchFamily="18" charset="0"/>
                </a:endParaRPr>
              </a:p>
              <a:p>
                <a:r>
                  <a:rPr lang="en-SG" b="1" dirty="0">
                    <a:solidFill>
                      <a:schemeClr val="tx1"/>
                    </a:solidFill>
                    <a:latin typeface="Times New Roman" panose="02020603050405020304" pitchFamily="18" charset="0"/>
                    <a:cs typeface="Times New Roman" panose="02020603050405020304" pitchFamily="18" charset="0"/>
                  </a:rPr>
                  <a:t>Decomposes total effect</a:t>
                </a:r>
                <a:r>
                  <a:rPr lang="en-SG" dirty="0">
                    <a:solidFill>
                      <a:schemeClr val="tx1"/>
                    </a:solidFill>
                    <a:latin typeface="Times New Roman" panose="02020603050405020304" pitchFamily="18" charset="0"/>
                    <a:cs typeface="Times New Roman" panose="02020603050405020304" pitchFamily="18" charset="0"/>
                  </a:rPr>
                  <a:t> into: </a:t>
                </a:r>
              </a:p>
              <a:p>
                <a:pPr lvl="1"/>
                <a:r>
                  <a:rPr lang="en-SG" b="1" dirty="0">
                    <a:solidFill>
                      <a:schemeClr val="tx1"/>
                    </a:solidFill>
                    <a:latin typeface="Times-Roman"/>
                  </a:rPr>
                  <a:t>Indirect effect </a:t>
                </a:r>
                <a:r>
                  <a:rPr lang="en-SG" dirty="0">
                    <a:solidFill>
                      <a:schemeClr val="tx1"/>
                    </a:solidFill>
                    <a:latin typeface="Times-Roman"/>
                  </a:rPr>
                  <a:t>representing the effect of income on change in dental caries that acts </a:t>
                </a:r>
                <a:r>
                  <a:rPr lang="en-SG" u="sng" dirty="0">
                    <a:solidFill>
                      <a:schemeClr val="tx1"/>
                    </a:solidFill>
                    <a:latin typeface="Times-Roman"/>
                  </a:rPr>
                  <a:t>through sugar consumption levels</a:t>
                </a:r>
              </a:p>
              <a:p>
                <a:pPr lvl="1"/>
                <a:r>
                  <a:rPr lang="en-SG" b="1" dirty="0">
                    <a:solidFill>
                      <a:schemeClr val="tx1"/>
                    </a:solidFill>
                    <a:latin typeface="Times-Roman"/>
                  </a:rPr>
                  <a:t>Direct effect </a:t>
                </a:r>
                <a:r>
                  <a:rPr lang="en-SG" dirty="0">
                    <a:solidFill>
                      <a:schemeClr val="tx1"/>
                    </a:solidFill>
                    <a:latin typeface="Times-Roman"/>
                  </a:rPr>
                  <a:t>of income (changing from low to high income) on dental caries </a:t>
                </a:r>
                <a:r>
                  <a:rPr lang="en-SG" u="sng" dirty="0">
                    <a:solidFill>
                      <a:schemeClr val="tx1"/>
                    </a:solidFill>
                    <a:latin typeface="Times-Roman"/>
                  </a:rPr>
                  <a:t>through other pathways</a:t>
                </a:r>
              </a:p>
              <a:p>
                <a:endParaRPr lang="en-SG" dirty="0">
                  <a:solidFill>
                    <a:schemeClr val="tx1"/>
                  </a:solidFill>
                  <a:latin typeface="Times New Roman" panose="02020603050405020304" pitchFamily="18" charset="0"/>
                  <a:cs typeface="Times New Roman" panose="02020603050405020304" pitchFamily="18" charset="0"/>
                </a:endParaRPr>
              </a:p>
            </p:txBody>
          </p:sp>
        </mc:Choice>
        <mc:Fallback>
          <p:sp>
            <p:nvSpPr>
              <p:cNvPr id="3" name="Content Placeholder 2">
                <a:extLst>
                  <a:ext uri="{FF2B5EF4-FFF2-40B4-BE49-F238E27FC236}">
                    <a16:creationId xmlns:a16="http://schemas.microsoft.com/office/drawing/2014/main" id="{C4EF96E6-8CBD-8D6C-711F-A10B121A7C3E}"/>
                  </a:ext>
                </a:extLst>
              </p:cNvPr>
              <p:cNvSpPr>
                <a:spLocks noGrp="1" noRot="1" noChangeAspect="1" noMove="1" noResize="1" noEditPoints="1" noAdjustHandles="1" noChangeArrowheads="1" noChangeShapeType="1" noTextEdit="1"/>
              </p:cNvSpPr>
              <p:nvPr>
                <p:ph idx="1"/>
              </p:nvPr>
            </p:nvSpPr>
            <p:spPr>
              <a:xfrm>
                <a:off x="1371600" y="2206257"/>
                <a:ext cx="9486901" cy="3540642"/>
              </a:xfrm>
              <a:blipFill>
                <a:blip r:embed="rId3"/>
                <a:stretch>
                  <a:fillRect l="-402" t="-1429" r="-402"/>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86AF80E1-B790-29AE-FB48-B5B89D266DD3}"/>
              </a:ext>
            </a:extLst>
          </p:cNvPr>
          <p:cNvSpPr txBox="1"/>
          <p:nvPr/>
        </p:nvSpPr>
        <p:spPr>
          <a:xfrm>
            <a:off x="0" y="0"/>
            <a:ext cx="7224889" cy="276999"/>
          </a:xfrm>
          <a:prstGeom prst="rect">
            <a:avLst/>
          </a:prstGeom>
          <a:noFill/>
        </p:spPr>
        <p:txBody>
          <a:bodyPr wrap="square" rtlCol="0">
            <a:spAutoFit/>
          </a:bodyPr>
          <a:lstStyle/>
          <a:p>
            <a:r>
              <a:rPr lang="en-SG" sz="1200" i="1" dirty="0">
                <a:solidFill>
                  <a:schemeClr val="bg1">
                    <a:lumMod val="65000"/>
                  </a:schemeClr>
                </a:solidFill>
                <a:latin typeface="Arial" panose="020B0604020202020204" pitchFamily="34" charset="0"/>
                <a:cs typeface="Arial" panose="020B0604020202020204" pitchFamily="34" charset="0"/>
              </a:rPr>
              <a:t>[Restricted] For workshop participants only, not for distribution.</a:t>
            </a:r>
          </a:p>
        </p:txBody>
      </p:sp>
    </p:spTree>
    <p:extLst>
      <p:ext uri="{BB962C8B-B14F-4D97-AF65-F5344CB8AC3E}">
        <p14:creationId xmlns:p14="http://schemas.microsoft.com/office/powerpoint/2010/main" val="18570239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FF9146B-4CCD-4CDB-AB9C-458005307E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ill Sans MT"/>
              <a:ea typeface="+mn-ea"/>
              <a:cs typeface="+mn-cs"/>
            </a:endParaRPr>
          </a:p>
        </p:txBody>
      </p:sp>
      <p:sp>
        <p:nvSpPr>
          <p:cNvPr id="12" name="Rectangle 11">
            <a:extLst>
              <a:ext uri="{FF2B5EF4-FFF2-40B4-BE49-F238E27FC236}">
                <a16:creationId xmlns:a16="http://schemas.microsoft.com/office/drawing/2014/main" id="{5E1FEFA6-7D4F-4746-AE64-D4D52FE76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ill Sans MT"/>
              <a:ea typeface="+mn-ea"/>
              <a:cs typeface="+mn-cs"/>
            </a:endParaRPr>
          </a:p>
        </p:txBody>
      </p:sp>
      <p:sp useBgFill="1">
        <p:nvSpPr>
          <p:cNvPr id="14" name="Rectangle 13">
            <a:extLst>
              <a:ext uri="{FF2B5EF4-FFF2-40B4-BE49-F238E27FC236}">
                <a16:creationId xmlns:a16="http://schemas.microsoft.com/office/drawing/2014/main" id="{BF8DA3CF-9D4B-403A-9AD4-BB177DAB6C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 y="685800"/>
            <a:ext cx="10820400" cy="5486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ill Sans MT"/>
              <a:ea typeface="+mn-ea"/>
              <a:cs typeface="+mn-cs"/>
            </a:endParaRPr>
          </a:p>
        </p:txBody>
      </p:sp>
      <p:sp>
        <p:nvSpPr>
          <p:cNvPr id="4" name="Title 3">
            <a:extLst>
              <a:ext uri="{FF2B5EF4-FFF2-40B4-BE49-F238E27FC236}">
                <a16:creationId xmlns:a16="http://schemas.microsoft.com/office/drawing/2014/main" id="{1548F39A-AC4E-4C4A-ABCA-B445C069F8F5}"/>
              </a:ext>
            </a:extLst>
          </p:cNvPr>
          <p:cNvSpPr>
            <a:spLocks noGrp="1"/>
          </p:cNvSpPr>
          <p:nvPr>
            <p:ph type="title"/>
          </p:nvPr>
        </p:nvSpPr>
        <p:spPr>
          <a:xfrm>
            <a:off x="1371599" y="1010097"/>
            <a:ext cx="9486901" cy="1010088"/>
          </a:xfrm>
        </p:spPr>
        <p:txBody>
          <a:bodyPr anchor="b">
            <a:normAutofit/>
          </a:bodyPr>
          <a:lstStyle/>
          <a:p>
            <a:pPr algn="ctr"/>
            <a:r>
              <a:rPr lang="en-SG" dirty="0"/>
              <a:t>WHY CAUSAL MEDIATION?</a:t>
            </a:r>
          </a:p>
        </p:txBody>
      </p:sp>
      <mc:AlternateContent xmlns:mc="http://schemas.openxmlformats.org/markup-compatibility/2006">
        <mc:Choice xmlns:a14="http://schemas.microsoft.com/office/drawing/2010/main" Requires="a14">
          <p:sp>
            <p:nvSpPr>
              <p:cNvPr id="5" name="Content Placeholder 4">
                <a:extLst>
                  <a:ext uri="{FF2B5EF4-FFF2-40B4-BE49-F238E27FC236}">
                    <a16:creationId xmlns:a16="http://schemas.microsoft.com/office/drawing/2014/main" id="{C6E9CAD8-686B-4515-8CFE-46963D4C13E5}"/>
                  </a:ext>
                </a:extLst>
              </p:cNvPr>
              <p:cNvSpPr>
                <a:spLocks noGrp="1"/>
              </p:cNvSpPr>
              <p:nvPr>
                <p:ph idx="1"/>
              </p:nvPr>
            </p:nvSpPr>
            <p:spPr>
              <a:xfrm>
                <a:off x="1371600" y="2206257"/>
                <a:ext cx="9486901" cy="3540642"/>
              </a:xfrm>
            </p:spPr>
            <p:txBody>
              <a:bodyPr>
                <a:normAutofit/>
              </a:bodyPr>
              <a:lstStyle/>
              <a:p>
                <a:r>
                  <a:rPr lang="en-SG" dirty="0">
                    <a:solidFill>
                      <a:schemeClr val="tx1"/>
                    </a:solidFill>
                    <a:latin typeface="Times New Roman" panose="02020603050405020304" pitchFamily="18" charset="0"/>
                    <a:cs typeface="Times New Roman" panose="02020603050405020304" pitchFamily="18" charset="0"/>
                  </a:rPr>
                  <a:t>Helps </a:t>
                </a:r>
                <a:r>
                  <a:rPr lang="en-SG" b="1" dirty="0">
                    <a:solidFill>
                      <a:schemeClr val="tx1"/>
                    </a:solidFill>
                    <a:latin typeface="Times New Roman" panose="02020603050405020304" pitchFamily="18" charset="0"/>
                    <a:cs typeface="Times New Roman" panose="02020603050405020304" pitchFamily="18" charset="0"/>
                  </a:rPr>
                  <a:t>identify mechanisms</a:t>
                </a:r>
                <a:r>
                  <a:rPr lang="en-SG" dirty="0">
                    <a:solidFill>
                      <a:schemeClr val="tx1"/>
                    </a:solidFill>
                    <a:latin typeface="Times New Roman" panose="02020603050405020304" pitchFamily="18" charset="0"/>
                    <a:cs typeface="Times New Roman" panose="02020603050405020304" pitchFamily="18" charset="0"/>
                  </a:rPr>
                  <a:t> and </a:t>
                </a:r>
                <a:r>
                  <a:rPr lang="en-SG" b="1" dirty="0">
                    <a:solidFill>
                      <a:schemeClr val="tx1"/>
                    </a:solidFill>
                    <a:latin typeface="Times New Roman" panose="02020603050405020304" pitchFamily="18" charset="0"/>
                    <a:cs typeface="Times New Roman" panose="02020603050405020304" pitchFamily="18" charset="0"/>
                  </a:rPr>
                  <a:t>improve intervention design, </a:t>
                </a:r>
                <a:r>
                  <a:rPr lang="en-SG" dirty="0">
                    <a:solidFill>
                      <a:schemeClr val="tx1"/>
                    </a:solidFill>
                    <a:latin typeface="Times New Roman" panose="02020603050405020304" pitchFamily="18" charset="0"/>
                    <a:cs typeface="Times New Roman" panose="02020603050405020304" pitchFamily="18" charset="0"/>
                  </a:rPr>
                  <a:t>by</a:t>
                </a:r>
                <a:r>
                  <a:rPr lang="en-SG" b="1" dirty="0">
                    <a:solidFill>
                      <a:schemeClr val="tx1"/>
                    </a:solidFill>
                    <a:latin typeface="Times New Roman" panose="02020603050405020304" pitchFamily="18" charset="0"/>
                    <a:cs typeface="Times New Roman" panose="02020603050405020304" pitchFamily="18" charset="0"/>
                  </a:rPr>
                  <a:t> </a:t>
                </a:r>
                <a:r>
                  <a:rPr lang="en-SG" dirty="0">
                    <a:solidFill>
                      <a:schemeClr val="tx1"/>
                    </a:solidFill>
                    <a:latin typeface="Times New Roman" panose="02020603050405020304" pitchFamily="18" charset="0"/>
                    <a:cs typeface="Times New Roman" panose="02020603050405020304" pitchFamily="18" charset="0"/>
                  </a:rPr>
                  <a:t>targeting the pathway that drives impact</a:t>
                </a:r>
              </a:p>
              <a:p>
                <a:r>
                  <a:rPr lang="en-SG" dirty="0">
                    <a:solidFill>
                      <a:schemeClr val="tx1"/>
                    </a:solidFill>
                    <a:latin typeface="Times New Roman" panose="02020603050405020304" pitchFamily="18" charset="0"/>
                    <a:cs typeface="Times New Roman" panose="02020603050405020304" pitchFamily="18" charset="0"/>
                  </a:rPr>
                  <a:t>Supports </a:t>
                </a:r>
                <a:r>
                  <a:rPr lang="en-SG" b="1" dirty="0">
                    <a:solidFill>
                      <a:schemeClr val="tx1"/>
                    </a:solidFill>
                    <a:latin typeface="Times New Roman" panose="02020603050405020304" pitchFamily="18" charset="0"/>
                    <a:cs typeface="Times New Roman" panose="02020603050405020304" pitchFamily="18" charset="0"/>
                  </a:rPr>
                  <a:t>policy/resource decisions</a:t>
                </a:r>
                <a:r>
                  <a:rPr lang="en-SG" dirty="0">
                    <a:solidFill>
                      <a:schemeClr val="tx1"/>
                    </a:solidFill>
                    <a:latin typeface="Times New Roman" panose="02020603050405020304" pitchFamily="18" charset="0"/>
                    <a:cs typeface="Times New Roman" panose="02020603050405020304" pitchFamily="18" charset="0"/>
                  </a:rPr>
                  <a:t> </a:t>
                </a:r>
              </a:p>
              <a:p>
                <a:pPr lvl="1"/>
                <a:r>
                  <a:rPr lang="en-SG" dirty="0">
                    <a:solidFill>
                      <a:schemeClr val="tx1"/>
                    </a:solidFill>
                    <a:latin typeface="Times New Roman" panose="02020603050405020304" pitchFamily="18" charset="0"/>
                    <a:cs typeface="Times New Roman" panose="02020603050405020304" pitchFamily="18" charset="0"/>
                  </a:rPr>
                  <a:t>Act on </a:t>
                </a:r>
                <a14:m>
                  <m:oMath xmlns:m="http://schemas.openxmlformats.org/officeDocument/2006/math">
                    <m:r>
                      <a:rPr lang="en-SG" i="1">
                        <a:solidFill>
                          <a:schemeClr val="tx1"/>
                        </a:solidFill>
                        <a:latin typeface="Cambria Math" panose="02040503050406030204" pitchFamily="18" charset="0"/>
                      </a:rPr>
                      <m:t>𝑋</m:t>
                    </m:r>
                    <m:r>
                      <a:rPr lang="en-US" i="1">
                        <a:solidFill>
                          <a:schemeClr val="tx1"/>
                        </a:solidFill>
                        <a:latin typeface="Cambria Math" panose="02040503050406030204" pitchFamily="18" charset="0"/>
                      </a:rPr>
                      <m:t> (</m:t>
                    </m:r>
                    <m:r>
                      <a:rPr lang="en-US" i="1">
                        <a:solidFill>
                          <a:schemeClr val="tx1"/>
                        </a:solidFill>
                        <a:latin typeface="Cambria Math" panose="02040503050406030204" pitchFamily="18" charset="0"/>
                      </a:rPr>
                      <m:t>𝑒</m:t>
                    </m:r>
                    <m:r>
                      <a:rPr lang="en-US" i="1">
                        <a:solidFill>
                          <a:schemeClr val="tx1"/>
                        </a:solidFill>
                        <a:latin typeface="Cambria Math" panose="02040503050406030204" pitchFamily="18" charset="0"/>
                      </a:rPr>
                      <m:t>.</m:t>
                    </m:r>
                    <m:r>
                      <a:rPr lang="en-US" i="1">
                        <a:solidFill>
                          <a:schemeClr val="tx1"/>
                        </a:solidFill>
                        <a:latin typeface="Cambria Math" panose="02040503050406030204" pitchFamily="18" charset="0"/>
                      </a:rPr>
                      <m:t>𝑔</m:t>
                    </m:r>
                    <m:r>
                      <a:rPr lang="en-US" i="1">
                        <a:solidFill>
                          <a:schemeClr val="tx1"/>
                        </a:solidFill>
                        <a:latin typeface="Cambria Math" panose="02040503050406030204" pitchFamily="18" charset="0"/>
                      </a:rPr>
                      <m:t>. </m:t>
                    </m:r>
                    <m:r>
                      <a:rPr lang="en-US" i="1">
                        <a:solidFill>
                          <a:schemeClr val="tx1"/>
                        </a:solidFill>
                        <a:latin typeface="Cambria Math" panose="02040503050406030204" pitchFamily="18" charset="0"/>
                      </a:rPr>
                      <m:t>𝑖𝑛𝑐𝑟𝑒𝑎𝑠𝑒</m:t>
                    </m:r>
                    <m:r>
                      <a:rPr lang="en-US" i="1">
                        <a:solidFill>
                          <a:schemeClr val="tx1"/>
                        </a:solidFill>
                        <a:latin typeface="Cambria Math" panose="02040503050406030204" pitchFamily="18" charset="0"/>
                      </a:rPr>
                      <m:t> </m:t>
                    </m:r>
                    <m:r>
                      <a:rPr lang="en-US" i="1">
                        <a:solidFill>
                          <a:schemeClr val="tx1"/>
                        </a:solidFill>
                        <a:latin typeface="Cambria Math" panose="02040503050406030204" pitchFamily="18" charset="0"/>
                      </a:rPr>
                      <m:t>𝑤𝑎𝑔𝑒𝑠</m:t>
                    </m:r>
                    <m:r>
                      <a:rPr lang="en-US" i="1">
                        <a:solidFill>
                          <a:schemeClr val="tx1"/>
                        </a:solidFill>
                        <a:latin typeface="Cambria Math" panose="02040503050406030204" pitchFamily="18" charset="0"/>
                      </a:rPr>
                      <m:t>)</m:t>
                    </m:r>
                  </m:oMath>
                </a14:m>
                <a:r>
                  <a:rPr lang="en-SG" dirty="0">
                    <a:solidFill>
                      <a:schemeClr val="tx1"/>
                    </a:solidFill>
                    <a:latin typeface="Times New Roman" panose="02020603050405020304" pitchFamily="18" charset="0"/>
                    <a:cs typeface="Times New Roman" panose="02020603050405020304" pitchFamily="18" charset="0"/>
                  </a:rPr>
                  <a:t> vs act on </a:t>
                </a:r>
                <a14:m>
                  <m:oMath xmlns:m="http://schemas.openxmlformats.org/officeDocument/2006/math">
                    <m:r>
                      <a:rPr lang="en-SG" i="1">
                        <a:solidFill>
                          <a:schemeClr val="tx1"/>
                        </a:solidFill>
                        <a:latin typeface="Cambria Math" panose="02040503050406030204" pitchFamily="18" charset="0"/>
                      </a:rPr>
                      <m:t>𝑀</m:t>
                    </m:r>
                  </m:oMath>
                </a14:m>
                <a:r>
                  <a:rPr lang="en-SG" dirty="0">
                    <a:solidFill>
                      <a:schemeClr val="tx1"/>
                    </a:solidFill>
                    <a:latin typeface="Times New Roman" panose="02020603050405020304" pitchFamily="18" charset="0"/>
                    <a:cs typeface="Times New Roman" panose="02020603050405020304" pitchFamily="18" charset="0"/>
                  </a:rPr>
                  <a:t> (e.g. educational efforts to reduce sugar consumption)</a:t>
                </a:r>
              </a:p>
              <a:p>
                <a:r>
                  <a:rPr lang="en-SG" dirty="0">
                    <a:solidFill>
                      <a:schemeClr val="tx1"/>
                    </a:solidFill>
                    <a:latin typeface="Times New Roman" panose="02020603050405020304" pitchFamily="18" charset="0"/>
                    <a:cs typeface="Times New Roman" panose="02020603050405020304" pitchFamily="18" charset="0"/>
                  </a:rPr>
                  <a:t>Separate causation from mere causation by requiring clear causal assumptions</a:t>
                </a:r>
                <a:endParaRPr lang="en-US" sz="2200" dirty="0">
                  <a:solidFill>
                    <a:schemeClr val="tx1"/>
                  </a:solidFill>
                  <a:latin typeface="Times-Roman"/>
                </a:endParaRPr>
              </a:p>
              <a:p>
                <a:endParaRPr lang="en-SG" dirty="0">
                  <a:solidFill>
                    <a:schemeClr val="tx1"/>
                  </a:solidFill>
                  <a:latin typeface="Times-Roman"/>
                </a:endParaRPr>
              </a:p>
              <a:p>
                <a:endParaRPr lang="en-SG" dirty="0">
                  <a:solidFill>
                    <a:schemeClr val="tx1"/>
                  </a:solidFill>
                  <a:latin typeface="Times-Roman"/>
                </a:endParaRPr>
              </a:p>
            </p:txBody>
          </p:sp>
        </mc:Choice>
        <mc:Fallback>
          <p:sp>
            <p:nvSpPr>
              <p:cNvPr id="5" name="Content Placeholder 4">
                <a:extLst>
                  <a:ext uri="{FF2B5EF4-FFF2-40B4-BE49-F238E27FC236}">
                    <a16:creationId xmlns:a16="http://schemas.microsoft.com/office/drawing/2014/main" id="{C6E9CAD8-686B-4515-8CFE-46963D4C13E5}"/>
                  </a:ext>
                </a:extLst>
              </p:cNvPr>
              <p:cNvSpPr>
                <a:spLocks noGrp="1" noRot="1" noChangeAspect="1" noMove="1" noResize="1" noEditPoints="1" noAdjustHandles="1" noChangeArrowheads="1" noChangeShapeType="1" noTextEdit="1"/>
              </p:cNvSpPr>
              <p:nvPr>
                <p:ph idx="1"/>
              </p:nvPr>
            </p:nvSpPr>
            <p:spPr>
              <a:xfrm>
                <a:off x="1371600" y="2206257"/>
                <a:ext cx="9486901" cy="3540642"/>
              </a:xfrm>
              <a:blipFill>
                <a:blip r:embed="rId3"/>
                <a:stretch>
                  <a:fillRect l="-402" t="-1429"/>
                </a:stretch>
              </a:blipFill>
            </p:spPr>
            <p:txBody>
              <a:bodyPr/>
              <a:lstStyle/>
              <a:p>
                <a:r>
                  <a:rPr lang="en-US">
                    <a:noFill/>
                  </a:rPr>
                  <a:t> </a:t>
                </a:r>
              </a:p>
            </p:txBody>
          </p:sp>
        </mc:Fallback>
      </mc:AlternateContent>
      <p:sp>
        <p:nvSpPr>
          <p:cNvPr id="2" name="TextBox 1">
            <a:extLst>
              <a:ext uri="{FF2B5EF4-FFF2-40B4-BE49-F238E27FC236}">
                <a16:creationId xmlns:a16="http://schemas.microsoft.com/office/drawing/2014/main" id="{10323186-C782-3DB4-4A23-190EC0B00B45}"/>
              </a:ext>
            </a:extLst>
          </p:cNvPr>
          <p:cNvSpPr txBox="1"/>
          <p:nvPr/>
        </p:nvSpPr>
        <p:spPr>
          <a:xfrm>
            <a:off x="0" y="0"/>
            <a:ext cx="7224889" cy="276999"/>
          </a:xfrm>
          <a:prstGeom prst="rect">
            <a:avLst/>
          </a:prstGeom>
          <a:noFill/>
        </p:spPr>
        <p:txBody>
          <a:bodyPr wrap="square" rtlCol="0">
            <a:spAutoFit/>
          </a:bodyPr>
          <a:lstStyle/>
          <a:p>
            <a:r>
              <a:rPr lang="en-SG" sz="1200" i="1" dirty="0">
                <a:solidFill>
                  <a:schemeClr val="bg1">
                    <a:lumMod val="65000"/>
                  </a:schemeClr>
                </a:solidFill>
                <a:latin typeface="Arial" panose="020B0604020202020204" pitchFamily="34" charset="0"/>
                <a:cs typeface="Arial" panose="020B0604020202020204" pitchFamily="34" charset="0"/>
              </a:rPr>
              <a:t>[Restricted] For workshop participants only, not for distribution.</a:t>
            </a:r>
          </a:p>
        </p:txBody>
      </p:sp>
    </p:spTree>
    <p:extLst>
      <p:ext uri="{BB962C8B-B14F-4D97-AF65-F5344CB8AC3E}">
        <p14:creationId xmlns:p14="http://schemas.microsoft.com/office/powerpoint/2010/main" val="7198436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9C6A2EE-A571-283A-BCE1-A23B0210E1D9}"/>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D115FEA-AA6F-FB7D-1191-9349FEAE4D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ill Sans MT"/>
              <a:ea typeface="+mn-ea"/>
              <a:cs typeface="+mn-cs"/>
            </a:endParaRPr>
          </a:p>
        </p:txBody>
      </p:sp>
      <p:sp>
        <p:nvSpPr>
          <p:cNvPr id="12" name="Rectangle 11">
            <a:extLst>
              <a:ext uri="{FF2B5EF4-FFF2-40B4-BE49-F238E27FC236}">
                <a16:creationId xmlns:a16="http://schemas.microsoft.com/office/drawing/2014/main" id="{78438F20-193B-0EDC-1024-8AAB1DE77B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ill Sans MT"/>
              <a:ea typeface="+mn-ea"/>
              <a:cs typeface="+mn-cs"/>
            </a:endParaRPr>
          </a:p>
        </p:txBody>
      </p:sp>
      <p:sp useBgFill="1">
        <p:nvSpPr>
          <p:cNvPr id="14" name="Rectangle 13">
            <a:extLst>
              <a:ext uri="{FF2B5EF4-FFF2-40B4-BE49-F238E27FC236}">
                <a16:creationId xmlns:a16="http://schemas.microsoft.com/office/drawing/2014/main" id="{51DC2EE1-6F0A-FAA8-8B57-4D0E3D06D6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 y="685800"/>
            <a:ext cx="10820400" cy="5486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ill Sans MT"/>
              <a:ea typeface="+mn-ea"/>
              <a:cs typeface="+mn-cs"/>
            </a:endParaRPr>
          </a:p>
        </p:txBody>
      </p:sp>
      <p:sp>
        <p:nvSpPr>
          <p:cNvPr id="4" name="Title 3">
            <a:extLst>
              <a:ext uri="{FF2B5EF4-FFF2-40B4-BE49-F238E27FC236}">
                <a16:creationId xmlns:a16="http://schemas.microsoft.com/office/drawing/2014/main" id="{85702E3D-FA88-094E-38E1-50C9C1BB430A}"/>
              </a:ext>
            </a:extLst>
          </p:cNvPr>
          <p:cNvSpPr>
            <a:spLocks noGrp="1"/>
          </p:cNvSpPr>
          <p:nvPr>
            <p:ph type="title"/>
          </p:nvPr>
        </p:nvSpPr>
        <p:spPr>
          <a:xfrm>
            <a:off x="1371599" y="1010097"/>
            <a:ext cx="9486901" cy="1010088"/>
          </a:xfrm>
        </p:spPr>
        <p:txBody>
          <a:bodyPr anchor="b">
            <a:normAutofit/>
          </a:bodyPr>
          <a:lstStyle/>
          <a:p>
            <a:pPr algn="ctr"/>
            <a:r>
              <a:rPr lang="en-SG" dirty="0"/>
              <a:t>WHAT WILL BE COVERED?</a:t>
            </a:r>
          </a:p>
        </p:txBody>
      </p:sp>
      <p:sp>
        <p:nvSpPr>
          <p:cNvPr id="5" name="Content Placeholder 4">
            <a:extLst>
              <a:ext uri="{FF2B5EF4-FFF2-40B4-BE49-F238E27FC236}">
                <a16:creationId xmlns:a16="http://schemas.microsoft.com/office/drawing/2014/main" id="{FCE4E16D-9708-4108-9D8F-06ABE6A6F85D}"/>
              </a:ext>
            </a:extLst>
          </p:cNvPr>
          <p:cNvSpPr>
            <a:spLocks noGrp="1"/>
          </p:cNvSpPr>
          <p:nvPr>
            <p:ph idx="1"/>
          </p:nvPr>
        </p:nvSpPr>
        <p:spPr>
          <a:xfrm>
            <a:off x="1371600" y="2206257"/>
            <a:ext cx="9486901" cy="3540642"/>
          </a:xfrm>
        </p:spPr>
        <p:txBody>
          <a:bodyPr>
            <a:normAutofit/>
          </a:bodyPr>
          <a:lstStyle/>
          <a:p>
            <a:pPr marL="0" lvl="0" indent="0" eaLnBrk="0" fontAlgn="base" hangingPunct="0">
              <a:spcBef>
                <a:spcPct val="0"/>
              </a:spcBef>
              <a:spcAft>
                <a:spcPct val="0"/>
              </a:spcAft>
              <a:buSzTx/>
              <a:buNone/>
            </a:pPr>
            <a:r>
              <a:rPr lang="en-US" altLang="en-US" dirty="0">
                <a:solidFill>
                  <a:schemeClr val="tx1"/>
                </a:solidFill>
                <a:latin typeface="Times New Roman" panose="02020603050405020304" pitchFamily="18" charset="0"/>
                <a:ea typeface="Segoe UI" panose="020B0502040204020203" pitchFamily="34" charset="0"/>
                <a:cs typeface="Times New Roman" panose="02020603050405020304" pitchFamily="18" charset="0"/>
              </a:rPr>
              <a:t>1.   </a:t>
            </a:r>
            <a:r>
              <a:rPr lang="en-US" altLang="en-US" dirty="0">
                <a:solidFill>
                  <a:srgbClr val="212529"/>
                </a:solidFill>
                <a:latin typeface="Times New Roman" panose="02020603050405020304" pitchFamily="18" charset="0"/>
                <a:ea typeface="Segoe UI" panose="020B0502040204020203" pitchFamily="34" charset="0"/>
                <a:cs typeface="Times New Roman" panose="02020603050405020304" pitchFamily="18" charset="0"/>
              </a:rPr>
              <a:t>Key terminology in causal mediation  </a:t>
            </a:r>
            <a:endParaRPr lang="en-US" altLang="en-US" dirty="0">
              <a:solidFill>
                <a:schemeClr val="tx1"/>
              </a:solidFill>
              <a:latin typeface="Times New Roman" panose="02020603050405020304" pitchFamily="18" charset="0"/>
              <a:ea typeface="Segoe UI" panose="020B0502040204020203" pitchFamily="34" charset="0"/>
              <a:cs typeface="Times New Roman" panose="02020603050405020304" pitchFamily="18" charset="0"/>
            </a:endParaRPr>
          </a:p>
          <a:p>
            <a:pPr marL="0" lvl="0" indent="0" eaLnBrk="0" fontAlgn="base" hangingPunct="0">
              <a:spcBef>
                <a:spcPct val="0"/>
              </a:spcBef>
              <a:spcAft>
                <a:spcPct val="0"/>
              </a:spcAft>
              <a:buSzTx/>
              <a:buNone/>
            </a:pPr>
            <a:r>
              <a:rPr lang="en-US" altLang="en-US" dirty="0">
                <a:solidFill>
                  <a:schemeClr val="tx1"/>
                </a:solidFill>
                <a:latin typeface="Times New Roman" panose="02020603050405020304" pitchFamily="18" charset="0"/>
                <a:ea typeface="Segoe UI" panose="020B0502040204020203" pitchFamily="34" charset="0"/>
                <a:cs typeface="Times New Roman" panose="02020603050405020304" pitchFamily="18" charset="0"/>
              </a:rPr>
              <a:t>2.   </a:t>
            </a:r>
            <a:r>
              <a:rPr lang="en-US" altLang="en-US" dirty="0">
                <a:solidFill>
                  <a:srgbClr val="212529"/>
                </a:solidFill>
                <a:latin typeface="Times New Roman" panose="02020603050405020304" pitchFamily="18" charset="0"/>
                <a:ea typeface="Segoe UI" panose="020B0502040204020203" pitchFamily="34" charset="0"/>
                <a:cs typeface="Times New Roman" panose="02020603050405020304" pitchFamily="18" charset="0"/>
              </a:rPr>
              <a:t>Potential outcomes framework  </a:t>
            </a:r>
            <a:endParaRPr lang="en-US" altLang="en-US" dirty="0">
              <a:solidFill>
                <a:schemeClr val="tx1"/>
              </a:solidFill>
              <a:latin typeface="Times New Roman" panose="02020603050405020304" pitchFamily="18" charset="0"/>
              <a:ea typeface="Segoe UI" panose="020B0502040204020203" pitchFamily="34" charset="0"/>
              <a:cs typeface="Times New Roman" panose="02020603050405020304" pitchFamily="18" charset="0"/>
            </a:endParaRPr>
          </a:p>
          <a:p>
            <a:pPr marL="0" lvl="0" indent="0" eaLnBrk="0" fontAlgn="base" hangingPunct="0">
              <a:spcBef>
                <a:spcPct val="0"/>
              </a:spcBef>
              <a:spcAft>
                <a:spcPct val="0"/>
              </a:spcAft>
              <a:buSzTx/>
              <a:buNone/>
            </a:pPr>
            <a:r>
              <a:rPr lang="en-US" altLang="en-US" dirty="0">
                <a:solidFill>
                  <a:schemeClr val="tx1"/>
                </a:solidFill>
                <a:latin typeface="Times New Roman" panose="02020603050405020304" pitchFamily="18" charset="0"/>
                <a:ea typeface="Segoe UI" panose="020B0502040204020203" pitchFamily="34" charset="0"/>
                <a:cs typeface="Times New Roman" panose="02020603050405020304" pitchFamily="18" charset="0"/>
              </a:rPr>
              <a:t>3.   </a:t>
            </a:r>
            <a:r>
              <a:rPr lang="en-US" altLang="en-US" dirty="0">
                <a:solidFill>
                  <a:srgbClr val="212529"/>
                </a:solidFill>
                <a:latin typeface="Times New Roman" panose="02020603050405020304" pitchFamily="18" charset="0"/>
                <a:ea typeface="Segoe UI" panose="020B0502040204020203" pitchFamily="34" charset="0"/>
                <a:cs typeface="Times New Roman" panose="02020603050405020304" pitchFamily="18" charset="0"/>
              </a:rPr>
              <a:t>Decomposing and interpreting direct, indirect and total effects </a:t>
            </a:r>
            <a:endParaRPr lang="en-US" altLang="en-US" dirty="0">
              <a:solidFill>
                <a:schemeClr val="tx1"/>
              </a:solidFill>
              <a:latin typeface="Times New Roman" panose="02020603050405020304" pitchFamily="18" charset="0"/>
              <a:ea typeface="Segoe UI" panose="020B0502040204020203" pitchFamily="34" charset="0"/>
              <a:cs typeface="Times New Roman" panose="02020603050405020304" pitchFamily="18" charset="0"/>
            </a:endParaRPr>
          </a:p>
          <a:p>
            <a:pPr marL="0" lvl="0" indent="0" eaLnBrk="0" fontAlgn="base" hangingPunct="0">
              <a:spcBef>
                <a:spcPct val="0"/>
              </a:spcBef>
              <a:spcAft>
                <a:spcPct val="0"/>
              </a:spcAft>
              <a:buSzTx/>
              <a:buNone/>
            </a:pPr>
            <a:r>
              <a:rPr lang="en-US" altLang="en-US" dirty="0">
                <a:solidFill>
                  <a:srgbClr val="000000"/>
                </a:solidFill>
                <a:latin typeface="Times New Roman" panose="02020603050405020304" pitchFamily="18" charset="0"/>
                <a:ea typeface="Segoe UI" panose="020B0502040204020203" pitchFamily="34" charset="0"/>
                <a:cs typeface="Times New Roman" panose="02020603050405020304" pitchFamily="18" charset="0"/>
              </a:rPr>
              <a:t>4.   </a:t>
            </a:r>
            <a:r>
              <a:rPr lang="en-US" altLang="en-US" dirty="0">
                <a:solidFill>
                  <a:srgbClr val="212529"/>
                </a:solidFill>
                <a:latin typeface="Times New Roman" panose="02020603050405020304" pitchFamily="18" charset="0"/>
                <a:ea typeface="Segoe UI" panose="020B0502040204020203" pitchFamily="34" charset="0"/>
                <a:cs typeface="Times New Roman" panose="02020603050405020304" pitchFamily="18" charset="0"/>
              </a:rPr>
              <a:t>Assumptions and data considerations</a:t>
            </a:r>
          </a:p>
          <a:p>
            <a:pPr marL="0" lvl="0" indent="0" eaLnBrk="0" fontAlgn="base" hangingPunct="0">
              <a:spcBef>
                <a:spcPct val="0"/>
              </a:spcBef>
              <a:spcAft>
                <a:spcPct val="0"/>
              </a:spcAft>
              <a:buSzTx/>
              <a:buNone/>
            </a:pPr>
            <a:r>
              <a:rPr lang="en-US" dirty="0">
                <a:solidFill>
                  <a:srgbClr val="212529"/>
                </a:solidFill>
                <a:latin typeface="Times New Roman" panose="02020603050405020304" pitchFamily="18" charset="0"/>
                <a:cs typeface="Times New Roman" panose="02020603050405020304" pitchFamily="18" charset="0"/>
              </a:rPr>
              <a:t>5.   Real-life applications</a:t>
            </a:r>
            <a:endParaRPr lang="en-SG" dirty="0">
              <a:solidFill>
                <a:schemeClr val="tx1"/>
              </a:solidFill>
              <a:latin typeface="Times New Roman" panose="02020603050405020304" pitchFamily="18" charset="0"/>
              <a:cs typeface="Times New Roman" panose="02020603050405020304" pitchFamily="18" charset="0"/>
            </a:endParaRPr>
          </a:p>
          <a:p>
            <a:endParaRPr lang="en-SG" dirty="0">
              <a:solidFill>
                <a:schemeClr val="tx1"/>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7A4DC64F-2E3C-9502-CF28-6A313B713376}"/>
              </a:ext>
            </a:extLst>
          </p:cNvPr>
          <p:cNvSpPr txBox="1"/>
          <p:nvPr/>
        </p:nvSpPr>
        <p:spPr>
          <a:xfrm>
            <a:off x="0" y="0"/>
            <a:ext cx="7224889" cy="276999"/>
          </a:xfrm>
          <a:prstGeom prst="rect">
            <a:avLst/>
          </a:prstGeom>
          <a:noFill/>
        </p:spPr>
        <p:txBody>
          <a:bodyPr wrap="square" rtlCol="0">
            <a:spAutoFit/>
          </a:bodyPr>
          <a:lstStyle/>
          <a:p>
            <a:r>
              <a:rPr lang="en-SG" sz="1200" i="1" dirty="0">
                <a:solidFill>
                  <a:schemeClr val="bg1">
                    <a:lumMod val="65000"/>
                  </a:schemeClr>
                </a:solidFill>
                <a:latin typeface="Arial" panose="020B0604020202020204" pitchFamily="34" charset="0"/>
                <a:cs typeface="Arial" panose="020B0604020202020204" pitchFamily="34" charset="0"/>
              </a:rPr>
              <a:t>[Restricted] For workshop participants only, not for distribution.</a:t>
            </a:r>
          </a:p>
        </p:txBody>
      </p:sp>
      <p:sp>
        <p:nvSpPr>
          <p:cNvPr id="3" name="Rectangle 1">
            <a:extLst>
              <a:ext uri="{FF2B5EF4-FFF2-40B4-BE49-F238E27FC236}">
                <a16:creationId xmlns:a16="http://schemas.microsoft.com/office/drawing/2014/main" id="{087D2A95-5662-938E-8C91-A87393BCCC63}"/>
              </a:ext>
            </a:extLst>
          </p:cNvPr>
          <p:cNvSpPr>
            <a:spLocks noChangeArrowheads="1"/>
          </p:cNvSpPr>
          <p:nvPr/>
        </p:nvSpPr>
        <p:spPr bwMode="auto">
          <a:xfrm>
            <a:off x="0" y="20851"/>
            <a:ext cx="65"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0" i="0" u="none" strike="noStrike" cap="none" normalizeH="0" baseline="0" dirty="0">
              <a:ln>
                <a:noFill/>
              </a:ln>
              <a:solidFill>
                <a:schemeClr val="tx1"/>
              </a:solidFill>
              <a:effectLst/>
              <a:ea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06757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E24200D-2A92-9A64-B1A5-439B7A54682D}"/>
            </a:ext>
          </a:extLst>
        </p:cNvPr>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263B7AC8-3EB8-82A0-81A7-2775160D03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3" descr="Triangular abstract background">
            <a:extLst>
              <a:ext uri="{FF2B5EF4-FFF2-40B4-BE49-F238E27FC236}">
                <a16:creationId xmlns:a16="http://schemas.microsoft.com/office/drawing/2014/main" id="{F5E40CB9-8C5F-220C-4783-31D9B2109146}"/>
              </a:ext>
            </a:extLst>
          </p:cNvPr>
          <p:cNvPicPr>
            <a:picLocks noChangeAspect="1"/>
          </p:cNvPicPr>
          <p:nvPr/>
        </p:nvPicPr>
        <p:blipFill rotWithShape="1">
          <a:blip r:embed="rId2"/>
          <a:srcRect t="15730"/>
          <a:stretch>
            <a:fillRect/>
          </a:stretch>
        </p:blipFill>
        <p:spPr>
          <a:xfrm>
            <a:off x="1" y="10"/>
            <a:ext cx="12192000" cy="6857990"/>
          </a:xfrm>
          <a:prstGeom prst="rect">
            <a:avLst/>
          </a:prstGeom>
        </p:spPr>
      </p:pic>
      <p:sp>
        <p:nvSpPr>
          <p:cNvPr id="33" name="Rectangle 32">
            <a:extLst>
              <a:ext uri="{FF2B5EF4-FFF2-40B4-BE49-F238E27FC236}">
                <a16:creationId xmlns:a16="http://schemas.microsoft.com/office/drawing/2014/main" id="{D0DE3FF4-A6CF-0056-8E64-D1BDC0B1C8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920343"/>
            <a:ext cx="12192000" cy="1937657"/>
          </a:xfrm>
          <a:prstGeom prst="rect">
            <a:avLst/>
          </a:prstGeom>
          <a:gradFill>
            <a:gsLst>
              <a:gs pos="47000">
                <a:srgbClr val="000000">
                  <a:alpha val="18000"/>
                </a:srgbClr>
              </a:gs>
              <a:gs pos="0">
                <a:schemeClr val="tx1">
                  <a:alpha val="0"/>
                </a:schemeClr>
              </a:gs>
              <a:gs pos="100000">
                <a:srgbClr val="000000">
                  <a:alpha val="33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3155AF8-F502-A944-D0DE-2537967D1A28}"/>
              </a:ext>
            </a:extLst>
          </p:cNvPr>
          <p:cNvSpPr>
            <a:spLocks noGrp="1"/>
          </p:cNvSpPr>
          <p:nvPr>
            <p:ph type="ctrTitle"/>
          </p:nvPr>
        </p:nvSpPr>
        <p:spPr>
          <a:xfrm>
            <a:off x="613611" y="2138364"/>
            <a:ext cx="9767989" cy="1873029"/>
          </a:xfrm>
          <a:solidFill>
            <a:srgbClr val="7F7F7F">
              <a:alpha val="29804"/>
            </a:srgbClr>
          </a:solidFill>
        </p:spPr>
        <p:txBody>
          <a:bodyPr anchor="ctr">
            <a:noAutofit/>
          </a:bodyPr>
          <a:lstStyle/>
          <a:p>
            <a:pPr algn="l"/>
            <a:r>
              <a:rPr lang="en-SG" sz="7200" cap="none" dirty="0">
                <a:solidFill>
                  <a:srgbClr val="FFFFFF"/>
                </a:solidFill>
                <a:latin typeface="Times-Roman"/>
                <a:ea typeface="DengXian" panose="02010600030101010101" pitchFamily="2" charset="-122"/>
                <a:cs typeface="Times New Roman" panose="02020603050405020304" pitchFamily="18" charset="0"/>
              </a:rPr>
              <a:t>CAUSAL MEDIATION ANALYSIS</a:t>
            </a:r>
            <a:endParaRPr lang="en-SG" sz="7200" cap="none" dirty="0">
              <a:solidFill>
                <a:srgbClr val="FFFFFF"/>
              </a:solidFill>
              <a:latin typeface="Times-Roman"/>
            </a:endParaRPr>
          </a:p>
        </p:txBody>
      </p:sp>
      <p:sp>
        <p:nvSpPr>
          <p:cNvPr id="3" name="Subtitle 2">
            <a:extLst>
              <a:ext uri="{FF2B5EF4-FFF2-40B4-BE49-F238E27FC236}">
                <a16:creationId xmlns:a16="http://schemas.microsoft.com/office/drawing/2014/main" id="{3A6DED66-C7E5-F9D8-542E-6F182863423E}"/>
              </a:ext>
            </a:extLst>
          </p:cNvPr>
          <p:cNvSpPr>
            <a:spLocks noGrp="1"/>
          </p:cNvSpPr>
          <p:nvPr>
            <p:ph type="subTitle" idx="1"/>
          </p:nvPr>
        </p:nvSpPr>
        <p:spPr>
          <a:xfrm>
            <a:off x="613611" y="4276717"/>
            <a:ext cx="10964778" cy="1873030"/>
          </a:xfrm>
          <a:solidFill>
            <a:srgbClr val="7F7F7F">
              <a:alpha val="20000"/>
            </a:srgbClr>
          </a:solidFill>
        </p:spPr>
        <p:txBody>
          <a:bodyPr anchor="ctr">
            <a:noAutofit/>
          </a:bodyPr>
          <a:lstStyle/>
          <a:p>
            <a:pPr algn="l">
              <a:lnSpc>
                <a:spcPct val="90000"/>
              </a:lnSpc>
              <a:spcBef>
                <a:spcPts val="1200"/>
              </a:spcBef>
              <a:spcAft>
                <a:spcPts val="800"/>
              </a:spcAft>
            </a:pPr>
            <a:r>
              <a:rPr lang="es-ES_tradnl" sz="2800" b="1" i="0" dirty="0">
                <a:solidFill>
                  <a:srgbClr val="FFFFFF"/>
                </a:solidFill>
                <a:effectLst/>
                <a:latin typeface="Times-Roman"/>
                <a:ea typeface="DengXian" panose="02010600030101010101" pitchFamily="2" charset="-122"/>
                <a:cs typeface="Calibri" panose="020F0502020204030204" pitchFamily="34" charset="0"/>
              </a:rPr>
              <a:t>Sharon Tan (</a:t>
            </a:r>
            <a:r>
              <a:rPr lang="es-ES_tradnl" sz="2800" b="1" i="0" dirty="0" err="1">
                <a:solidFill>
                  <a:srgbClr val="FFFFFF"/>
                </a:solidFill>
                <a:effectLst/>
                <a:latin typeface="Times-Roman"/>
                <a:ea typeface="DengXian" panose="02010600030101010101" pitchFamily="2" charset="-122"/>
                <a:cs typeface="Calibri" panose="020F0502020204030204" pitchFamily="34" charset="0"/>
              </a:rPr>
              <a:t>Dr</a:t>
            </a:r>
            <a:r>
              <a:rPr lang="es-ES_tradnl" sz="2800" b="1" i="0" dirty="0">
                <a:solidFill>
                  <a:srgbClr val="FFFFFF"/>
                </a:solidFill>
                <a:effectLst/>
                <a:latin typeface="Times-Roman"/>
                <a:ea typeface="DengXian" panose="02010600030101010101" pitchFamily="2" charset="-122"/>
                <a:cs typeface="Calibri" panose="020F0502020204030204" pitchFamily="34" charset="0"/>
              </a:rPr>
              <a:t>)</a:t>
            </a:r>
            <a:endParaRPr lang="en-SG" sz="2800" b="1" i="0" dirty="0">
              <a:solidFill>
                <a:srgbClr val="FFFFFF"/>
              </a:solidFill>
              <a:latin typeface="Times-Roman"/>
              <a:ea typeface="DengXian" panose="02010600030101010101" pitchFamily="2" charset="-122"/>
              <a:cs typeface="Times New Roman" panose="02020603050405020304" pitchFamily="18" charset="0"/>
            </a:endParaRPr>
          </a:p>
          <a:p>
            <a:pPr algn="l">
              <a:lnSpc>
                <a:spcPct val="90000"/>
              </a:lnSpc>
              <a:spcBef>
                <a:spcPts val="1200"/>
              </a:spcBef>
              <a:spcAft>
                <a:spcPts val="800"/>
              </a:spcAft>
            </a:pPr>
            <a:r>
              <a:rPr lang="es-ES_tradnl" sz="2200" i="0" dirty="0" err="1">
                <a:solidFill>
                  <a:srgbClr val="FFFFFF"/>
                </a:solidFill>
                <a:effectLst/>
                <a:latin typeface="Times-Roman"/>
                <a:ea typeface="Arial" panose="020B0604020202020204" pitchFamily="34" charset="0"/>
                <a:cs typeface="Calibri" panose="020F0502020204030204" pitchFamily="34" charset="0"/>
              </a:rPr>
              <a:t>Faculty</a:t>
            </a:r>
            <a:r>
              <a:rPr lang="es-ES_tradnl" sz="2200" i="0" dirty="0">
                <a:solidFill>
                  <a:srgbClr val="FFFFFF"/>
                </a:solidFill>
                <a:effectLst/>
                <a:latin typeface="Times-Roman"/>
                <a:ea typeface="Arial" panose="020B0604020202020204" pitchFamily="34" charset="0"/>
                <a:cs typeface="Calibri" panose="020F0502020204030204" pitchFamily="34" charset="0"/>
              </a:rPr>
              <a:t> </a:t>
            </a:r>
            <a:r>
              <a:rPr lang="es-ES_tradnl" sz="2200" i="0" dirty="0" err="1">
                <a:solidFill>
                  <a:srgbClr val="FFFFFF"/>
                </a:solidFill>
                <a:effectLst/>
                <a:latin typeface="Times-Roman"/>
                <a:ea typeface="Arial" panose="020B0604020202020204" pitchFamily="34" charset="0"/>
                <a:cs typeface="Calibri" panose="020F0502020204030204" pitchFamily="34" charset="0"/>
              </a:rPr>
              <a:t>of</a:t>
            </a:r>
            <a:r>
              <a:rPr lang="es-ES_tradnl" sz="2200" i="0" dirty="0">
                <a:solidFill>
                  <a:srgbClr val="FFFFFF"/>
                </a:solidFill>
                <a:effectLst/>
                <a:latin typeface="Times-Roman"/>
                <a:ea typeface="Arial" panose="020B0604020202020204" pitchFamily="34" charset="0"/>
                <a:cs typeface="Calibri" panose="020F0502020204030204" pitchFamily="34" charset="0"/>
              </a:rPr>
              <a:t> </a:t>
            </a:r>
            <a:r>
              <a:rPr lang="es-ES_tradnl" sz="2200" i="0" dirty="0" err="1">
                <a:solidFill>
                  <a:srgbClr val="FFFFFF"/>
                </a:solidFill>
                <a:effectLst/>
                <a:latin typeface="Times-Roman"/>
                <a:ea typeface="Arial" panose="020B0604020202020204" pitchFamily="34" charset="0"/>
                <a:cs typeface="Calibri" panose="020F0502020204030204" pitchFamily="34" charset="0"/>
              </a:rPr>
              <a:t>Dentistry</a:t>
            </a:r>
            <a:r>
              <a:rPr lang="es-ES_tradnl" sz="2200" i="0" dirty="0">
                <a:solidFill>
                  <a:srgbClr val="FFFFFF"/>
                </a:solidFill>
                <a:latin typeface="Times-Roman"/>
                <a:ea typeface="Arial" panose="020B0604020202020204" pitchFamily="34" charset="0"/>
                <a:cs typeface="Calibri" panose="020F0502020204030204" pitchFamily="34" charset="0"/>
              </a:rPr>
              <a:t>, Oral &amp; </a:t>
            </a:r>
            <a:r>
              <a:rPr lang="es-ES_tradnl" sz="2200" i="0" dirty="0" err="1">
                <a:solidFill>
                  <a:srgbClr val="FFFFFF"/>
                </a:solidFill>
                <a:latin typeface="Times-Roman"/>
                <a:ea typeface="Arial" panose="020B0604020202020204" pitchFamily="34" charset="0"/>
                <a:cs typeface="Calibri" panose="020F0502020204030204" pitchFamily="34" charset="0"/>
              </a:rPr>
              <a:t>Craniofacial</a:t>
            </a:r>
            <a:r>
              <a:rPr lang="es-ES_tradnl" sz="2200" i="0" dirty="0">
                <a:solidFill>
                  <a:srgbClr val="FFFFFF"/>
                </a:solidFill>
                <a:latin typeface="Times-Roman"/>
                <a:ea typeface="Arial" panose="020B0604020202020204" pitchFamily="34" charset="0"/>
                <a:cs typeface="Calibri" panose="020F0502020204030204" pitchFamily="34" charset="0"/>
              </a:rPr>
              <a:t> </a:t>
            </a:r>
            <a:r>
              <a:rPr lang="es-ES_tradnl" sz="2200" i="0" dirty="0" err="1">
                <a:solidFill>
                  <a:srgbClr val="FFFFFF"/>
                </a:solidFill>
                <a:latin typeface="Times-Roman"/>
                <a:ea typeface="Arial" panose="020B0604020202020204" pitchFamily="34" charset="0"/>
                <a:cs typeface="Calibri" panose="020F0502020204030204" pitchFamily="34" charset="0"/>
              </a:rPr>
              <a:t>Sciences</a:t>
            </a:r>
            <a:r>
              <a:rPr lang="es-ES_tradnl" sz="2200" i="0" dirty="0">
                <a:solidFill>
                  <a:srgbClr val="FFFFFF"/>
                </a:solidFill>
                <a:latin typeface="Times-Roman"/>
                <a:ea typeface="Arial" panose="020B0604020202020204" pitchFamily="34" charset="0"/>
                <a:cs typeface="Calibri" panose="020F0502020204030204" pitchFamily="34" charset="0"/>
              </a:rPr>
              <a:t>, </a:t>
            </a:r>
            <a:r>
              <a:rPr lang="es-ES_tradnl" sz="2200" i="0" dirty="0" err="1">
                <a:solidFill>
                  <a:srgbClr val="FFFFFF"/>
                </a:solidFill>
                <a:effectLst/>
                <a:latin typeface="Times-Roman"/>
                <a:ea typeface="Arial" panose="020B0604020202020204" pitchFamily="34" charset="0"/>
                <a:cs typeface="Calibri" panose="020F0502020204030204" pitchFamily="34" charset="0"/>
              </a:rPr>
              <a:t>King’s</a:t>
            </a:r>
            <a:r>
              <a:rPr lang="es-ES_tradnl" sz="2200" i="0" dirty="0">
                <a:solidFill>
                  <a:srgbClr val="FFFFFF"/>
                </a:solidFill>
                <a:effectLst/>
                <a:latin typeface="Times-Roman"/>
                <a:ea typeface="Arial" panose="020B0604020202020204" pitchFamily="34" charset="0"/>
                <a:cs typeface="Calibri" panose="020F0502020204030204" pitchFamily="34" charset="0"/>
              </a:rPr>
              <a:t> </a:t>
            </a:r>
            <a:r>
              <a:rPr lang="es-ES_tradnl" sz="2200" i="0" dirty="0" err="1">
                <a:solidFill>
                  <a:srgbClr val="FFFFFF"/>
                </a:solidFill>
                <a:latin typeface="Times-Roman"/>
                <a:ea typeface="Arial" panose="020B0604020202020204" pitchFamily="34" charset="0"/>
                <a:cs typeface="Calibri" panose="020F0502020204030204" pitchFamily="34" charset="0"/>
              </a:rPr>
              <a:t>College</a:t>
            </a:r>
            <a:r>
              <a:rPr lang="es-ES_tradnl" sz="2200" i="0" dirty="0">
                <a:solidFill>
                  <a:srgbClr val="FFFFFF"/>
                </a:solidFill>
                <a:latin typeface="Times-Roman"/>
                <a:ea typeface="Arial" panose="020B0604020202020204" pitchFamily="34" charset="0"/>
                <a:cs typeface="Calibri" panose="020F0502020204030204" pitchFamily="34" charset="0"/>
              </a:rPr>
              <a:t> London, </a:t>
            </a:r>
            <a:r>
              <a:rPr lang="es-ES_tradnl" sz="2200" i="0" dirty="0" err="1">
                <a:solidFill>
                  <a:srgbClr val="FFFFFF"/>
                </a:solidFill>
                <a:latin typeface="Times-Roman"/>
                <a:ea typeface="Arial" panose="020B0604020202020204" pitchFamily="34" charset="0"/>
                <a:cs typeface="Calibri" panose="020F0502020204030204" pitchFamily="34" charset="0"/>
              </a:rPr>
              <a:t>United</a:t>
            </a:r>
            <a:r>
              <a:rPr lang="es-ES_tradnl" sz="2200" i="0" dirty="0">
                <a:solidFill>
                  <a:srgbClr val="FFFFFF"/>
                </a:solidFill>
                <a:latin typeface="Times-Roman"/>
                <a:ea typeface="Arial" panose="020B0604020202020204" pitchFamily="34" charset="0"/>
                <a:cs typeface="Calibri" panose="020F0502020204030204" pitchFamily="34" charset="0"/>
              </a:rPr>
              <a:t> </a:t>
            </a:r>
            <a:r>
              <a:rPr lang="es-ES_tradnl" sz="2200" i="0" dirty="0" err="1">
                <a:solidFill>
                  <a:srgbClr val="FFFFFF"/>
                </a:solidFill>
                <a:latin typeface="Times-Roman"/>
                <a:ea typeface="Arial" panose="020B0604020202020204" pitchFamily="34" charset="0"/>
                <a:cs typeface="Calibri" panose="020F0502020204030204" pitchFamily="34" charset="0"/>
              </a:rPr>
              <a:t>Kingdom</a:t>
            </a:r>
            <a:br>
              <a:rPr lang="es-ES_tradnl" sz="2200" i="0" dirty="0">
                <a:solidFill>
                  <a:srgbClr val="FFFFFF"/>
                </a:solidFill>
                <a:latin typeface="Times-Roman"/>
                <a:ea typeface="Arial" panose="020B0604020202020204" pitchFamily="34" charset="0"/>
                <a:cs typeface="Calibri" panose="020F0502020204030204" pitchFamily="34" charset="0"/>
              </a:rPr>
            </a:br>
            <a:r>
              <a:rPr lang="es-ES_tradnl" sz="2200" i="0" dirty="0" err="1">
                <a:solidFill>
                  <a:srgbClr val="FFFFFF"/>
                </a:solidFill>
                <a:effectLst/>
                <a:latin typeface="Times-Roman"/>
                <a:ea typeface="DengXian" panose="02010600030101010101" pitchFamily="2" charset="-122"/>
                <a:cs typeface="Calibri" panose="020F0502020204030204" pitchFamily="34" charset="0"/>
              </a:rPr>
              <a:t>Saw</a:t>
            </a:r>
            <a:r>
              <a:rPr lang="es-ES_tradnl" sz="2200" i="0" dirty="0">
                <a:solidFill>
                  <a:srgbClr val="FFFFFF"/>
                </a:solidFill>
                <a:effectLst/>
                <a:latin typeface="Times-Roman"/>
                <a:ea typeface="DengXian" panose="02010600030101010101" pitchFamily="2" charset="-122"/>
                <a:cs typeface="Calibri" panose="020F0502020204030204" pitchFamily="34" charset="0"/>
              </a:rPr>
              <a:t> </a:t>
            </a:r>
            <a:r>
              <a:rPr lang="es-ES_tradnl" sz="2200" i="0" dirty="0" err="1">
                <a:solidFill>
                  <a:srgbClr val="FFFFFF"/>
                </a:solidFill>
                <a:effectLst/>
                <a:latin typeface="Times-Roman"/>
                <a:ea typeface="DengXian" panose="02010600030101010101" pitchFamily="2" charset="-122"/>
                <a:cs typeface="Calibri" panose="020F0502020204030204" pitchFamily="34" charset="0"/>
              </a:rPr>
              <a:t>Swee</a:t>
            </a:r>
            <a:r>
              <a:rPr lang="es-ES_tradnl" sz="2200" i="0" dirty="0">
                <a:solidFill>
                  <a:srgbClr val="FFFFFF"/>
                </a:solidFill>
                <a:effectLst/>
                <a:latin typeface="Times-Roman"/>
                <a:ea typeface="DengXian" panose="02010600030101010101" pitchFamily="2" charset="-122"/>
                <a:cs typeface="Calibri" panose="020F0502020204030204" pitchFamily="34" charset="0"/>
              </a:rPr>
              <a:t> </a:t>
            </a:r>
            <a:r>
              <a:rPr lang="es-ES_tradnl" sz="2200" i="0" dirty="0" err="1">
                <a:solidFill>
                  <a:srgbClr val="FFFFFF"/>
                </a:solidFill>
                <a:effectLst/>
                <a:latin typeface="Times-Roman"/>
                <a:ea typeface="DengXian" panose="02010600030101010101" pitchFamily="2" charset="-122"/>
                <a:cs typeface="Calibri" panose="020F0502020204030204" pitchFamily="34" charset="0"/>
              </a:rPr>
              <a:t>Hock</a:t>
            </a:r>
            <a:r>
              <a:rPr lang="es-ES_tradnl" sz="2200" i="0" dirty="0">
                <a:solidFill>
                  <a:srgbClr val="FFFFFF"/>
                </a:solidFill>
                <a:effectLst/>
                <a:latin typeface="Times-Roman"/>
                <a:ea typeface="DengXian" panose="02010600030101010101" pitchFamily="2" charset="-122"/>
                <a:cs typeface="Calibri" panose="020F0502020204030204" pitchFamily="34" charset="0"/>
              </a:rPr>
              <a:t> </a:t>
            </a:r>
            <a:r>
              <a:rPr lang="es-ES_tradnl" sz="2200" i="0" dirty="0" err="1">
                <a:solidFill>
                  <a:srgbClr val="FFFFFF"/>
                </a:solidFill>
                <a:effectLst/>
                <a:latin typeface="Times-Roman"/>
                <a:ea typeface="DengXian" panose="02010600030101010101" pitchFamily="2" charset="-122"/>
                <a:cs typeface="Calibri" panose="020F0502020204030204" pitchFamily="34" charset="0"/>
              </a:rPr>
              <a:t>School</a:t>
            </a:r>
            <a:r>
              <a:rPr lang="es-ES_tradnl" sz="2200" i="0" dirty="0">
                <a:solidFill>
                  <a:srgbClr val="FFFFFF"/>
                </a:solidFill>
                <a:effectLst/>
                <a:latin typeface="Times-Roman"/>
                <a:ea typeface="DengXian" panose="02010600030101010101" pitchFamily="2" charset="-122"/>
                <a:cs typeface="Calibri" panose="020F0502020204030204" pitchFamily="34" charset="0"/>
              </a:rPr>
              <a:t> </a:t>
            </a:r>
            <a:r>
              <a:rPr lang="es-ES_tradnl" sz="2200" i="0" dirty="0" err="1">
                <a:solidFill>
                  <a:srgbClr val="FFFFFF"/>
                </a:solidFill>
                <a:effectLst/>
                <a:latin typeface="Times-Roman"/>
                <a:ea typeface="DengXian" panose="02010600030101010101" pitchFamily="2" charset="-122"/>
                <a:cs typeface="Calibri" panose="020F0502020204030204" pitchFamily="34" charset="0"/>
              </a:rPr>
              <a:t>of</a:t>
            </a:r>
            <a:r>
              <a:rPr lang="es-ES_tradnl" sz="2200" i="0" dirty="0">
                <a:solidFill>
                  <a:srgbClr val="FFFFFF"/>
                </a:solidFill>
                <a:effectLst/>
                <a:latin typeface="Times-Roman"/>
                <a:ea typeface="DengXian" panose="02010600030101010101" pitchFamily="2" charset="-122"/>
                <a:cs typeface="Calibri" panose="020F0502020204030204" pitchFamily="34" charset="0"/>
              </a:rPr>
              <a:t> </a:t>
            </a:r>
            <a:r>
              <a:rPr lang="es-ES_tradnl" sz="2200" i="0" dirty="0" err="1">
                <a:solidFill>
                  <a:srgbClr val="FFFFFF"/>
                </a:solidFill>
                <a:effectLst/>
                <a:latin typeface="Times-Roman"/>
                <a:ea typeface="DengXian" panose="02010600030101010101" pitchFamily="2" charset="-122"/>
                <a:cs typeface="Calibri" panose="020F0502020204030204" pitchFamily="34" charset="0"/>
              </a:rPr>
              <a:t>Public</a:t>
            </a:r>
            <a:r>
              <a:rPr lang="es-ES_tradnl" sz="2200" i="0" dirty="0">
                <a:solidFill>
                  <a:srgbClr val="FFFFFF"/>
                </a:solidFill>
                <a:effectLst/>
                <a:latin typeface="Times-Roman"/>
                <a:ea typeface="DengXian" panose="02010600030101010101" pitchFamily="2" charset="-122"/>
                <a:cs typeface="Calibri" panose="020F0502020204030204" pitchFamily="34" charset="0"/>
              </a:rPr>
              <a:t> </a:t>
            </a:r>
            <a:r>
              <a:rPr lang="es-ES_tradnl" sz="2200" i="0" dirty="0" err="1">
                <a:solidFill>
                  <a:srgbClr val="FFFFFF"/>
                </a:solidFill>
                <a:effectLst/>
                <a:latin typeface="Times-Roman"/>
                <a:ea typeface="DengXian" panose="02010600030101010101" pitchFamily="2" charset="-122"/>
                <a:cs typeface="Calibri" panose="020F0502020204030204" pitchFamily="34" charset="0"/>
              </a:rPr>
              <a:t>Health</a:t>
            </a:r>
            <a:r>
              <a:rPr lang="es-ES_tradnl" sz="2200" i="0" dirty="0">
                <a:solidFill>
                  <a:srgbClr val="FFFFFF"/>
                </a:solidFill>
                <a:effectLst/>
                <a:latin typeface="Times-Roman"/>
                <a:ea typeface="DengXian" panose="02010600030101010101" pitchFamily="2" charset="-122"/>
                <a:cs typeface="Calibri" panose="020F0502020204030204" pitchFamily="34" charset="0"/>
              </a:rPr>
              <a:t>, </a:t>
            </a:r>
            <a:r>
              <a:rPr lang="es-ES_tradnl" sz="2200" i="0" dirty="0" err="1">
                <a:solidFill>
                  <a:srgbClr val="FFFFFF"/>
                </a:solidFill>
                <a:effectLst/>
                <a:latin typeface="Times-Roman"/>
                <a:ea typeface="DengXian" panose="02010600030101010101" pitchFamily="2" charset="-122"/>
                <a:cs typeface="Calibri" panose="020F0502020204030204" pitchFamily="34" charset="0"/>
              </a:rPr>
              <a:t>National</a:t>
            </a:r>
            <a:r>
              <a:rPr lang="es-ES_tradnl" sz="2200" i="0" dirty="0">
                <a:solidFill>
                  <a:srgbClr val="FFFFFF"/>
                </a:solidFill>
                <a:effectLst/>
                <a:latin typeface="Times-Roman"/>
                <a:ea typeface="DengXian" panose="02010600030101010101" pitchFamily="2" charset="-122"/>
                <a:cs typeface="Calibri" panose="020F0502020204030204" pitchFamily="34" charset="0"/>
              </a:rPr>
              <a:t> </a:t>
            </a:r>
            <a:r>
              <a:rPr lang="es-ES_tradnl" sz="2200" i="0" dirty="0" err="1">
                <a:solidFill>
                  <a:srgbClr val="FFFFFF"/>
                </a:solidFill>
                <a:effectLst/>
                <a:latin typeface="Times-Roman"/>
                <a:ea typeface="DengXian" panose="02010600030101010101" pitchFamily="2" charset="-122"/>
                <a:cs typeface="Calibri" panose="020F0502020204030204" pitchFamily="34" charset="0"/>
              </a:rPr>
              <a:t>University</a:t>
            </a:r>
            <a:r>
              <a:rPr lang="es-ES_tradnl" sz="2200" i="0" dirty="0">
                <a:solidFill>
                  <a:srgbClr val="FFFFFF"/>
                </a:solidFill>
                <a:effectLst/>
                <a:latin typeface="Times-Roman"/>
                <a:ea typeface="DengXian" panose="02010600030101010101" pitchFamily="2" charset="-122"/>
                <a:cs typeface="Calibri" panose="020F0502020204030204" pitchFamily="34" charset="0"/>
              </a:rPr>
              <a:t> </a:t>
            </a:r>
            <a:r>
              <a:rPr lang="es-ES_tradnl" sz="2200" i="0" dirty="0" err="1">
                <a:solidFill>
                  <a:srgbClr val="FFFFFF"/>
                </a:solidFill>
                <a:effectLst/>
                <a:latin typeface="Times-Roman"/>
                <a:ea typeface="DengXian" panose="02010600030101010101" pitchFamily="2" charset="-122"/>
                <a:cs typeface="Calibri" panose="020F0502020204030204" pitchFamily="34" charset="0"/>
              </a:rPr>
              <a:t>of</a:t>
            </a:r>
            <a:r>
              <a:rPr lang="es-ES_tradnl" sz="2200" i="0" dirty="0">
                <a:solidFill>
                  <a:srgbClr val="FFFFFF"/>
                </a:solidFill>
                <a:effectLst/>
                <a:latin typeface="Times-Roman"/>
                <a:ea typeface="DengXian" panose="02010600030101010101" pitchFamily="2" charset="-122"/>
                <a:cs typeface="Calibri" panose="020F0502020204030204" pitchFamily="34" charset="0"/>
              </a:rPr>
              <a:t> </a:t>
            </a:r>
            <a:r>
              <a:rPr lang="es-ES_tradnl" sz="2200" i="0" dirty="0" err="1">
                <a:solidFill>
                  <a:srgbClr val="FFFFFF"/>
                </a:solidFill>
                <a:effectLst/>
                <a:latin typeface="Times-Roman"/>
                <a:ea typeface="DengXian" panose="02010600030101010101" pitchFamily="2" charset="-122"/>
                <a:cs typeface="Calibri" panose="020F0502020204030204" pitchFamily="34" charset="0"/>
              </a:rPr>
              <a:t>Singapore</a:t>
            </a:r>
            <a:r>
              <a:rPr lang="es-ES_tradnl" sz="2200" i="0" dirty="0">
                <a:solidFill>
                  <a:srgbClr val="FFFFFF"/>
                </a:solidFill>
                <a:effectLst/>
                <a:latin typeface="Times-Roman"/>
                <a:ea typeface="DengXian" panose="02010600030101010101" pitchFamily="2" charset="-122"/>
                <a:cs typeface="Calibri" panose="020F0502020204030204" pitchFamily="34" charset="0"/>
              </a:rPr>
              <a:t>, </a:t>
            </a:r>
            <a:r>
              <a:rPr lang="es-ES_tradnl" sz="2200" i="0" dirty="0" err="1">
                <a:solidFill>
                  <a:srgbClr val="FFFFFF"/>
                </a:solidFill>
                <a:effectLst/>
                <a:latin typeface="Times-Roman"/>
                <a:ea typeface="DengXian" panose="02010600030101010101" pitchFamily="2" charset="-122"/>
                <a:cs typeface="Calibri" panose="020F0502020204030204" pitchFamily="34" charset="0"/>
              </a:rPr>
              <a:t>Singapore</a:t>
            </a:r>
            <a:r>
              <a:rPr lang="es-ES_tradnl" sz="2200" i="0" dirty="0">
                <a:solidFill>
                  <a:srgbClr val="FFFFFF"/>
                </a:solidFill>
                <a:effectLst/>
                <a:latin typeface="Times-Roman"/>
                <a:ea typeface="Arial" panose="020B0604020202020204" pitchFamily="34" charset="0"/>
                <a:cs typeface="Calibri" panose="020F0502020204030204" pitchFamily="34" charset="0"/>
              </a:rPr>
              <a:t> </a:t>
            </a:r>
            <a:br>
              <a:rPr lang="en-SG" sz="2200" i="0" dirty="0">
                <a:solidFill>
                  <a:srgbClr val="FFFFFF"/>
                </a:solidFill>
                <a:effectLst/>
                <a:latin typeface="Times-Roman"/>
                <a:ea typeface="Arial" panose="020B0604020202020204" pitchFamily="34" charset="0"/>
                <a:cs typeface="Calibri" panose="020F0502020204030204" pitchFamily="34" charset="0"/>
              </a:rPr>
            </a:br>
            <a:r>
              <a:rPr lang="es-ES_tradnl" sz="2200" i="0" dirty="0" err="1">
                <a:solidFill>
                  <a:srgbClr val="FFFFFF"/>
                </a:solidFill>
                <a:effectLst/>
                <a:latin typeface="Times-Roman"/>
                <a:ea typeface="DengXian" panose="02010600030101010101" pitchFamily="2" charset="-122"/>
                <a:cs typeface="Calibri" panose="020F0502020204030204" pitchFamily="34" charset="0"/>
              </a:rPr>
              <a:t>Faculty</a:t>
            </a:r>
            <a:r>
              <a:rPr lang="es-ES_tradnl" sz="2200" i="0" dirty="0">
                <a:solidFill>
                  <a:srgbClr val="FFFFFF"/>
                </a:solidFill>
                <a:effectLst/>
                <a:latin typeface="Times-Roman"/>
                <a:ea typeface="DengXian" panose="02010600030101010101" pitchFamily="2" charset="-122"/>
                <a:cs typeface="Calibri" panose="020F0502020204030204" pitchFamily="34" charset="0"/>
              </a:rPr>
              <a:t> </a:t>
            </a:r>
            <a:r>
              <a:rPr lang="es-ES_tradnl" sz="2200" i="0" dirty="0" err="1">
                <a:solidFill>
                  <a:srgbClr val="FFFFFF"/>
                </a:solidFill>
                <a:effectLst/>
                <a:latin typeface="Times-Roman"/>
                <a:ea typeface="DengXian" panose="02010600030101010101" pitchFamily="2" charset="-122"/>
                <a:cs typeface="Calibri" panose="020F0502020204030204" pitchFamily="34" charset="0"/>
              </a:rPr>
              <a:t>of</a:t>
            </a:r>
            <a:r>
              <a:rPr lang="es-ES_tradnl" sz="2200" i="0" dirty="0">
                <a:solidFill>
                  <a:srgbClr val="FFFFFF"/>
                </a:solidFill>
                <a:effectLst/>
                <a:latin typeface="Times-Roman"/>
                <a:ea typeface="DengXian" panose="02010600030101010101" pitchFamily="2" charset="-122"/>
                <a:cs typeface="Calibri" panose="020F0502020204030204" pitchFamily="34" charset="0"/>
              </a:rPr>
              <a:t> </a:t>
            </a:r>
            <a:r>
              <a:rPr lang="es-ES_tradnl" sz="2200" i="0" dirty="0" err="1">
                <a:solidFill>
                  <a:srgbClr val="FFFFFF"/>
                </a:solidFill>
                <a:effectLst/>
                <a:latin typeface="Times-Roman"/>
                <a:ea typeface="DengXian" panose="02010600030101010101" pitchFamily="2" charset="-122"/>
                <a:cs typeface="Calibri" panose="020F0502020204030204" pitchFamily="34" charset="0"/>
              </a:rPr>
              <a:t>Dentistry</a:t>
            </a:r>
            <a:r>
              <a:rPr lang="es-ES_tradnl" sz="2200" i="0" dirty="0">
                <a:solidFill>
                  <a:srgbClr val="FFFFFF"/>
                </a:solidFill>
                <a:effectLst/>
                <a:latin typeface="Times-Roman"/>
                <a:ea typeface="DengXian" panose="02010600030101010101" pitchFamily="2" charset="-122"/>
                <a:cs typeface="Calibri" panose="020F0502020204030204" pitchFamily="34" charset="0"/>
              </a:rPr>
              <a:t>, </a:t>
            </a:r>
            <a:r>
              <a:rPr lang="es-ES_tradnl" sz="2200" i="0" dirty="0" err="1">
                <a:solidFill>
                  <a:srgbClr val="FFFFFF"/>
                </a:solidFill>
                <a:effectLst/>
                <a:latin typeface="Times-Roman"/>
                <a:ea typeface="DengXian" panose="02010600030101010101" pitchFamily="2" charset="-122"/>
                <a:cs typeface="Calibri" panose="020F0502020204030204" pitchFamily="34" charset="0"/>
              </a:rPr>
              <a:t>National</a:t>
            </a:r>
            <a:r>
              <a:rPr lang="es-ES_tradnl" sz="2200" i="0" dirty="0">
                <a:solidFill>
                  <a:srgbClr val="FFFFFF"/>
                </a:solidFill>
                <a:effectLst/>
                <a:latin typeface="Times-Roman"/>
                <a:ea typeface="DengXian" panose="02010600030101010101" pitchFamily="2" charset="-122"/>
                <a:cs typeface="Calibri" panose="020F0502020204030204" pitchFamily="34" charset="0"/>
              </a:rPr>
              <a:t> </a:t>
            </a:r>
            <a:r>
              <a:rPr lang="es-ES_tradnl" sz="2200" i="0" dirty="0" err="1">
                <a:solidFill>
                  <a:srgbClr val="FFFFFF"/>
                </a:solidFill>
                <a:effectLst/>
                <a:latin typeface="Times-Roman"/>
                <a:ea typeface="DengXian" panose="02010600030101010101" pitchFamily="2" charset="-122"/>
                <a:cs typeface="Calibri" panose="020F0502020204030204" pitchFamily="34" charset="0"/>
              </a:rPr>
              <a:t>University</a:t>
            </a:r>
            <a:r>
              <a:rPr lang="es-ES_tradnl" sz="2200" i="0" dirty="0">
                <a:solidFill>
                  <a:srgbClr val="FFFFFF"/>
                </a:solidFill>
                <a:effectLst/>
                <a:latin typeface="Times-Roman"/>
                <a:ea typeface="DengXian" panose="02010600030101010101" pitchFamily="2" charset="-122"/>
                <a:cs typeface="Calibri" panose="020F0502020204030204" pitchFamily="34" charset="0"/>
              </a:rPr>
              <a:t> </a:t>
            </a:r>
            <a:r>
              <a:rPr lang="es-ES_tradnl" sz="2200" i="0" dirty="0" err="1">
                <a:solidFill>
                  <a:srgbClr val="FFFFFF"/>
                </a:solidFill>
                <a:effectLst/>
                <a:latin typeface="Times-Roman"/>
                <a:ea typeface="DengXian" panose="02010600030101010101" pitchFamily="2" charset="-122"/>
                <a:cs typeface="Calibri" panose="020F0502020204030204" pitchFamily="34" charset="0"/>
              </a:rPr>
              <a:t>of</a:t>
            </a:r>
            <a:r>
              <a:rPr lang="es-ES_tradnl" sz="2200" i="0" dirty="0">
                <a:solidFill>
                  <a:srgbClr val="FFFFFF"/>
                </a:solidFill>
                <a:effectLst/>
                <a:latin typeface="Times-Roman"/>
                <a:ea typeface="DengXian" panose="02010600030101010101" pitchFamily="2" charset="-122"/>
                <a:cs typeface="Calibri" panose="020F0502020204030204" pitchFamily="34" charset="0"/>
              </a:rPr>
              <a:t> </a:t>
            </a:r>
            <a:r>
              <a:rPr lang="es-ES_tradnl" sz="2200" i="0" dirty="0" err="1">
                <a:solidFill>
                  <a:srgbClr val="FFFFFF"/>
                </a:solidFill>
                <a:effectLst/>
                <a:latin typeface="Times-Roman"/>
                <a:ea typeface="DengXian" panose="02010600030101010101" pitchFamily="2" charset="-122"/>
                <a:cs typeface="Calibri" panose="020F0502020204030204" pitchFamily="34" charset="0"/>
              </a:rPr>
              <a:t>Singapore</a:t>
            </a:r>
            <a:r>
              <a:rPr lang="es-ES_tradnl" sz="2200" i="0" dirty="0">
                <a:solidFill>
                  <a:srgbClr val="FFFFFF"/>
                </a:solidFill>
                <a:effectLst/>
                <a:latin typeface="Times-Roman"/>
                <a:ea typeface="DengXian" panose="02010600030101010101" pitchFamily="2" charset="-122"/>
                <a:cs typeface="Calibri" panose="020F0502020204030204" pitchFamily="34" charset="0"/>
              </a:rPr>
              <a:t>, </a:t>
            </a:r>
            <a:r>
              <a:rPr lang="es-ES_tradnl" sz="2200" i="0" dirty="0" err="1">
                <a:solidFill>
                  <a:srgbClr val="FFFFFF"/>
                </a:solidFill>
                <a:effectLst/>
                <a:latin typeface="Times-Roman"/>
                <a:ea typeface="DengXian" panose="02010600030101010101" pitchFamily="2" charset="-122"/>
                <a:cs typeface="Calibri" panose="020F0502020204030204" pitchFamily="34" charset="0"/>
              </a:rPr>
              <a:t>Singapore</a:t>
            </a:r>
            <a:br>
              <a:rPr lang="es-ES_tradnl" sz="2200" i="0" dirty="0">
                <a:solidFill>
                  <a:srgbClr val="FFFFFF"/>
                </a:solidFill>
                <a:effectLst/>
                <a:latin typeface="Times-Roman"/>
                <a:ea typeface="DengXian" panose="02010600030101010101" pitchFamily="2" charset="-122"/>
                <a:cs typeface="Calibri" panose="020F0502020204030204" pitchFamily="34" charset="0"/>
              </a:rPr>
            </a:br>
            <a:endParaRPr lang="en-SG" sz="2200" i="0" dirty="0">
              <a:solidFill>
                <a:srgbClr val="FFFFFF"/>
              </a:solidFill>
              <a:effectLst/>
              <a:latin typeface="Times-Roman"/>
              <a:ea typeface="DengXian" panose="02010600030101010101" pitchFamily="2" charset="-122"/>
              <a:cs typeface="Times New Roman" panose="02020603050405020304" pitchFamily="18" charset="0"/>
            </a:endParaRPr>
          </a:p>
        </p:txBody>
      </p:sp>
      <p:pic>
        <p:nvPicPr>
          <p:cNvPr id="4" name="Picture 3" descr="A logo of a national university of singapore&#10;&#10;AI-generated content may be incorrect.">
            <a:extLst>
              <a:ext uri="{FF2B5EF4-FFF2-40B4-BE49-F238E27FC236}">
                <a16:creationId xmlns:a16="http://schemas.microsoft.com/office/drawing/2014/main" id="{4F6703FF-DF47-C5BE-3842-929FDC264219}"/>
              </a:ext>
            </a:extLst>
          </p:cNvPr>
          <p:cNvPicPr>
            <a:picLocks noChangeAspect="1"/>
          </p:cNvPicPr>
          <p:nvPr/>
        </p:nvPicPr>
        <p:blipFill>
          <a:blip r:embed="rId3"/>
          <a:stretch>
            <a:fillRect/>
          </a:stretch>
        </p:blipFill>
        <p:spPr>
          <a:xfrm>
            <a:off x="9498914" y="0"/>
            <a:ext cx="2692312" cy="1665514"/>
          </a:xfrm>
          <a:prstGeom prst="rect">
            <a:avLst/>
          </a:prstGeom>
        </p:spPr>
      </p:pic>
      <p:pic>
        <p:nvPicPr>
          <p:cNvPr id="5" name="Picture 4" descr="A red sign with white text&#10;&#10;AI-generated content may be incorrect.">
            <a:extLst>
              <a:ext uri="{FF2B5EF4-FFF2-40B4-BE49-F238E27FC236}">
                <a16:creationId xmlns:a16="http://schemas.microsoft.com/office/drawing/2014/main" id="{2F7BB5F9-AF93-7247-1393-D84C5070BAAD}"/>
              </a:ext>
            </a:extLst>
          </p:cNvPr>
          <p:cNvPicPr>
            <a:picLocks noChangeAspect="1"/>
          </p:cNvPicPr>
          <p:nvPr/>
        </p:nvPicPr>
        <p:blipFill>
          <a:blip r:embed="rId4"/>
          <a:stretch>
            <a:fillRect/>
          </a:stretch>
        </p:blipFill>
        <p:spPr>
          <a:xfrm>
            <a:off x="7311645" y="8102"/>
            <a:ext cx="2187270" cy="1665514"/>
          </a:xfrm>
          <a:prstGeom prst="rect">
            <a:avLst/>
          </a:prstGeom>
        </p:spPr>
      </p:pic>
      <p:sp>
        <p:nvSpPr>
          <p:cNvPr id="6" name="TextBox 5">
            <a:extLst>
              <a:ext uri="{FF2B5EF4-FFF2-40B4-BE49-F238E27FC236}">
                <a16:creationId xmlns:a16="http://schemas.microsoft.com/office/drawing/2014/main" id="{321736A1-5174-2CB8-E9D8-3B7D4A62BE20}"/>
              </a:ext>
            </a:extLst>
          </p:cNvPr>
          <p:cNvSpPr txBox="1"/>
          <p:nvPr/>
        </p:nvSpPr>
        <p:spPr>
          <a:xfrm>
            <a:off x="0" y="0"/>
            <a:ext cx="7224889" cy="276999"/>
          </a:xfrm>
          <a:prstGeom prst="rect">
            <a:avLst/>
          </a:prstGeom>
          <a:noFill/>
        </p:spPr>
        <p:txBody>
          <a:bodyPr wrap="square" rtlCol="0">
            <a:spAutoFit/>
          </a:bodyPr>
          <a:lstStyle/>
          <a:p>
            <a:r>
              <a:rPr lang="en-SG" sz="1200" i="1" dirty="0">
                <a:solidFill>
                  <a:schemeClr val="bg1">
                    <a:lumMod val="65000"/>
                  </a:schemeClr>
                </a:solidFill>
                <a:latin typeface="Arial" panose="020B0604020202020204" pitchFamily="34" charset="0"/>
                <a:cs typeface="Arial" panose="020B0604020202020204" pitchFamily="34" charset="0"/>
              </a:rPr>
              <a:t>[Restricted] For workshop participants only, not for distribution.</a:t>
            </a:r>
          </a:p>
        </p:txBody>
      </p:sp>
    </p:spTree>
    <p:extLst>
      <p:ext uri="{BB962C8B-B14F-4D97-AF65-F5344CB8AC3E}">
        <p14:creationId xmlns:p14="http://schemas.microsoft.com/office/powerpoint/2010/main" val="31205690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98F3013-A7A2-886F-B70C-C8291093A6BE}"/>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209B267-B8F7-3D4F-0934-B966D196AC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ill Sans MT"/>
              <a:ea typeface="+mn-ea"/>
              <a:cs typeface="+mn-cs"/>
            </a:endParaRPr>
          </a:p>
        </p:txBody>
      </p:sp>
      <p:sp>
        <p:nvSpPr>
          <p:cNvPr id="10" name="Rectangle 9">
            <a:extLst>
              <a:ext uri="{FF2B5EF4-FFF2-40B4-BE49-F238E27FC236}">
                <a16:creationId xmlns:a16="http://schemas.microsoft.com/office/drawing/2014/main" id="{BFD2F1F3-2673-B0C9-A793-A6F9E54C34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ill Sans MT"/>
              <a:ea typeface="+mn-ea"/>
              <a:cs typeface="+mn-cs"/>
            </a:endParaRPr>
          </a:p>
        </p:txBody>
      </p:sp>
      <p:sp useBgFill="1">
        <p:nvSpPr>
          <p:cNvPr id="12" name="Rectangle 11">
            <a:extLst>
              <a:ext uri="{FF2B5EF4-FFF2-40B4-BE49-F238E27FC236}">
                <a16:creationId xmlns:a16="http://schemas.microsoft.com/office/drawing/2014/main" id="{C73D004C-622D-C5E4-5AEF-847E8F7A9F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 y="685800"/>
            <a:ext cx="10820400" cy="5486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ill Sans MT"/>
              <a:ea typeface="+mn-ea"/>
              <a:cs typeface="+mn-cs"/>
            </a:endParaRPr>
          </a:p>
        </p:txBody>
      </p:sp>
      <p:sp>
        <p:nvSpPr>
          <p:cNvPr id="2" name="Title 1">
            <a:extLst>
              <a:ext uri="{FF2B5EF4-FFF2-40B4-BE49-F238E27FC236}">
                <a16:creationId xmlns:a16="http://schemas.microsoft.com/office/drawing/2014/main" id="{5AE98A45-3F76-007B-D1F8-30FC3003DACC}"/>
              </a:ext>
            </a:extLst>
          </p:cNvPr>
          <p:cNvSpPr>
            <a:spLocks noGrp="1"/>
          </p:cNvSpPr>
          <p:nvPr>
            <p:ph type="title"/>
          </p:nvPr>
        </p:nvSpPr>
        <p:spPr>
          <a:xfrm>
            <a:off x="1371599" y="1010097"/>
            <a:ext cx="9486901" cy="1010088"/>
          </a:xfrm>
        </p:spPr>
        <p:txBody>
          <a:bodyPr anchor="b">
            <a:normAutofit/>
          </a:bodyPr>
          <a:lstStyle/>
          <a:p>
            <a:pPr algn="ctr"/>
            <a:r>
              <a:rPr lang="en-SG" dirty="0"/>
              <a:t>Case study - Aim</a:t>
            </a:r>
          </a:p>
        </p:txBody>
      </p:sp>
      <p:sp>
        <p:nvSpPr>
          <p:cNvPr id="4" name="Oval 3">
            <a:extLst>
              <a:ext uri="{FF2B5EF4-FFF2-40B4-BE49-F238E27FC236}">
                <a16:creationId xmlns:a16="http://schemas.microsoft.com/office/drawing/2014/main" id="{D17187C2-AC65-732C-F6BF-2E55C6004DAC}"/>
              </a:ext>
            </a:extLst>
          </p:cNvPr>
          <p:cNvSpPr/>
          <p:nvPr/>
        </p:nvSpPr>
        <p:spPr>
          <a:xfrm>
            <a:off x="1888958" y="2430379"/>
            <a:ext cx="2442410" cy="11309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800" b="0" i="0" u="none" strike="noStrike" kern="1200" cap="none" spc="0" normalizeH="0" baseline="0" noProof="0" dirty="0">
                <a:ln>
                  <a:noFill/>
                </a:ln>
                <a:solidFill>
                  <a:srgbClr val="FFFFFF"/>
                </a:solidFill>
                <a:effectLst/>
                <a:uLnTx/>
                <a:uFillTx/>
                <a:latin typeface="Gill Sans MT"/>
                <a:ea typeface="+mn-ea"/>
                <a:cs typeface="+mn-cs"/>
              </a:rPr>
              <a:t>Income</a:t>
            </a:r>
          </a:p>
        </p:txBody>
      </p:sp>
      <p:sp>
        <p:nvSpPr>
          <p:cNvPr id="9" name="Oval 8">
            <a:extLst>
              <a:ext uri="{FF2B5EF4-FFF2-40B4-BE49-F238E27FC236}">
                <a16:creationId xmlns:a16="http://schemas.microsoft.com/office/drawing/2014/main" id="{44DCD7E7-E55D-34AA-740A-027D6EAB1E49}"/>
              </a:ext>
            </a:extLst>
          </p:cNvPr>
          <p:cNvSpPr/>
          <p:nvPr/>
        </p:nvSpPr>
        <p:spPr>
          <a:xfrm>
            <a:off x="7497679" y="2453882"/>
            <a:ext cx="2442410" cy="11309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800" b="0" i="0" u="none" strike="noStrike" kern="1200" cap="none" spc="0" normalizeH="0" baseline="0" noProof="0" dirty="0">
                <a:ln>
                  <a:noFill/>
                </a:ln>
                <a:solidFill>
                  <a:srgbClr val="FFFFFF"/>
                </a:solidFill>
                <a:effectLst/>
                <a:uLnTx/>
                <a:uFillTx/>
                <a:latin typeface="Gill Sans MT"/>
                <a:ea typeface="+mn-ea"/>
                <a:cs typeface="+mn-cs"/>
              </a:rPr>
              <a:t>Dental caries (DMFT)</a:t>
            </a:r>
          </a:p>
        </p:txBody>
      </p:sp>
      <p:cxnSp>
        <p:nvCxnSpPr>
          <p:cNvPr id="6" name="Straight Arrow Connector 5">
            <a:extLst>
              <a:ext uri="{FF2B5EF4-FFF2-40B4-BE49-F238E27FC236}">
                <a16:creationId xmlns:a16="http://schemas.microsoft.com/office/drawing/2014/main" id="{D76C5957-267E-A037-706B-66CC20A7351A}"/>
              </a:ext>
            </a:extLst>
          </p:cNvPr>
          <p:cNvCxnSpPr>
            <a:stCxn id="4" idx="6"/>
            <a:endCxn id="9" idx="2"/>
          </p:cNvCxnSpPr>
          <p:nvPr/>
        </p:nvCxnSpPr>
        <p:spPr>
          <a:xfrm>
            <a:off x="4331368" y="2995863"/>
            <a:ext cx="3166311" cy="2350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C7A3F06E-B1D1-74B5-2B00-1CF946AEEFDE}"/>
              </a:ext>
            </a:extLst>
          </p:cNvPr>
          <p:cNvSpPr/>
          <p:nvPr/>
        </p:nvSpPr>
        <p:spPr>
          <a:xfrm>
            <a:off x="4642436" y="3371649"/>
            <a:ext cx="2442410" cy="11309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800" b="0" i="0" u="none" strike="noStrike" kern="1200" cap="none" spc="0" normalizeH="0" baseline="0" noProof="0" dirty="0">
                <a:ln>
                  <a:noFill/>
                </a:ln>
                <a:solidFill>
                  <a:srgbClr val="FFFFFF"/>
                </a:solidFill>
                <a:effectLst/>
                <a:uLnTx/>
                <a:uFillTx/>
                <a:latin typeface="Gill Sans MT"/>
                <a:ea typeface="+mn-ea"/>
                <a:cs typeface="+mn-cs"/>
              </a:rPr>
              <a:t>Sugar</a:t>
            </a:r>
            <a:r>
              <a:rPr kumimoji="0" lang="en-SG" sz="1800" b="0" i="0" u="none" strike="noStrike" kern="1200" cap="none" spc="0" normalizeH="0" noProof="0" dirty="0">
                <a:ln>
                  <a:noFill/>
                </a:ln>
                <a:solidFill>
                  <a:srgbClr val="FFFFFF"/>
                </a:solidFill>
                <a:effectLst/>
                <a:uLnTx/>
                <a:uFillTx/>
                <a:latin typeface="Gill Sans MT"/>
                <a:ea typeface="+mn-ea"/>
                <a:cs typeface="+mn-cs"/>
              </a:rPr>
              <a:t> consumption</a:t>
            </a:r>
            <a:endParaRPr kumimoji="0" lang="en-SG" sz="1800" b="0" i="0" u="none" strike="noStrike" kern="1200" cap="none" spc="0" normalizeH="0" baseline="0" noProof="0" dirty="0">
              <a:ln>
                <a:noFill/>
              </a:ln>
              <a:solidFill>
                <a:srgbClr val="FFFFFF"/>
              </a:solidFill>
              <a:effectLst/>
              <a:uLnTx/>
              <a:uFillTx/>
              <a:latin typeface="Gill Sans MT"/>
              <a:ea typeface="+mn-ea"/>
              <a:cs typeface="+mn-cs"/>
            </a:endParaRPr>
          </a:p>
        </p:txBody>
      </p:sp>
      <p:cxnSp>
        <p:nvCxnSpPr>
          <p:cNvPr id="14" name="Straight Arrow Connector 13">
            <a:extLst>
              <a:ext uri="{FF2B5EF4-FFF2-40B4-BE49-F238E27FC236}">
                <a16:creationId xmlns:a16="http://schemas.microsoft.com/office/drawing/2014/main" id="{85F94891-1D2C-480A-0C21-A6F10ECE32DE}"/>
              </a:ext>
            </a:extLst>
          </p:cNvPr>
          <p:cNvCxnSpPr>
            <a:cxnSpLocks/>
            <a:endCxn id="13" idx="2"/>
          </p:cNvCxnSpPr>
          <p:nvPr/>
        </p:nvCxnSpPr>
        <p:spPr>
          <a:xfrm>
            <a:off x="3681663" y="3429000"/>
            <a:ext cx="960773" cy="50813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9E1001BA-A3E6-0683-7E54-896B01A4734A}"/>
              </a:ext>
            </a:extLst>
          </p:cNvPr>
          <p:cNvCxnSpPr>
            <a:cxnSpLocks/>
            <a:stCxn id="13" idx="6"/>
          </p:cNvCxnSpPr>
          <p:nvPr/>
        </p:nvCxnSpPr>
        <p:spPr>
          <a:xfrm flipV="1">
            <a:off x="7084846" y="3458801"/>
            <a:ext cx="864518" cy="478332"/>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C13A6567-16C5-CF36-0C57-05C8786B6CC4}"/>
              </a:ext>
            </a:extLst>
          </p:cNvPr>
          <p:cNvSpPr txBox="1"/>
          <p:nvPr/>
        </p:nvSpPr>
        <p:spPr>
          <a:xfrm>
            <a:off x="4380997" y="3516307"/>
            <a:ext cx="32485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SG" sz="1800" b="0" i="0" u="none" strike="noStrike" kern="1200" cap="none" spc="0" normalizeH="0" baseline="0" noProof="0" dirty="0">
                <a:ln>
                  <a:noFill/>
                </a:ln>
                <a:solidFill>
                  <a:srgbClr val="000000"/>
                </a:solidFill>
                <a:effectLst/>
                <a:uLnTx/>
                <a:uFillTx/>
                <a:latin typeface="Gill Sans MT"/>
                <a:ea typeface="+mn-ea"/>
                <a:cs typeface="+mn-cs"/>
              </a:rPr>
              <a:t>?</a:t>
            </a:r>
          </a:p>
        </p:txBody>
      </p:sp>
      <p:sp>
        <p:nvSpPr>
          <p:cNvPr id="15" name="TextBox 14">
            <a:extLst>
              <a:ext uri="{FF2B5EF4-FFF2-40B4-BE49-F238E27FC236}">
                <a16:creationId xmlns:a16="http://schemas.microsoft.com/office/drawing/2014/main" id="{37925368-DE14-81A4-91F4-50C7B00ACC64}"/>
              </a:ext>
            </a:extLst>
          </p:cNvPr>
          <p:cNvSpPr txBox="1"/>
          <p:nvPr/>
        </p:nvSpPr>
        <p:spPr>
          <a:xfrm>
            <a:off x="7197390" y="3445384"/>
            <a:ext cx="32485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SG" sz="1800" b="0" i="0" u="none" strike="noStrike" kern="1200" cap="none" spc="0" normalizeH="0" baseline="0" noProof="0" dirty="0">
                <a:ln>
                  <a:noFill/>
                </a:ln>
                <a:solidFill>
                  <a:srgbClr val="000000"/>
                </a:solidFill>
                <a:effectLst/>
                <a:uLnTx/>
                <a:uFillTx/>
                <a:latin typeface="Gill Sans MT"/>
                <a:ea typeface="+mn-ea"/>
                <a:cs typeface="+mn-cs"/>
              </a:rPr>
              <a:t>?</a:t>
            </a:r>
          </a:p>
        </p:txBody>
      </p:sp>
      <p:sp>
        <p:nvSpPr>
          <p:cNvPr id="17" name="TextBox 16">
            <a:extLst>
              <a:ext uri="{FF2B5EF4-FFF2-40B4-BE49-F238E27FC236}">
                <a16:creationId xmlns:a16="http://schemas.microsoft.com/office/drawing/2014/main" id="{A3B50AA9-297B-0F52-C53B-2C2EFF150EBB}"/>
              </a:ext>
            </a:extLst>
          </p:cNvPr>
          <p:cNvSpPr txBox="1"/>
          <p:nvPr/>
        </p:nvSpPr>
        <p:spPr>
          <a:xfrm>
            <a:off x="5793205" y="2583924"/>
            <a:ext cx="32485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SG" sz="1800" b="0" i="0" u="none" strike="noStrike" kern="1200" cap="none" spc="0" normalizeH="0" baseline="0" noProof="0" dirty="0">
                <a:ln>
                  <a:noFill/>
                </a:ln>
                <a:solidFill>
                  <a:srgbClr val="000000"/>
                </a:solidFill>
                <a:effectLst/>
                <a:uLnTx/>
                <a:uFillTx/>
                <a:latin typeface="Gill Sans MT"/>
                <a:ea typeface="+mn-ea"/>
                <a:cs typeface="+mn-cs"/>
              </a:rPr>
              <a:t>?</a:t>
            </a:r>
          </a:p>
        </p:txBody>
      </p:sp>
      <p:sp>
        <p:nvSpPr>
          <p:cNvPr id="18" name="TextBox 17">
            <a:extLst>
              <a:ext uri="{FF2B5EF4-FFF2-40B4-BE49-F238E27FC236}">
                <a16:creationId xmlns:a16="http://schemas.microsoft.com/office/drawing/2014/main" id="{C9C1B81F-8A57-7846-4BD1-8369A182F83C}"/>
              </a:ext>
            </a:extLst>
          </p:cNvPr>
          <p:cNvSpPr txBox="1"/>
          <p:nvPr/>
        </p:nvSpPr>
        <p:spPr>
          <a:xfrm>
            <a:off x="0" y="0"/>
            <a:ext cx="7224889" cy="276999"/>
          </a:xfrm>
          <a:prstGeom prst="rect">
            <a:avLst/>
          </a:prstGeom>
          <a:noFill/>
        </p:spPr>
        <p:txBody>
          <a:bodyPr wrap="square" rtlCol="0">
            <a:spAutoFit/>
          </a:bodyPr>
          <a:lstStyle/>
          <a:p>
            <a:r>
              <a:rPr lang="en-SG" sz="1200" i="1" dirty="0">
                <a:solidFill>
                  <a:schemeClr val="bg1">
                    <a:lumMod val="65000"/>
                  </a:schemeClr>
                </a:solidFill>
                <a:latin typeface="Arial" panose="020B0604020202020204" pitchFamily="34" charset="0"/>
                <a:cs typeface="Arial" panose="020B0604020202020204" pitchFamily="34" charset="0"/>
              </a:rPr>
              <a:t>[Restricted] For workshop participants only, not for distribution.</a:t>
            </a:r>
          </a:p>
        </p:txBody>
      </p:sp>
    </p:spTree>
    <p:extLst>
      <p:ext uri="{BB962C8B-B14F-4D97-AF65-F5344CB8AC3E}">
        <p14:creationId xmlns:p14="http://schemas.microsoft.com/office/powerpoint/2010/main" val="21148620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5" grpId="0"/>
      <p:bldP spid="15" grpId="0"/>
      <p:bldP spid="17"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FF9146B-4CCD-4CDB-AB9C-458005307E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ill Sans MT"/>
              <a:ea typeface="+mn-ea"/>
              <a:cs typeface="+mn-cs"/>
            </a:endParaRPr>
          </a:p>
        </p:txBody>
      </p:sp>
      <p:sp>
        <p:nvSpPr>
          <p:cNvPr id="12" name="Rectangle 11">
            <a:extLst>
              <a:ext uri="{FF2B5EF4-FFF2-40B4-BE49-F238E27FC236}">
                <a16:creationId xmlns:a16="http://schemas.microsoft.com/office/drawing/2014/main" id="{5E1FEFA6-7D4F-4746-AE64-D4D52FE76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ill Sans MT"/>
              <a:ea typeface="+mn-ea"/>
              <a:cs typeface="+mn-cs"/>
            </a:endParaRPr>
          </a:p>
        </p:txBody>
      </p:sp>
      <p:sp useBgFill="1">
        <p:nvSpPr>
          <p:cNvPr id="14" name="Rectangle 13">
            <a:extLst>
              <a:ext uri="{FF2B5EF4-FFF2-40B4-BE49-F238E27FC236}">
                <a16:creationId xmlns:a16="http://schemas.microsoft.com/office/drawing/2014/main" id="{BF8DA3CF-9D4B-403A-9AD4-BB177DAB6C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 y="685800"/>
            <a:ext cx="10820400" cy="5486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ill Sans MT"/>
              <a:ea typeface="+mn-ea"/>
              <a:cs typeface="+mn-cs"/>
            </a:endParaRPr>
          </a:p>
        </p:txBody>
      </p:sp>
      <p:sp>
        <p:nvSpPr>
          <p:cNvPr id="4" name="Title 3">
            <a:extLst>
              <a:ext uri="{FF2B5EF4-FFF2-40B4-BE49-F238E27FC236}">
                <a16:creationId xmlns:a16="http://schemas.microsoft.com/office/drawing/2014/main" id="{1548F39A-AC4E-4C4A-ABCA-B445C069F8F5}"/>
              </a:ext>
            </a:extLst>
          </p:cNvPr>
          <p:cNvSpPr>
            <a:spLocks noGrp="1"/>
          </p:cNvSpPr>
          <p:nvPr>
            <p:ph type="title"/>
          </p:nvPr>
        </p:nvSpPr>
        <p:spPr>
          <a:xfrm>
            <a:off x="1371599" y="1010097"/>
            <a:ext cx="9486901" cy="1010088"/>
          </a:xfrm>
        </p:spPr>
        <p:txBody>
          <a:bodyPr anchor="b">
            <a:normAutofit/>
          </a:bodyPr>
          <a:lstStyle/>
          <a:p>
            <a:pPr algn="ctr"/>
            <a:r>
              <a:rPr lang="en-SG" dirty="0"/>
              <a:t>STATISTICAL ANALYSIS</a:t>
            </a:r>
          </a:p>
        </p:txBody>
      </p:sp>
      <p:sp>
        <p:nvSpPr>
          <p:cNvPr id="5" name="Content Placeholder 4">
            <a:extLst>
              <a:ext uri="{FF2B5EF4-FFF2-40B4-BE49-F238E27FC236}">
                <a16:creationId xmlns:a16="http://schemas.microsoft.com/office/drawing/2014/main" id="{C6E9CAD8-686B-4515-8CFE-46963D4C13E5}"/>
              </a:ext>
            </a:extLst>
          </p:cNvPr>
          <p:cNvSpPr>
            <a:spLocks noGrp="1"/>
          </p:cNvSpPr>
          <p:nvPr>
            <p:ph idx="1"/>
          </p:nvPr>
        </p:nvSpPr>
        <p:spPr>
          <a:xfrm>
            <a:off x="1371600" y="2206257"/>
            <a:ext cx="9486901" cy="3540642"/>
          </a:xfrm>
        </p:spPr>
        <p:txBody>
          <a:bodyPr>
            <a:normAutofit/>
          </a:bodyPr>
          <a:lstStyle/>
          <a:p>
            <a:r>
              <a:rPr lang="en-US" dirty="0"/>
              <a:t>Linear regression</a:t>
            </a:r>
          </a:p>
          <a:p>
            <a:r>
              <a:rPr lang="en-US" dirty="0"/>
              <a:t>Estimations of average causal mediation effects and average direct effects carried out in R</a:t>
            </a:r>
          </a:p>
          <a:p>
            <a:pPr lvl="1"/>
            <a:r>
              <a:rPr lang="en-US" dirty="0"/>
              <a:t>mediation</a:t>
            </a:r>
          </a:p>
          <a:p>
            <a:pPr lvl="2"/>
            <a:r>
              <a:rPr lang="en-US" dirty="0"/>
              <a:t>1000 simulations, </a:t>
            </a:r>
            <a:r>
              <a:rPr lang="en-US" dirty="0" err="1"/>
              <a:t>yreg</a:t>
            </a:r>
            <a:r>
              <a:rPr lang="en-US" dirty="0"/>
              <a:t> – loglinear, </a:t>
            </a:r>
            <a:r>
              <a:rPr lang="en-US" dirty="0" err="1"/>
              <a:t>nreg</a:t>
            </a:r>
            <a:r>
              <a:rPr lang="en-US" dirty="0"/>
              <a:t> - logistic</a:t>
            </a:r>
          </a:p>
        </p:txBody>
      </p:sp>
      <p:sp>
        <p:nvSpPr>
          <p:cNvPr id="2" name="TextBox 1">
            <a:extLst>
              <a:ext uri="{FF2B5EF4-FFF2-40B4-BE49-F238E27FC236}">
                <a16:creationId xmlns:a16="http://schemas.microsoft.com/office/drawing/2014/main" id="{48D5CE24-9CAD-B3C9-36E4-7D74DA794351}"/>
              </a:ext>
            </a:extLst>
          </p:cNvPr>
          <p:cNvSpPr txBox="1"/>
          <p:nvPr/>
        </p:nvSpPr>
        <p:spPr>
          <a:xfrm>
            <a:off x="0" y="0"/>
            <a:ext cx="7224889" cy="276999"/>
          </a:xfrm>
          <a:prstGeom prst="rect">
            <a:avLst/>
          </a:prstGeom>
          <a:noFill/>
        </p:spPr>
        <p:txBody>
          <a:bodyPr wrap="square" rtlCol="0">
            <a:spAutoFit/>
          </a:bodyPr>
          <a:lstStyle/>
          <a:p>
            <a:r>
              <a:rPr lang="en-SG" sz="1200" i="1" dirty="0">
                <a:solidFill>
                  <a:schemeClr val="bg1">
                    <a:lumMod val="65000"/>
                  </a:schemeClr>
                </a:solidFill>
                <a:latin typeface="Arial" panose="020B0604020202020204" pitchFamily="34" charset="0"/>
                <a:cs typeface="Arial" panose="020B0604020202020204" pitchFamily="34" charset="0"/>
              </a:rPr>
              <a:t>[Restricted] For workshop participants only, not for distribution.</a:t>
            </a:r>
          </a:p>
        </p:txBody>
      </p:sp>
    </p:spTree>
    <p:extLst>
      <p:ext uri="{BB962C8B-B14F-4D97-AF65-F5344CB8AC3E}">
        <p14:creationId xmlns:p14="http://schemas.microsoft.com/office/powerpoint/2010/main" val="25276555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C91B63C-F55A-36B2-7EBE-0F73B28373D0}"/>
            </a:ext>
          </a:extLst>
        </p:cNvPr>
        <p:cNvGrpSpPr/>
        <p:nvPr/>
      </p:nvGrpSpPr>
      <p:grpSpPr>
        <a:xfrm>
          <a:off x="0" y="0"/>
          <a:ext cx="0" cy="0"/>
          <a:chOff x="0" y="0"/>
          <a:chExt cx="0" cy="0"/>
        </a:xfrm>
      </p:grpSpPr>
      <p:sp>
        <p:nvSpPr>
          <p:cNvPr id="7" name="Content Placeholder 6">
            <a:extLst>
              <a:ext uri="{FF2B5EF4-FFF2-40B4-BE49-F238E27FC236}">
                <a16:creationId xmlns:a16="http://schemas.microsoft.com/office/drawing/2014/main" id="{B52C8552-0CF5-F8E0-10FA-5DA263BED138}"/>
              </a:ext>
            </a:extLst>
          </p:cNvPr>
          <p:cNvSpPr>
            <a:spLocks noGrp="1"/>
          </p:cNvSpPr>
          <p:nvPr>
            <p:ph idx="1"/>
          </p:nvPr>
        </p:nvSpPr>
        <p:spPr/>
        <p:txBody>
          <a:bodyPr/>
          <a:lstStyle/>
          <a:p>
            <a:endParaRPr lang="en-US" dirty="0"/>
          </a:p>
        </p:txBody>
      </p:sp>
      <p:sp useBgFill="1">
        <p:nvSpPr>
          <p:cNvPr id="8" name="Rectangle 7">
            <a:extLst>
              <a:ext uri="{FF2B5EF4-FFF2-40B4-BE49-F238E27FC236}">
                <a16:creationId xmlns:a16="http://schemas.microsoft.com/office/drawing/2014/main" id="{9AAC114A-FCC4-C1AA-52BE-BFB7B78298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ill Sans MT"/>
              <a:ea typeface="+mn-ea"/>
              <a:cs typeface="+mn-cs"/>
            </a:endParaRPr>
          </a:p>
        </p:txBody>
      </p:sp>
      <p:sp>
        <p:nvSpPr>
          <p:cNvPr id="10" name="Rectangle 9">
            <a:extLst>
              <a:ext uri="{FF2B5EF4-FFF2-40B4-BE49-F238E27FC236}">
                <a16:creationId xmlns:a16="http://schemas.microsoft.com/office/drawing/2014/main" id="{BECF7541-A572-2F67-C691-200AFE6243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ill Sans MT"/>
              <a:ea typeface="+mn-ea"/>
              <a:cs typeface="+mn-cs"/>
            </a:endParaRPr>
          </a:p>
        </p:txBody>
      </p:sp>
      <p:sp useBgFill="1">
        <p:nvSpPr>
          <p:cNvPr id="12" name="Rectangle 11">
            <a:extLst>
              <a:ext uri="{FF2B5EF4-FFF2-40B4-BE49-F238E27FC236}">
                <a16:creationId xmlns:a16="http://schemas.microsoft.com/office/drawing/2014/main" id="{D687004C-48E9-2E16-D046-9D31E421FB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 y="685800"/>
            <a:ext cx="10820400" cy="5486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ill Sans MT"/>
              <a:ea typeface="+mn-ea"/>
              <a:cs typeface="+mn-cs"/>
            </a:endParaRPr>
          </a:p>
        </p:txBody>
      </p:sp>
      <p:sp>
        <p:nvSpPr>
          <p:cNvPr id="2" name="Title 1">
            <a:extLst>
              <a:ext uri="{FF2B5EF4-FFF2-40B4-BE49-F238E27FC236}">
                <a16:creationId xmlns:a16="http://schemas.microsoft.com/office/drawing/2014/main" id="{8EFA0288-FCD1-58F4-9760-050919E4BCD5}"/>
              </a:ext>
            </a:extLst>
          </p:cNvPr>
          <p:cNvSpPr>
            <a:spLocks noGrp="1"/>
          </p:cNvSpPr>
          <p:nvPr>
            <p:ph type="title"/>
          </p:nvPr>
        </p:nvSpPr>
        <p:spPr>
          <a:xfrm>
            <a:off x="1371599" y="1010097"/>
            <a:ext cx="9486901" cy="1010088"/>
          </a:xfrm>
        </p:spPr>
        <p:txBody>
          <a:bodyPr anchor="b">
            <a:normAutofit/>
          </a:bodyPr>
          <a:lstStyle/>
          <a:p>
            <a:pPr algn="ctr"/>
            <a:r>
              <a:rPr lang="en-SG" dirty="0"/>
              <a:t>LOAD DATA</a:t>
            </a:r>
          </a:p>
        </p:txBody>
      </p:sp>
      <p:pic>
        <p:nvPicPr>
          <p:cNvPr id="3" name="Picture 2">
            <a:extLst>
              <a:ext uri="{FF2B5EF4-FFF2-40B4-BE49-F238E27FC236}">
                <a16:creationId xmlns:a16="http://schemas.microsoft.com/office/drawing/2014/main" id="{CEED5213-54EE-4644-FAD7-975CD6C612AA}"/>
              </a:ext>
            </a:extLst>
          </p:cNvPr>
          <p:cNvPicPr>
            <a:picLocks noChangeAspect="1"/>
          </p:cNvPicPr>
          <p:nvPr/>
        </p:nvPicPr>
        <p:blipFill>
          <a:blip r:embed="rId3"/>
          <a:stretch>
            <a:fillRect/>
          </a:stretch>
        </p:blipFill>
        <p:spPr>
          <a:xfrm>
            <a:off x="1971220" y="2020185"/>
            <a:ext cx="8626947" cy="3542853"/>
          </a:xfrm>
          <a:prstGeom prst="rect">
            <a:avLst/>
          </a:prstGeom>
        </p:spPr>
      </p:pic>
      <p:sp>
        <p:nvSpPr>
          <p:cNvPr id="4" name="TextBox 3">
            <a:extLst>
              <a:ext uri="{FF2B5EF4-FFF2-40B4-BE49-F238E27FC236}">
                <a16:creationId xmlns:a16="http://schemas.microsoft.com/office/drawing/2014/main" id="{933F1A2D-B4D8-4940-CC82-93AFDD4BFACA}"/>
              </a:ext>
            </a:extLst>
          </p:cNvPr>
          <p:cNvSpPr txBox="1"/>
          <p:nvPr/>
        </p:nvSpPr>
        <p:spPr>
          <a:xfrm>
            <a:off x="0" y="0"/>
            <a:ext cx="7224889" cy="276999"/>
          </a:xfrm>
          <a:prstGeom prst="rect">
            <a:avLst/>
          </a:prstGeom>
          <a:noFill/>
        </p:spPr>
        <p:txBody>
          <a:bodyPr wrap="square" rtlCol="0">
            <a:spAutoFit/>
          </a:bodyPr>
          <a:lstStyle/>
          <a:p>
            <a:r>
              <a:rPr lang="en-SG" sz="1200" i="1" dirty="0">
                <a:solidFill>
                  <a:schemeClr val="bg1">
                    <a:lumMod val="65000"/>
                  </a:schemeClr>
                </a:solidFill>
                <a:latin typeface="Arial" panose="020B0604020202020204" pitchFamily="34" charset="0"/>
                <a:cs typeface="Arial" panose="020B0604020202020204" pitchFamily="34" charset="0"/>
              </a:rPr>
              <a:t>[Restricted] For workshop participants only, not for distribution.</a:t>
            </a:r>
          </a:p>
        </p:txBody>
      </p:sp>
    </p:spTree>
    <p:extLst>
      <p:ext uri="{BB962C8B-B14F-4D97-AF65-F5344CB8AC3E}">
        <p14:creationId xmlns:p14="http://schemas.microsoft.com/office/powerpoint/2010/main" val="30694385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C26CE24-76A2-6FCB-1A5A-1B7168D18EE8}"/>
            </a:ext>
          </a:extLst>
        </p:cNvPr>
        <p:cNvGrpSpPr/>
        <p:nvPr/>
      </p:nvGrpSpPr>
      <p:grpSpPr>
        <a:xfrm>
          <a:off x="0" y="0"/>
          <a:ext cx="0" cy="0"/>
          <a:chOff x="0" y="0"/>
          <a:chExt cx="0" cy="0"/>
        </a:xfrm>
      </p:grpSpPr>
      <p:sp>
        <p:nvSpPr>
          <p:cNvPr id="7" name="Content Placeholder 6">
            <a:extLst>
              <a:ext uri="{FF2B5EF4-FFF2-40B4-BE49-F238E27FC236}">
                <a16:creationId xmlns:a16="http://schemas.microsoft.com/office/drawing/2014/main" id="{82C7718B-31FE-936B-3168-D851AAE17EBE}"/>
              </a:ext>
            </a:extLst>
          </p:cNvPr>
          <p:cNvSpPr>
            <a:spLocks noGrp="1"/>
          </p:cNvSpPr>
          <p:nvPr>
            <p:ph idx="1"/>
          </p:nvPr>
        </p:nvSpPr>
        <p:spPr/>
        <p:txBody>
          <a:bodyPr/>
          <a:lstStyle/>
          <a:p>
            <a:endParaRPr lang="en-US" dirty="0"/>
          </a:p>
        </p:txBody>
      </p:sp>
      <p:sp useBgFill="1">
        <p:nvSpPr>
          <p:cNvPr id="8" name="Rectangle 7">
            <a:extLst>
              <a:ext uri="{FF2B5EF4-FFF2-40B4-BE49-F238E27FC236}">
                <a16:creationId xmlns:a16="http://schemas.microsoft.com/office/drawing/2014/main" id="{80B8AE61-7DCE-360D-2D77-A9926F9DD9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ill Sans MT"/>
              <a:ea typeface="+mn-ea"/>
              <a:cs typeface="+mn-cs"/>
            </a:endParaRPr>
          </a:p>
        </p:txBody>
      </p:sp>
      <p:sp>
        <p:nvSpPr>
          <p:cNvPr id="10" name="Rectangle 9">
            <a:extLst>
              <a:ext uri="{FF2B5EF4-FFF2-40B4-BE49-F238E27FC236}">
                <a16:creationId xmlns:a16="http://schemas.microsoft.com/office/drawing/2014/main" id="{1797E090-5944-3759-C084-DAE8CA5F82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ill Sans MT"/>
              <a:ea typeface="+mn-ea"/>
              <a:cs typeface="+mn-cs"/>
            </a:endParaRPr>
          </a:p>
        </p:txBody>
      </p:sp>
      <p:sp useBgFill="1">
        <p:nvSpPr>
          <p:cNvPr id="12" name="Rectangle 11">
            <a:extLst>
              <a:ext uri="{FF2B5EF4-FFF2-40B4-BE49-F238E27FC236}">
                <a16:creationId xmlns:a16="http://schemas.microsoft.com/office/drawing/2014/main" id="{65F704BC-5211-C826-5264-935301FE35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 y="685800"/>
            <a:ext cx="10820400" cy="5486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ill Sans MT"/>
              <a:ea typeface="+mn-ea"/>
              <a:cs typeface="+mn-cs"/>
            </a:endParaRPr>
          </a:p>
        </p:txBody>
      </p:sp>
      <p:sp>
        <p:nvSpPr>
          <p:cNvPr id="2" name="Title 1">
            <a:extLst>
              <a:ext uri="{FF2B5EF4-FFF2-40B4-BE49-F238E27FC236}">
                <a16:creationId xmlns:a16="http://schemas.microsoft.com/office/drawing/2014/main" id="{0C93D855-F850-DA1C-52F2-F0D4C44245A9}"/>
              </a:ext>
            </a:extLst>
          </p:cNvPr>
          <p:cNvSpPr>
            <a:spLocks noGrp="1"/>
          </p:cNvSpPr>
          <p:nvPr>
            <p:ph type="title"/>
          </p:nvPr>
        </p:nvSpPr>
        <p:spPr>
          <a:xfrm>
            <a:off x="1371599" y="1010097"/>
            <a:ext cx="9486901" cy="1010088"/>
          </a:xfrm>
        </p:spPr>
        <p:txBody>
          <a:bodyPr anchor="b">
            <a:normAutofit/>
          </a:bodyPr>
          <a:lstStyle/>
          <a:p>
            <a:pPr algn="ctr"/>
            <a:r>
              <a:rPr lang="en-SG" dirty="0"/>
              <a:t>Directed acyclic graph</a:t>
            </a:r>
          </a:p>
        </p:txBody>
      </p:sp>
      <p:pic>
        <p:nvPicPr>
          <p:cNvPr id="6" name="Picture 5">
            <a:extLst>
              <a:ext uri="{FF2B5EF4-FFF2-40B4-BE49-F238E27FC236}">
                <a16:creationId xmlns:a16="http://schemas.microsoft.com/office/drawing/2014/main" id="{C5C1F693-8CEE-6025-7F4C-1F6EB8BEE99C}"/>
              </a:ext>
            </a:extLst>
          </p:cNvPr>
          <p:cNvPicPr>
            <a:picLocks noChangeAspect="1"/>
          </p:cNvPicPr>
          <p:nvPr/>
        </p:nvPicPr>
        <p:blipFill>
          <a:blip r:embed="rId3"/>
          <a:stretch>
            <a:fillRect/>
          </a:stretch>
        </p:blipFill>
        <p:spPr>
          <a:xfrm>
            <a:off x="2209800" y="2070866"/>
            <a:ext cx="7772400" cy="3777037"/>
          </a:xfrm>
          <a:prstGeom prst="rect">
            <a:avLst/>
          </a:prstGeom>
        </p:spPr>
      </p:pic>
      <p:sp>
        <p:nvSpPr>
          <p:cNvPr id="9" name="TextBox 8">
            <a:extLst>
              <a:ext uri="{FF2B5EF4-FFF2-40B4-BE49-F238E27FC236}">
                <a16:creationId xmlns:a16="http://schemas.microsoft.com/office/drawing/2014/main" id="{B9B38577-3BE8-85B0-D979-F15EEAA67CBE}"/>
              </a:ext>
            </a:extLst>
          </p:cNvPr>
          <p:cNvSpPr txBox="1"/>
          <p:nvPr/>
        </p:nvSpPr>
        <p:spPr>
          <a:xfrm>
            <a:off x="0" y="0"/>
            <a:ext cx="7224889" cy="276999"/>
          </a:xfrm>
          <a:prstGeom prst="rect">
            <a:avLst/>
          </a:prstGeom>
          <a:noFill/>
        </p:spPr>
        <p:txBody>
          <a:bodyPr wrap="square" rtlCol="0">
            <a:spAutoFit/>
          </a:bodyPr>
          <a:lstStyle/>
          <a:p>
            <a:r>
              <a:rPr lang="en-SG" sz="1200" i="1" dirty="0">
                <a:solidFill>
                  <a:schemeClr val="bg1">
                    <a:lumMod val="65000"/>
                  </a:schemeClr>
                </a:solidFill>
                <a:latin typeface="Arial" panose="020B0604020202020204" pitchFamily="34" charset="0"/>
                <a:cs typeface="Arial" panose="020B0604020202020204" pitchFamily="34" charset="0"/>
              </a:rPr>
              <a:t>[Restricted] For workshop participants only, not for distribution.</a:t>
            </a:r>
          </a:p>
        </p:txBody>
      </p:sp>
    </p:spTree>
    <p:extLst>
      <p:ext uri="{BB962C8B-B14F-4D97-AF65-F5344CB8AC3E}">
        <p14:creationId xmlns:p14="http://schemas.microsoft.com/office/powerpoint/2010/main" val="29414352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FF9146B-4CCD-4CDB-AB9C-458005307E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E1FEFA6-7D4F-4746-AE64-D4D52FE76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Rectangle 13">
            <a:extLst>
              <a:ext uri="{FF2B5EF4-FFF2-40B4-BE49-F238E27FC236}">
                <a16:creationId xmlns:a16="http://schemas.microsoft.com/office/drawing/2014/main" id="{BF8DA3CF-9D4B-403A-9AD4-BB177DAB6C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 y="685800"/>
            <a:ext cx="10820400" cy="5486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Content Placeholder 4">
            <a:extLst>
              <a:ext uri="{FF2B5EF4-FFF2-40B4-BE49-F238E27FC236}">
                <a16:creationId xmlns:a16="http://schemas.microsoft.com/office/drawing/2014/main" id="{A729E5E4-2A31-149D-2760-868A1854F57A}"/>
              </a:ext>
            </a:extLst>
          </p:cNvPr>
          <p:cNvSpPr txBox="1">
            <a:spLocks/>
          </p:cNvSpPr>
          <p:nvPr/>
        </p:nvSpPr>
        <p:spPr>
          <a:xfrm>
            <a:off x="1407693" y="3216822"/>
            <a:ext cx="9486901" cy="1138523"/>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SzPct val="70000"/>
              <a:buFont typeface="Arial" panose="020B0604020202020204" pitchFamily="34" charset="0"/>
              <a:buChar char="•"/>
              <a:defRPr sz="2400" kern="1200">
                <a:solidFill>
                  <a:schemeClr val="tx2"/>
                </a:solidFill>
                <a:latin typeface="+mj-lt"/>
                <a:ea typeface="+mn-ea"/>
                <a:cs typeface="+mn-cs"/>
              </a:defRPr>
            </a:lvl1pPr>
            <a:lvl2pPr marL="685800" indent="-228600" algn="l" defTabSz="914400" rtl="0" eaLnBrk="1" latinLnBrk="0" hangingPunct="1">
              <a:lnSpc>
                <a:spcPct val="100000"/>
              </a:lnSpc>
              <a:spcBef>
                <a:spcPts val="500"/>
              </a:spcBef>
              <a:buSzPct val="70000"/>
              <a:buFont typeface="Arial" panose="020B0604020202020204" pitchFamily="34" charset="0"/>
              <a:buChar char="•"/>
              <a:defRPr sz="2000" kern="1200">
                <a:solidFill>
                  <a:schemeClr val="tx2"/>
                </a:solidFill>
                <a:latin typeface="+mj-lt"/>
                <a:ea typeface="+mn-ea"/>
                <a:cs typeface="+mn-cs"/>
              </a:defRPr>
            </a:lvl2pPr>
            <a:lvl3pPr marL="1143000" indent="-228600" algn="l" defTabSz="914400" rtl="0" eaLnBrk="1" latinLnBrk="0" hangingPunct="1">
              <a:lnSpc>
                <a:spcPct val="100000"/>
              </a:lnSpc>
              <a:spcBef>
                <a:spcPts val="500"/>
              </a:spcBef>
              <a:buSzPct val="70000"/>
              <a:buFont typeface="Arial" panose="020B0604020202020204" pitchFamily="34" charset="0"/>
              <a:buChar char="•"/>
              <a:defRPr sz="1800" kern="1200">
                <a:solidFill>
                  <a:schemeClr val="tx2"/>
                </a:solidFill>
                <a:latin typeface="+mj-lt"/>
                <a:ea typeface="+mn-ea"/>
                <a:cs typeface="+mn-cs"/>
              </a:defRPr>
            </a:lvl3pPr>
            <a:lvl4pPr marL="1600200" indent="-228600" algn="l" defTabSz="914400" rtl="0" eaLnBrk="1" latinLnBrk="0" hangingPunct="1">
              <a:lnSpc>
                <a:spcPct val="100000"/>
              </a:lnSpc>
              <a:spcBef>
                <a:spcPts val="500"/>
              </a:spcBef>
              <a:buSzPct val="70000"/>
              <a:buFont typeface="Arial" panose="020B0604020202020204" pitchFamily="34" charset="0"/>
              <a:buChar char="•"/>
              <a:defRPr sz="1600" kern="1200">
                <a:solidFill>
                  <a:schemeClr val="tx2"/>
                </a:solidFill>
                <a:latin typeface="+mj-lt"/>
                <a:ea typeface="+mn-ea"/>
                <a:cs typeface="+mn-cs"/>
              </a:defRPr>
            </a:lvl4pPr>
            <a:lvl5pPr marL="2057400" indent="-228600" algn="l" defTabSz="914400" rtl="0" eaLnBrk="1" latinLnBrk="0" hangingPunct="1">
              <a:lnSpc>
                <a:spcPct val="100000"/>
              </a:lnSpc>
              <a:spcBef>
                <a:spcPts val="500"/>
              </a:spcBef>
              <a:buSzPct val="70000"/>
              <a:buFont typeface="Arial" panose="020B0604020202020204" pitchFamily="34" charset="0"/>
              <a:buChar char="•"/>
              <a:defRPr sz="1600" kern="1200">
                <a:solidFill>
                  <a:schemeClr val="tx2"/>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SG" dirty="0"/>
          </a:p>
        </p:txBody>
      </p:sp>
      <p:graphicFrame>
        <p:nvGraphicFramePr>
          <p:cNvPr id="6" name="Table 16">
            <a:extLst>
              <a:ext uri="{FF2B5EF4-FFF2-40B4-BE49-F238E27FC236}">
                <a16:creationId xmlns:a16="http://schemas.microsoft.com/office/drawing/2014/main" id="{E5032E4B-0197-0153-DC29-812D31350D86}"/>
              </a:ext>
            </a:extLst>
          </p:cNvPr>
          <p:cNvGraphicFramePr>
            <a:graphicFrameLocks noGrp="1"/>
          </p:cNvGraphicFramePr>
          <p:nvPr>
            <p:extLst>
              <p:ext uri="{D42A27DB-BD31-4B8C-83A1-F6EECF244321}">
                <p14:modId xmlns:p14="http://schemas.microsoft.com/office/powerpoint/2010/main" val="242566823"/>
              </p:ext>
            </p:extLst>
          </p:nvPr>
        </p:nvGraphicFramePr>
        <p:xfrm>
          <a:off x="1297406" y="1184345"/>
          <a:ext cx="9784847" cy="4154029"/>
        </p:xfrm>
        <a:graphic>
          <a:graphicData uri="http://schemas.openxmlformats.org/drawingml/2006/table">
            <a:tbl>
              <a:tblPr firstRow="1" bandRow="1">
                <a:tableStyleId>{3B4B98B0-60AC-42C2-AFA5-B58CD77FA1E5}</a:tableStyleId>
              </a:tblPr>
              <a:tblGrid>
                <a:gridCol w="2313245">
                  <a:extLst>
                    <a:ext uri="{9D8B030D-6E8A-4147-A177-3AD203B41FA5}">
                      <a16:colId xmlns:a16="http://schemas.microsoft.com/office/drawing/2014/main" val="1642012585"/>
                    </a:ext>
                  </a:extLst>
                </a:gridCol>
                <a:gridCol w="2342475">
                  <a:extLst>
                    <a:ext uri="{9D8B030D-6E8A-4147-A177-3AD203B41FA5}">
                      <a16:colId xmlns:a16="http://schemas.microsoft.com/office/drawing/2014/main" val="1848982982"/>
                    </a:ext>
                  </a:extLst>
                </a:gridCol>
                <a:gridCol w="2899326">
                  <a:extLst>
                    <a:ext uri="{9D8B030D-6E8A-4147-A177-3AD203B41FA5}">
                      <a16:colId xmlns:a16="http://schemas.microsoft.com/office/drawing/2014/main" val="286513304"/>
                    </a:ext>
                  </a:extLst>
                </a:gridCol>
                <a:gridCol w="2229801">
                  <a:extLst>
                    <a:ext uri="{9D8B030D-6E8A-4147-A177-3AD203B41FA5}">
                      <a16:colId xmlns:a16="http://schemas.microsoft.com/office/drawing/2014/main" val="3229963259"/>
                    </a:ext>
                  </a:extLst>
                </a:gridCol>
              </a:tblGrid>
              <a:tr h="1380349">
                <a:tc>
                  <a:txBody>
                    <a:bodyPr/>
                    <a:lstStyle/>
                    <a:p>
                      <a:pPr algn="l"/>
                      <a:r>
                        <a:rPr lang="en-SG" sz="3200" b="0" dirty="0">
                          <a:latin typeface="Times-Roman"/>
                        </a:rPr>
                        <a:t>EXPOSURE</a:t>
                      </a:r>
                    </a:p>
                  </a:txBody>
                  <a:tcPr/>
                </a:tc>
                <a:tc>
                  <a:txBody>
                    <a:bodyPr/>
                    <a:lstStyle/>
                    <a:p>
                      <a:pPr algn="l"/>
                      <a:r>
                        <a:rPr lang="en-SG" sz="3200" b="0" dirty="0">
                          <a:latin typeface="Times-Roman"/>
                        </a:rPr>
                        <a:t>MEDIATOR</a:t>
                      </a:r>
                    </a:p>
                  </a:txBody>
                  <a:tcPr/>
                </a:tc>
                <a:tc>
                  <a:txBody>
                    <a:bodyPr/>
                    <a:lstStyle/>
                    <a:p>
                      <a:pPr algn="l"/>
                      <a:r>
                        <a:rPr lang="en-SG" sz="3200" b="0" dirty="0">
                          <a:latin typeface="Times-Roman"/>
                        </a:rPr>
                        <a:t>COVARIATES</a:t>
                      </a:r>
                    </a:p>
                  </a:txBody>
                  <a:tcPr/>
                </a:tc>
                <a:tc>
                  <a:txBody>
                    <a:bodyPr/>
                    <a:lstStyle/>
                    <a:p>
                      <a:pPr algn="l"/>
                      <a:r>
                        <a:rPr lang="en-SG" sz="3200" b="0" dirty="0">
                          <a:latin typeface="Times-Roman"/>
                        </a:rPr>
                        <a:t>OUTCOME</a:t>
                      </a:r>
                    </a:p>
                  </a:txBody>
                  <a:tcPr/>
                </a:tc>
                <a:extLst>
                  <a:ext uri="{0D108BD9-81ED-4DB2-BD59-A6C34878D82A}">
                    <a16:rowId xmlns:a16="http://schemas.microsoft.com/office/drawing/2014/main" val="2548329122"/>
                  </a:ext>
                </a:extLst>
              </a:tr>
              <a:tr h="210142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sz="2200" b="1" dirty="0">
                          <a:solidFill>
                            <a:schemeClr val="accent6"/>
                          </a:solidFill>
                        </a:rPr>
                        <a:t>Income</a:t>
                      </a:r>
                      <a:br>
                        <a:rPr lang="en-SG" sz="2200" dirty="0"/>
                      </a:br>
                      <a:r>
                        <a:rPr lang="en-SG" sz="2200" dirty="0"/>
                        <a:t>a=0 Low gross monthly household income </a:t>
                      </a:r>
                    </a:p>
                    <a:p>
                      <a:pPr marL="0" marR="0" lvl="0" indent="0" algn="l" defTabSz="914400" rtl="0" eaLnBrk="1" fontAlgn="auto" latinLnBrk="0" hangingPunct="1">
                        <a:lnSpc>
                          <a:spcPct val="100000"/>
                        </a:lnSpc>
                        <a:spcBef>
                          <a:spcPts val="0"/>
                        </a:spcBef>
                        <a:spcAft>
                          <a:spcPts val="0"/>
                        </a:spcAft>
                        <a:buClrTx/>
                        <a:buSzTx/>
                        <a:buFontTx/>
                        <a:buNone/>
                        <a:tabLst/>
                        <a:defRPr/>
                      </a:pPr>
                      <a:r>
                        <a:rPr lang="en-SG" sz="2200" dirty="0"/>
                        <a:t>a=1 High gross monthly household income</a:t>
                      </a:r>
                      <a:endParaRPr lang="en-SG" sz="2200" dirty="0">
                        <a:latin typeface="Times-Roman"/>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200" b="1" dirty="0">
                          <a:solidFill>
                            <a:schemeClr val="accent6"/>
                          </a:solidFill>
                        </a:rPr>
                        <a:t>Sugar consumption</a:t>
                      </a:r>
                      <a:br>
                        <a:rPr lang="en-US" sz="2200" dirty="0"/>
                      </a:br>
                      <a:r>
                        <a:rPr lang="en-US" sz="2200" dirty="0"/>
                        <a:t>(grams, continuous)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200" dirty="0"/>
                        <a:t>X -&gt; Y/ X -&gt; M/ M -&gt; Y  confounders</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US" sz="2200" b="1" dirty="0">
                          <a:solidFill>
                            <a:schemeClr val="accent6"/>
                          </a:solidFill>
                        </a:rPr>
                        <a:t>Gender</a:t>
                      </a:r>
                      <a:r>
                        <a:rPr lang="en-US" sz="2200" b="1" dirty="0"/>
                        <a:t> </a:t>
                      </a:r>
                      <a:r>
                        <a:rPr lang="en-US" sz="2200" dirty="0"/>
                        <a:t>(male/female)</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US" sz="2200" b="1" dirty="0">
                          <a:solidFill>
                            <a:schemeClr val="accent6"/>
                          </a:solidFill>
                        </a:rPr>
                        <a:t>Age </a:t>
                      </a:r>
                      <a:r>
                        <a:rPr lang="en-US" sz="2200" dirty="0"/>
                        <a:t>(continuous)</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US" sz="2200" b="1" dirty="0">
                          <a:solidFill>
                            <a:schemeClr val="accent6"/>
                          </a:solidFill>
                        </a:rPr>
                        <a:t>District Type</a:t>
                      </a:r>
                      <a:r>
                        <a:rPr lang="en-US" sz="2200" dirty="0"/>
                        <a:t> (public/private)</a:t>
                      </a:r>
                      <a:br>
                        <a:rPr lang="en-US" sz="2200" dirty="0"/>
                      </a:br>
                      <a:endParaRPr lang="en-US" sz="2200" dirty="0"/>
                    </a:p>
                  </a:txBody>
                  <a:tcPr/>
                </a:tc>
                <a:tc>
                  <a:txBody>
                    <a:bodyPr/>
                    <a:lstStyle/>
                    <a:p>
                      <a:r>
                        <a:rPr lang="en-SG" sz="2200" b="1" dirty="0">
                          <a:solidFill>
                            <a:schemeClr val="accent6"/>
                          </a:solidFill>
                        </a:rPr>
                        <a:t>DMFT </a:t>
                      </a:r>
                      <a:br>
                        <a:rPr lang="en-SG" sz="2200" dirty="0">
                          <a:solidFill>
                            <a:schemeClr val="tx1"/>
                          </a:solidFill>
                        </a:rPr>
                      </a:br>
                      <a:r>
                        <a:rPr lang="en-SG" sz="2200" dirty="0">
                          <a:solidFill>
                            <a:schemeClr val="tx1"/>
                          </a:solidFill>
                        </a:rPr>
                        <a:t>(continuous)</a:t>
                      </a:r>
                    </a:p>
                    <a:p>
                      <a:endParaRPr lang="en-SG" sz="2200" dirty="0">
                        <a:solidFill>
                          <a:schemeClr val="tx1"/>
                        </a:solidFill>
                      </a:endParaRPr>
                    </a:p>
                    <a:p>
                      <a:r>
                        <a:rPr lang="en-SG" sz="2200" b="1" dirty="0">
                          <a:solidFill>
                            <a:schemeClr val="accent6"/>
                          </a:solidFill>
                        </a:rPr>
                        <a:t>Caries</a:t>
                      </a:r>
                      <a:br>
                        <a:rPr lang="en-SG" sz="2200" dirty="0">
                          <a:solidFill>
                            <a:schemeClr val="tx1"/>
                          </a:solidFill>
                        </a:rPr>
                      </a:br>
                      <a:r>
                        <a:rPr lang="en-SG" sz="2200" dirty="0">
                          <a:solidFill>
                            <a:schemeClr val="tx1"/>
                          </a:solidFill>
                        </a:rPr>
                        <a:t>(yes/no)</a:t>
                      </a:r>
                    </a:p>
                  </a:txBody>
                  <a:tcPr/>
                </a:tc>
                <a:extLst>
                  <a:ext uri="{0D108BD9-81ED-4DB2-BD59-A6C34878D82A}">
                    <a16:rowId xmlns:a16="http://schemas.microsoft.com/office/drawing/2014/main" val="2545024863"/>
                  </a:ext>
                </a:extLst>
              </a:tr>
            </a:tbl>
          </a:graphicData>
        </a:graphic>
      </p:graphicFrame>
      <p:sp>
        <p:nvSpPr>
          <p:cNvPr id="3" name="TextBox 2">
            <a:extLst>
              <a:ext uri="{FF2B5EF4-FFF2-40B4-BE49-F238E27FC236}">
                <a16:creationId xmlns:a16="http://schemas.microsoft.com/office/drawing/2014/main" id="{13BAFF12-F53F-36CA-EE1B-449FD0C4E3FA}"/>
              </a:ext>
            </a:extLst>
          </p:cNvPr>
          <p:cNvSpPr txBox="1"/>
          <p:nvPr/>
        </p:nvSpPr>
        <p:spPr>
          <a:xfrm>
            <a:off x="0" y="0"/>
            <a:ext cx="7224889" cy="276999"/>
          </a:xfrm>
          <a:prstGeom prst="rect">
            <a:avLst/>
          </a:prstGeom>
          <a:noFill/>
        </p:spPr>
        <p:txBody>
          <a:bodyPr wrap="square" rtlCol="0">
            <a:spAutoFit/>
          </a:bodyPr>
          <a:lstStyle/>
          <a:p>
            <a:r>
              <a:rPr lang="en-SG" sz="1200" i="1" dirty="0">
                <a:solidFill>
                  <a:schemeClr val="bg1">
                    <a:lumMod val="65000"/>
                  </a:schemeClr>
                </a:solidFill>
                <a:latin typeface="Arial" panose="020B0604020202020204" pitchFamily="34" charset="0"/>
                <a:cs typeface="Arial" panose="020B0604020202020204" pitchFamily="34" charset="0"/>
              </a:rPr>
              <a:t>[Restricted] For workshop participants only, not for distribution.</a:t>
            </a:r>
          </a:p>
        </p:txBody>
      </p:sp>
    </p:spTree>
    <p:extLst>
      <p:ext uri="{BB962C8B-B14F-4D97-AF65-F5344CB8AC3E}">
        <p14:creationId xmlns:p14="http://schemas.microsoft.com/office/powerpoint/2010/main" val="27467142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1734123-2135-1BA7-9AE7-2D2F28D9AD87}"/>
            </a:ext>
          </a:extLst>
        </p:cNvPr>
        <p:cNvGrpSpPr/>
        <p:nvPr/>
      </p:nvGrpSpPr>
      <p:grpSpPr>
        <a:xfrm>
          <a:off x="0" y="0"/>
          <a:ext cx="0" cy="0"/>
          <a:chOff x="0" y="0"/>
          <a:chExt cx="0" cy="0"/>
        </a:xfrm>
      </p:grpSpPr>
      <p:sp>
        <p:nvSpPr>
          <p:cNvPr id="7" name="Content Placeholder 6">
            <a:extLst>
              <a:ext uri="{FF2B5EF4-FFF2-40B4-BE49-F238E27FC236}">
                <a16:creationId xmlns:a16="http://schemas.microsoft.com/office/drawing/2014/main" id="{68CB80F0-9F4E-6762-5C37-7DB397A3A9D2}"/>
              </a:ext>
            </a:extLst>
          </p:cNvPr>
          <p:cNvSpPr>
            <a:spLocks noGrp="1"/>
          </p:cNvSpPr>
          <p:nvPr>
            <p:ph idx="1"/>
          </p:nvPr>
        </p:nvSpPr>
        <p:spPr/>
        <p:txBody>
          <a:bodyPr/>
          <a:lstStyle/>
          <a:p>
            <a:endParaRPr lang="en-US" dirty="0"/>
          </a:p>
        </p:txBody>
      </p:sp>
      <p:sp useBgFill="1">
        <p:nvSpPr>
          <p:cNvPr id="8" name="Rectangle 7">
            <a:extLst>
              <a:ext uri="{FF2B5EF4-FFF2-40B4-BE49-F238E27FC236}">
                <a16:creationId xmlns:a16="http://schemas.microsoft.com/office/drawing/2014/main" id="{04D83D88-B862-E37A-0BAE-ACD36E9016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ill Sans MT"/>
              <a:ea typeface="+mn-ea"/>
              <a:cs typeface="+mn-cs"/>
            </a:endParaRPr>
          </a:p>
        </p:txBody>
      </p:sp>
      <p:sp>
        <p:nvSpPr>
          <p:cNvPr id="10" name="Rectangle 9">
            <a:extLst>
              <a:ext uri="{FF2B5EF4-FFF2-40B4-BE49-F238E27FC236}">
                <a16:creationId xmlns:a16="http://schemas.microsoft.com/office/drawing/2014/main" id="{4B21E336-D8B4-D003-FE91-0359B3D497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ill Sans MT"/>
              <a:ea typeface="+mn-ea"/>
              <a:cs typeface="+mn-cs"/>
            </a:endParaRPr>
          </a:p>
        </p:txBody>
      </p:sp>
      <p:sp useBgFill="1">
        <p:nvSpPr>
          <p:cNvPr id="12" name="Rectangle 11">
            <a:extLst>
              <a:ext uri="{FF2B5EF4-FFF2-40B4-BE49-F238E27FC236}">
                <a16:creationId xmlns:a16="http://schemas.microsoft.com/office/drawing/2014/main" id="{28BE2EC0-C4C1-2058-9019-A2A4802423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 y="685800"/>
            <a:ext cx="10820400" cy="5486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ill Sans MT"/>
              <a:ea typeface="+mn-ea"/>
              <a:cs typeface="+mn-cs"/>
            </a:endParaRPr>
          </a:p>
        </p:txBody>
      </p:sp>
      <p:sp>
        <p:nvSpPr>
          <p:cNvPr id="2" name="Title 1">
            <a:extLst>
              <a:ext uri="{FF2B5EF4-FFF2-40B4-BE49-F238E27FC236}">
                <a16:creationId xmlns:a16="http://schemas.microsoft.com/office/drawing/2014/main" id="{FFD77772-EBF1-0031-A3DC-258010F7FC5D}"/>
              </a:ext>
            </a:extLst>
          </p:cNvPr>
          <p:cNvSpPr>
            <a:spLocks noGrp="1"/>
          </p:cNvSpPr>
          <p:nvPr>
            <p:ph type="title"/>
          </p:nvPr>
        </p:nvSpPr>
        <p:spPr>
          <a:xfrm>
            <a:off x="1371599" y="1010097"/>
            <a:ext cx="9486901" cy="1010088"/>
          </a:xfrm>
        </p:spPr>
        <p:txBody>
          <a:bodyPr anchor="b">
            <a:normAutofit/>
          </a:bodyPr>
          <a:lstStyle/>
          <a:p>
            <a:pPr algn="ctr"/>
            <a:r>
              <a:rPr lang="en-SG" dirty="0"/>
              <a:t>RUN MEDIATION PACKAGE</a:t>
            </a:r>
          </a:p>
        </p:txBody>
      </p:sp>
      <p:pic>
        <p:nvPicPr>
          <p:cNvPr id="20" name="Picture 19">
            <a:extLst>
              <a:ext uri="{FF2B5EF4-FFF2-40B4-BE49-F238E27FC236}">
                <a16:creationId xmlns:a16="http://schemas.microsoft.com/office/drawing/2014/main" id="{DA92B13D-F84D-72BB-4536-537D3FEBC58D}"/>
              </a:ext>
            </a:extLst>
          </p:cNvPr>
          <p:cNvPicPr>
            <a:picLocks noChangeAspect="1"/>
          </p:cNvPicPr>
          <p:nvPr/>
        </p:nvPicPr>
        <p:blipFill>
          <a:blip r:embed="rId3"/>
          <a:srcRect l="1" r="43014"/>
          <a:stretch>
            <a:fillRect/>
          </a:stretch>
        </p:blipFill>
        <p:spPr>
          <a:xfrm>
            <a:off x="2407033" y="2254102"/>
            <a:ext cx="7716682" cy="3000001"/>
          </a:xfrm>
          <a:prstGeom prst="rect">
            <a:avLst/>
          </a:prstGeom>
        </p:spPr>
      </p:pic>
      <p:sp>
        <p:nvSpPr>
          <p:cNvPr id="21" name="TextBox 20">
            <a:extLst>
              <a:ext uri="{FF2B5EF4-FFF2-40B4-BE49-F238E27FC236}">
                <a16:creationId xmlns:a16="http://schemas.microsoft.com/office/drawing/2014/main" id="{2502774F-B94C-023D-D7E8-86A57A00708C}"/>
              </a:ext>
            </a:extLst>
          </p:cNvPr>
          <p:cNvSpPr txBox="1"/>
          <p:nvPr/>
        </p:nvSpPr>
        <p:spPr>
          <a:xfrm>
            <a:off x="0" y="0"/>
            <a:ext cx="7224889" cy="276999"/>
          </a:xfrm>
          <a:prstGeom prst="rect">
            <a:avLst/>
          </a:prstGeom>
          <a:noFill/>
        </p:spPr>
        <p:txBody>
          <a:bodyPr wrap="square" rtlCol="0">
            <a:spAutoFit/>
          </a:bodyPr>
          <a:lstStyle/>
          <a:p>
            <a:r>
              <a:rPr lang="en-SG" sz="1200" i="1" dirty="0">
                <a:solidFill>
                  <a:schemeClr val="bg1">
                    <a:lumMod val="65000"/>
                  </a:schemeClr>
                </a:solidFill>
                <a:latin typeface="Arial" panose="020B0604020202020204" pitchFamily="34" charset="0"/>
                <a:cs typeface="Arial" panose="020B0604020202020204" pitchFamily="34" charset="0"/>
              </a:rPr>
              <a:t>[Restricted] For workshop participants only, not for distribution.</a:t>
            </a:r>
          </a:p>
        </p:txBody>
      </p:sp>
    </p:spTree>
    <p:extLst>
      <p:ext uri="{BB962C8B-B14F-4D97-AF65-F5344CB8AC3E}">
        <p14:creationId xmlns:p14="http://schemas.microsoft.com/office/powerpoint/2010/main" val="6201790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AB67BCA-0ADE-CEAC-9BD2-7077185A419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954925C-BD0E-784F-131E-7AE40B8DD7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ill Sans MT"/>
              <a:ea typeface="+mn-ea"/>
              <a:cs typeface="+mn-cs"/>
            </a:endParaRPr>
          </a:p>
        </p:txBody>
      </p:sp>
      <p:sp>
        <p:nvSpPr>
          <p:cNvPr id="10" name="Rectangle 9">
            <a:extLst>
              <a:ext uri="{FF2B5EF4-FFF2-40B4-BE49-F238E27FC236}">
                <a16:creationId xmlns:a16="http://schemas.microsoft.com/office/drawing/2014/main" id="{443B8C00-9288-9D60-6DAD-323A8B5BEE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ill Sans MT"/>
              <a:ea typeface="+mn-ea"/>
              <a:cs typeface="+mn-cs"/>
            </a:endParaRPr>
          </a:p>
        </p:txBody>
      </p:sp>
      <p:sp useBgFill="1">
        <p:nvSpPr>
          <p:cNvPr id="12" name="Rectangle 11">
            <a:extLst>
              <a:ext uri="{FF2B5EF4-FFF2-40B4-BE49-F238E27FC236}">
                <a16:creationId xmlns:a16="http://schemas.microsoft.com/office/drawing/2014/main" id="{164ADD3C-9BE7-69F4-0521-A76734472B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 y="685800"/>
            <a:ext cx="10820400" cy="5486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ill Sans MT"/>
              <a:ea typeface="+mn-ea"/>
              <a:cs typeface="+mn-cs"/>
            </a:endParaRPr>
          </a:p>
        </p:txBody>
      </p:sp>
      <p:pic>
        <p:nvPicPr>
          <p:cNvPr id="13" name="Picture 12">
            <a:extLst>
              <a:ext uri="{FF2B5EF4-FFF2-40B4-BE49-F238E27FC236}">
                <a16:creationId xmlns:a16="http://schemas.microsoft.com/office/drawing/2014/main" id="{5D4D90F3-1976-E51E-81C3-08B1E0720458}"/>
              </a:ext>
            </a:extLst>
          </p:cNvPr>
          <p:cNvPicPr>
            <a:picLocks noChangeAspect="1"/>
          </p:cNvPicPr>
          <p:nvPr/>
        </p:nvPicPr>
        <p:blipFill>
          <a:blip r:embed="rId3"/>
          <a:srcRect b="65203"/>
          <a:stretch>
            <a:fillRect/>
          </a:stretch>
        </p:blipFill>
        <p:spPr>
          <a:xfrm>
            <a:off x="0" y="2012300"/>
            <a:ext cx="12324462" cy="2833400"/>
          </a:xfrm>
          <a:prstGeom prst="rect">
            <a:avLst/>
          </a:prstGeom>
        </p:spPr>
      </p:pic>
      <p:sp>
        <p:nvSpPr>
          <p:cNvPr id="31" name="TextBox 30">
            <a:extLst>
              <a:ext uri="{FF2B5EF4-FFF2-40B4-BE49-F238E27FC236}">
                <a16:creationId xmlns:a16="http://schemas.microsoft.com/office/drawing/2014/main" id="{70FF5FD5-3422-19CE-43C3-5EABBBB7A302}"/>
              </a:ext>
            </a:extLst>
          </p:cNvPr>
          <p:cNvSpPr txBox="1"/>
          <p:nvPr/>
        </p:nvSpPr>
        <p:spPr>
          <a:xfrm>
            <a:off x="8780689" y="4611485"/>
            <a:ext cx="2824843" cy="1200329"/>
          </a:xfrm>
          <a:prstGeom prst="rect">
            <a:avLst/>
          </a:prstGeom>
          <a:solidFill>
            <a:schemeClr val="accent6">
              <a:lumMod val="20000"/>
              <a:lumOff val="80000"/>
            </a:schemeClr>
          </a:solidFill>
        </p:spPr>
        <p:txBody>
          <a:bodyPr wrap="square" rtlCol="0">
            <a:spAutoFit/>
          </a:bodyPr>
          <a:lstStyle/>
          <a:p>
            <a:pPr algn="ctr"/>
            <a:r>
              <a:rPr lang="en-US" dirty="0"/>
              <a:t>Robust standard error: </a:t>
            </a:r>
            <a:r>
              <a:rPr lang="en-SG" dirty="0"/>
              <a:t>White’s heteroskedasticity-consistent estimator for covariance matrix </a:t>
            </a:r>
          </a:p>
        </p:txBody>
      </p:sp>
      <p:sp>
        <p:nvSpPr>
          <p:cNvPr id="32" name="TextBox 31">
            <a:extLst>
              <a:ext uri="{FF2B5EF4-FFF2-40B4-BE49-F238E27FC236}">
                <a16:creationId xmlns:a16="http://schemas.microsoft.com/office/drawing/2014/main" id="{0C3A4CE1-E2B2-671B-D436-803680AD05DC}"/>
              </a:ext>
            </a:extLst>
          </p:cNvPr>
          <p:cNvSpPr txBox="1"/>
          <p:nvPr/>
        </p:nvSpPr>
        <p:spPr>
          <a:xfrm>
            <a:off x="416379" y="5223850"/>
            <a:ext cx="2824843" cy="1200329"/>
          </a:xfrm>
          <a:prstGeom prst="rect">
            <a:avLst/>
          </a:prstGeom>
          <a:solidFill>
            <a:schemeClr val="accent6">
              <a:lumMod val="20000"/>
              <a:lumOff val="80000"/>
            </a:schemeClr>
          </a:solidFill>
        </p:spPr>
        <p:txBody>
          <a:bodyPr wrap="square" rtlCol="0">
            <a:spAutoFit/>
          </a:bodyPr>
          <a:lstStyle/>
          <a:p>
            <a:pPr algn="ctr"/>
            <a:r>
              <a:rPr lang="en-SG" dirty="0"/>
              <a:t>1000 simulations (quasi-Bayesian Monte Carlo method based on normal approximation)</a:t>
            </a:r>
          </a:p>
        </p:txBody>
      </p:sp>
      <p:cxnSp>
        <p:nvCxnSpPr>
          <p:cNvPr id="33" name="Straight Arrow Connector 32">
            <a:extLst>
              <a:ext uri="{FF2B5EF4-FFF2-40B4-BE49-F238E27FC236}">
                <a16:creationId xmlns:a16="http://schemas.microsoft.com/office/drawing/2014/main" id="{F5D24C3F-A56E-37BD-B637-D5D6CC06DDD1}"/>
              </a:ext>
            </a:extLst>
          </p:cNvPr>
          <p:cNvCxnSpPr>
            <a:cxnSpLocks/>
            <a:stCxn id="32" idx="0"/>
          </p:cNvCxnSpPr>
          <p:nvPr/>
        </p:nvCxnSpPr>
        <p:spPr>
          <a:xfrm flipH="1" flipV="1">
            <a:off x="732066" y="4359729"/>
            <a:ext cx="1096735" cy="864121"/>
          </a:xfrm>
          <a:prstGeom prst="straightConnector1">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4" name="Straight Arrow Connector 33">
            <a:extLst>
              <a:ext uri="{FF2B5EF4-FFF2-40B4-BE49-F238E27FC236}">
                <a16:creationId xmlns:a16="http://schemas.microsoft.com/office/drawing/2014/main" id="{1CF606FA-865D-825B-C56E-B61D18159FDE}"/>
              </a:ext>
            </a:extLst>
          </p:cNvPr>
          <p:cNvCxnSpPr>
            <a:cxnSpLocks/>
            <a:stCxn id="31" idx="0"/>
          </p:cNvCxnSpPr>
          <p:nvPr/>
        </p:nvCxnSpPr>
        <p:spPr>
          <a:xfrm flipV="1">
            <a:off x="10193111" y="4076666"/>
            <a:ext cx="12246" cy="534819"/>
          </a:xfrm>
          <a:prstGeom prst="straightConnector1">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5" name="Title 1">
            <a:extLst>
              <a:ext uri="{FF2B5EF4-FFF2-40B4-BE49-F238E27FC236}">
                <a16:creationId xmlns:a16="http://schemas.microsoft.com/office/drawing/2014/main" id="{9B4CDA9F-F7C6-BB44-80A6-809F7A3DE4BC}"/>
              </a:ext>
            </a:extLst>
          </p:cNvPr>
          <p:cNvSpPr txBox="1">
            <a:spLocks/>
          </p:cNvSpPr>
          <p:nvPr/>
        </p:nvSpPr>
        <p:spPr>
          <a:xfrm>
            <a:off x="1371599" y="1010097"/>
            <a:ext cx="9486901" cy="101008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kern="1200" cap="all" spc="300" baseline="0">
                <a:solidFill>
                  <a:schemeClr val="tx2"/>
                </a:solidFill>
                <a:latin typeface="+mj-lt"/>
                <a:ea typeface="+mj-ea"/>
                <a:cs typeface="+mj-cs"/>
              </a:defRPr>
            </a:lvl1pPr>
          </a:lstStyle>
          <a:p>
            <a:pPr algn="ctr"/>
            <a:r>
              <a:rPr lang="en-SG" dirty="0"/>
              <a:t>Mediation (continuous outcome)</a:t>
            </a:r>
          </a:p>
        </p:txBody>
      </p:sp>
      <p:sp>
        <p:nvSpPr>
          <p:cNvPr id="56" name="TextBox 55">
            <a:extLst>
              <a:ext uri="{FF2B5EF4-FFF2-40B4-BE49-F238E27FC236}">
                <a16:creationId xmlns:a16="http://schemas.microsoft.com/office/drawing/2014/main" id="{959E5096-065F-1D16-B9CA-8B61135EB49B}"/>
              </a:ext>
            </a:extLst>
          </p:cNvPr>
          <p:cNvSpPr txBox="1"/>
          <p:nvPr/>
        </p:nvSpPr>
        <p:spPr>
          <a:xfrm>
            <a:off x="1828801" y="1975150"/>
            <a:ext cx="1995055" cy="369332"/>
          </a:xfrm>
          <a:prstGeom prst="rect">
            <a:avLst/>
          </a:prstGeom>
          <a:solidFill>
            <a:schemeClr val="accent6">
              <a:lumMod val="20000"/>
              <a:lumOff val="80000"/>
            </a:schemeClr>
          </a:solidFill>
        </p:spPr>
        <p:txBody>
          <a:bodyPr wrap="square" rtlCol="0">
            <a:spAutoFit/>
          </a:bodyPr>
          <a:lstStyle/>
          <a:p>
            <a:pPr algn="ctr"/>
            <a:r>
              <a:rPr lang="en-SG" dirty="0"/>
              <a:t>Linear regression</a:t>
            </a:r>
          </a:p>
        </p:txBody>
      </p:sp>
      <p:cxnSp>
        <p:nvCxnSpPr>
          <p:cNvPr id="57" name="Straight Arrow Connector 56">
            <a:extLst>
              <a:ext uri="{FF2B5EF4-FFF2-40B4-BE49-F238E27FC236}">
                <a16:creationId xmlns:a16="http://schemas.microsoft.com/office/drawing/2014/main" id="{B871C460-8E9E-FD48-2ED8-BEBA9B782C5E}"/>
              </a:ext>
            </a:extLst>
          </p:cNvPr>
          <p:cNvCxnSpPr>
            <a:cxnSpLocks/>
            <a:stCxn id="56" idx="2"/>
          </p:cNvCxnSpPr>
          <p:nvPr/>
        </p:nvCxnSpPr>
        <p:spPr>
          <a:xfrm flipH="1">
            <a:off x="1371599" y="2344482"/>
            <a:ext cx="1454730" cy="361503"/>
          </a:xfrm>
          <a:prstGeom prst="straightConnector1">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60" name="TextBox 59">
            <a:extLst>
              <a:ext uri="{FF2B5EF4-FFF2-40B4-BE49-F238E27FC236}">
                <a16:creationId xmlns:a16="http://schemas.microsoft.com/office/drawing/2014/main" id="{455B19A1-C791-0581-B6EE-97293778AFE7}"/>
              </a:ext>
            </a:extLst>
          </p:cNvPr>
          <p:cNvSpPr txBox="1"/>
          <p:nvPr/>
        </p:nvSpPr>
        <p:spPr>
          <a:xfrm>
            <a:off x="0" y="0"/>
            <a:ext cx="7224889" cy="276999"/>
          </a:xfrm>
          <a:prstGeom prst="rect">
            <a:avLst/>
          </a:prstGeom>
          <a:noFill/>
        </p:spPr>
        <p:txBody>
          <a:bodyPr wrap="square" rtlCol="0">
            <a:spAutoFit/>
          </a:bodyPr>
          <a:lstStyle/>
          <a:p>
            <a:r>
              <a:rPr lang="en-SG" sz="1200" i="1" dirty="0">
                <a:solidFill>
                  <a:schemeClr val="bg1">
                    <a:lumMod val="65000"/>
                  </a:schemeClr>
                </a:solidFill>
                <a:latin typeface="Arial" panose="020B0604020202020204" pitchFamily="34" charset="0"/>
                <a:cs typeface="Arial" panose="020B0604020202020204" pitchFamily="34" charset="0"/>
              </a:rPr>
              <a:t>[Restricted] For workshop participants only, not for distribution.</a:t>
            </a:r>
          </a:p>
        </p:txBody>
      </p:sp>
    </p:spTree>
    <p:extLst>
      <p:ext uri="{BB962C8B-B14F-4D97-AF65-F5344CB8AC3E}">
        <p14:creationId xmlns:p14="http://schemas.microsoft.com/office/powerpoint/2010/main" val="15870691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DD6316D-C716-14BC-21A3-529A2EFDFB84}"/>
            </a:ext>
          </a:extLst>
        </p:cNvPr>
        <p:cNvGrpSpPr/>
        <p:nvPr/>
      </p:nvGrpSpPr>
      <p:grpSpPr>
        <a:xfrm>
          <a:off x="0" y="0"/>
          <a:ext cx="0" cy="0"/>
          <a:chOff x="0" y="0"/>
          <a:chExt cx="0" cy="0"/>
        </a:xfrm>
      </p:grpSpPr>
      <p:sp>
        <p:nvSpPr>
          <p:cNvPr id="49" name="TextBox 48">
            <a:extLst>
              <a:ext uri="{FF2B5EF4-FFF2-40B4-BE49-F238E27FC236}">
                <a16:creationId xmlns:a16="http://schemas.microsoft.com/office/drawing/2014/main" id="{124A7A40-6469-83D8-D150-A210E035039C}"/>
              </a:ext>
            </a:extLst>
          </p:cNvPr>
          <p:cNvSpPr txBox="1"/>
          <p:nvPr/>
        </p:nvSpPr>
        <p:spPr>
          <a:xfrm>
            <a:off x="685800" y="2922814"/>
            <a:ext cx="10820400" cy="3935186"/>
          </a:xfrm>
          <a:prstGeom prst="rect">
            <a:avLst/>
          </a:prstGeom>
          <a:solidFill>
            <a:schemeClr val="bg1"/>
          </a:solidFill>
        </p:spPr>
        <p:txBody>
          <a:bodyPr wrap="square" rtlCol="0">
            <a:spAutoFit/>
          </a:bodyPr>
          <a:lstStyle/>
          <a:p>
            <a:endParaRPr lang="en-US" dirty="0"/>
          </a:p>
        </p:txBody>
      </p:sp>
      <p:sp useBgFill="1">
        <p:nvSpPr>
          <p:cNvPr id="8" name="Rectangle 7">
            <a:extLst>
              <a:ext uri="{FF2B5EF4-FFF2-40B4-BE49-F238E27FC236}">
                <a16:creationId xmlns:a16="http://schemas.microsoft.com/office/drawing/2014/main" id="{CAE249AF-C907-CCCF-0BCD-CFE1A77630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ill Sans MT"/>
              <a:ea typeface="+mn-ea"/>
              <a:cs typeface="+mn-cs"/>
            </a:endParaRPr>
          </a:p>
        </p:txBody>
      </p:sp>
      <p:sp>
        <p:nvSpPr>
          <p:cNvPr id="10" name="Rectangle 9">
            <a:extLst>
              <a:ext uri="{FF2B5EF4-FFF2-40B4-BE49-F238E27FC236}">
                <a16:creationId xmlns:a16="http://schemas.microsoft.com/office/drawing/2014/main" id="{92157271-6D0B-74F8-37C7-C87C84F5C8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ill Sans MT"/>
              <a:ea typeface="+mn-ea"/>
              <a:cs typeface="+mn-cs"/>
            </a:endParaRPr>
          </a:p>
        </p:txBody>
      </p:sp>
      <p:sp useBgFill="1">
        <p:nvSpPr>
          <p:cNvPr id="12" name="Rectangle 11">
            <a:extLst>
              <a:ext uri="{FF2B5EF4-FFF2-40B4-BE49-F238E27FC236}">
                <a16:creationId xmlns:a16="http://schemas.microsoft.com/office/drawing/2014/main" id="{CA6CE955-FB0B-8CE9-F6A8-1B90B7FDBD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 y="685800"/>
            <a:ext cx="10820400" cy="5486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ill Sans MT"/>
              <a:ea typeface="+mn-ea"/>
              <a:cs typeface="+mn-cs"/>
            </a:endParaRPr>
          </a:p>
        </p:txBody>
      </p:sp>
      <p:sp>
        <p:nvSpPr>
          <p:cNvPr id="2" name="Title 1">
            <a:extLst>
              <a:ext uri="{FF2B5EF4-FFF2-40B4-BE49-F238E27FC236}">
                <a16:creationId xmlns:a16="http://schemas.microsoft.com/office/drawing/2014/main" id="{58B43D73-B119-890B-BDC6-45E7573536FD}"/>
              </a:ext>
            </a:extLst>
          </p:cNvPr>
          <p:cNvSpPr>
            <a:spLocks noGrp="1"/>
          </p:cNvSpPr>
          <p:nvPr>
            <p:ph type="title"/>
          </p:nvPr>
        </p:nvSpPr>
        <p:spPr>
          <a:xfrm>
            <a:off x="1352549" y="-298718"/>
            <a:ext cx="9486901" cy="1010088"/>
          </a:xfrm>
        </p:spPr>
        <p:txBody>
          <a:bodyPr anchor="b">
            <a:normAutofit/>
          </a:bodyPr>
          <a:lstStyle/>
          <a:p>
            <a:pPr algn="ctr"/>
            <a:r>
              <a:rPr lang="en-SG" dirty="0">
                <a:solidFill>
                  <a:schemeClr val="bg1"/>
                </a:solidFill>
              </a:rPr>
              <a:t>Mediation (continuous outcome)</a:t>
            </a:r>
          </a:p>
        </p:txBody>
      </p:sp>
      <p:pic>
        <p:nvPicPr>
          <p:cNvPr id="13" name="Picture 12">
            <a:extLst>
              <a:ext uri="{FF2B5EF4-FFF2-40B4-BE49-F238E27FC236}">
                <a16:creationId xmlns:a16="http://schemas.microsoft.com/office/drawing/2014/main" id="{6D65A4EB-8CC1-00D2-0B9F-A6A04F66B102}"/>
              </a:ext>
            </a:extLst>
          </p:cNvPr>
          <p:cNvPicPr>
            <a:picLocks noChangeAspect="1"/>
          </p:cNvPicPr>
          <p:nvPr/>
        </p:nvPicPr>
        <p:blipFill>
          <a:blip r:embed="rId3"/>
          <a:stretch>
            <a:fillRect/>
          </a:stretch>
        </p:blipFill>
        <p:spPr>
          <a:xfrm>
            <a:off x="685800" y="685800"/>
            <a:ext cx="10820400" cy="6146630"/>
          </a:xfrm>
          <a:prstGeom prst="rect">
            <a:avLst/>
          </a:prstGeom>
        </p:spPr>
      </p:pic>
      <p:sp>
        <p:nvSpPr>
          <p:cNvPr id="14" name="TextBox 13">
            <a:extLst>
              <a:ext uri="{FF2B5EF4-FFF2-40B4-BE49-F238E27FC236}">
                <a16:creationId xmlns:a16="http://schemas.microsoft.com/office/drawing/2014/main" id="{8EE78840-B0DD-1841-198F-3AA6E07D736A}"/>
              </a:ext>
            </a:extLst>
          </p:cNvPr>
          <p:cNvSpPr txBox="1"/>
          <p:nvPr/>
        </p:nvSpPr>
        <p:spPr>
          <a:xfrm>
            <a:off x="8014607" y="3988535"/>
            <a:ext cx="2824843" cy="923330"/>
          </a:xfrm>
          <a:prstGeom prst="rect">
            <a:avLst/>
          </a:prstGeom>
          <a:solidFill>
            <a:schemeClr val="accent6">
              <a:lumMod val="20000"/>
              <a:lumOff val="80000"/>
            </a:schemeClr>
          </a:solidFill>
        </p:spPr>
        <p:txBody>
          <a:bodyPr wrap="square" rtlCol="0">
            <a:spAutoFit/>
          </a:bodyPr>
          <a:lstStyle/>
          <a:p>
            <a:r>
              <a:rPr lang="en-US" dirty="0"/>
              <a:t>Moving from low to high income, direct effect was reduction in DMFT of -1.8.</a:t>
            </a:r>
          </a:p>
        </p:txBody>
      </p:sp>
      <p:sp>
        <p:nvSpPr>
          <p:cNvPr id="15" name="TextBox 14">
            <a:extLst>
              <a:ext uri="{FF2B5EF4-FFF2-40B4-BE49-F238E27FC236}">
                <a16:creationId xmlns:a16="http://schemas.microsoft.com/office/drawing/2014/main" id="{E15B5A2B-5F43-BEA1-31A8-60512A0ABC90}"/>
              </a:ext>
            </a:extLst>
          </p:cNvPr>
          <p:cNvSpPr txBox="1"/>
          <p:nvPr/>
        </p:nvSpPr>
        <p:spPr>
          <a:xfrm>
            <a:off x="4683578" y="2601304"/>
            <a:ext cx="4591051" cy="923330"/>
          </a:xfrm>
          <a:prstGeom prst="rect">
            <a:avLst/>
          </a:prstGeom>
          <a:solidFill>
            <a:schemeClr val="accent6">
              <a:lumMod val="20000"/>
              <a:lumOff val="80000"/>
            </a:schemeClr>
          </a:solidFill>
        </p:spPr>
        <p:txBody>
          <a:bodyPr wrap="square" rtlCol="0">
            <a:spAutoFit/>
          </a:bodyPr>
          <a:lstStyle/>
          <a:p>
            <a:r>
              <a:rPr lang="en-US" dirty="0"/>
              <a:t>Average causal mediation effect (Indirect effect) through sugar consumption was reduction in DMFT of – 3.4.</a:t>
            </a:r>
          </a:p>
        </p:txBody>
      </p:sp>
      <p:sp>
        <p:nvSpPr>
          <p:cNvPr id="16" name="TextBox 15">
            <a:extLst>
              <a:ext uri="{FF2B5EF4-FFF2-40B4-BE49-F238E27FC236}">
                <a16:creationId xmlns:a16="http://schemas.microsoft.com/office/drawing/2014/main" id="{BF90EF0E-62EE-3309-0833-E159109E41F8}"/>
              </a:ext>
            </a:extLst>
          </p:cNvPr>
          <p:cNvSpPr txBox="1"/>
          <p:nvPr/>
        </p:nvSpPr>
        <p:spPr>
          <a:xfrm>
            <a:off x="4177394" y="5785931"/>
            <a:ext cx="3415392" cy="923330"/>
          </a:xfrm>
          <a:prstGeom prst="rect">
            <a:avLst/>
          </a:prstGeom>
          <a:solidFill>
            <a:schemeClr val="accent6">
              <a:lumMod val="20000"/>
              <a:lumOff val="80000"/>
            </a:schemeClr>
          </a:solidFill>
        </p:spPr>
        <p:txBody>
          <a:bodyPr wrap="square" rtlCol="0">
            <a:spAutoFit/>
          </a:bodyPr>
          <a:lstStyle/>
          <a:p>
            <a:r>
              <a:rPr lang="en-US" dirty="0"/>
              <a:t>Percentage mediated = 65%</a:t>
            </a:r>
          </a:p>
          <a:p>
            <a:r>
              <a:rPr lang="en-US" dirty="0"/>
              <a:t>Sugar consumption explained 65% of the effect of income on DMFT</a:t>
            </a:r>
          </a:p>
        </p:txBody>
      </p:sp>
      <p:cxnSp>
        <p:nvCxnSpPr>
          <p:cNvPr id="18" name="Straight Arrow Connector 17">
            <a:extLst>
              <a:ext uri="{FF2B5EF4-FFF2-40B4-BE49-F238E27FC236}">
                <a16:creationId xmlns:a16="http://schemas.microsoft.com/office/drawing/2014/main" id="{EA85E5C6-945C-9E69-48C4-AED05B76EB57}"/>
              </a:ext>
            </a:extLst>
          </p:cNvPr>
          <p:cNvCxnSpPr>
            <a:cxnSpLocks/>
            <a:stCxn id="14" idx="1"/>
          </p:cNvCxnSpPr>
          <p:nvPr/>
        </p:nvCxnSpPr>
        <p:spPr>
          <a:xfrm flipH="1">
            <a:off x="3254147" y="4450200"/>
            <a:ext cx="4760460" cy="204294"/>
          </a:xfrm>
          <a:prstGeom prst="straightConnector1">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 name="Straight Arrow Connector 19">
            <a:extLst>
              <a:ext uri="{FF2B5EF4-FFF2-40B4-BE49-F238E27FC236}">
                <a16:creationId xmlns:a16="http://schemas.microsoft.com/office/drawing/2014/main" id="{6B96FFFF-D4D2-13E5-95CD-1415809ABDB7}"/>
              </a:ext>
            </a:extLst>
          </p:cNvPr>
          <p:cNvCxnSpPr>
            <a:cxnSpLocks/>
            <a:stCxn id="15" idx="1"/>
          </p:cNvCxnSpPr>
          <p:nvPr/>
        </p:nvCxnSpPr>
        <p:spPr>
          <a:xfrm flipH="1">
            <a:off x="3282043" y="3062969"/>
            <a:ext cx="1401535" cy="1374000"/>
          </a:xfrm>
          <a:prstGeom prst="straightConnector1">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6" name="Straight Arrow Connector 25">
            <a:extLst>
              <a:ext uri="{FF2B5EF4-FFF2-40B4-BE49-F238E27FC236}">
                <a16:creationId xmlns:a16="http://schemas.microsoft.com/office/drawing/2014/main" id="{7BF65714-3C8C-6042-F943-1E4A02758288}"/>
              </a:ext>
            </a:extLst>
          </p:cNvPr>
          <p:cNvCxnSpPr>
            <a:cxnSpLocks/>
            <a:stCxn id="16" idx="1"/>
          </p:cNvCxnSpPr>
          <p:nvPr/>
        </p:nvCxnSpPr>
        <p:spPr>
          <a:xfrm flipH="1" flipV="1">
            <a:off x="3254147" y="5185767"/>
            <a:ext cx="923247" cy="1061829"/>
          </a:xfrm>
          <a:prstGeom prst="straightConnector1">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8" name="TextBox 27">
            <a:extLst>
              <a:ext uri="{FF2B5EF4-FFF2-40B4-BE49-F238E27FC236}">
                <a16:creationId xmlns:a16="http://schemas.microsoft.com/office/drawing/2014/main" id="{54A0805C-07C7-AC91-5CA8-4A10927F641D}"/>
              </a:ext>
            </a:extLst>
          </p:cNvPr>
          <p:cNvSpPr txBox="1"/>
          <p:nvPr/>
        </p:nvSpPr>
        <p:spPr>
          <a:xfrm>
            <a:off x="8042500" y="5383903"/>
            <a:ext cx="2824843" cy="646331"/>
          </a:xfrm>
          <a:prstGeom prst="rect">
            <a:avLst/>
          </a:prstGeom>
          <a:solidFill>
            <a:schemeClr val="accent6">
              <a:lumMod val="20000"/>
              <a:lumOff val="80000"/>
            </a:schemeClr>
          </a:solidFill>
        </p:spPr>
        <p:txBody>
          <a:bodyPr wrap="square" rtlCol="0">
            <a:spAutoFit/>
          </a:bodyPr>
          <a:lstStyle/>
          <a:p>
            <a:r>
              <a:rPr lang="en-US" dirty="0"/>
              <a:t>Total effect = </a:t>
            </a:r>
            <a:br>
              <a:rPr lang="en-US" dirty="0"/>
            </a:br>
            <a:r>
              <a:rPr lang="en-US" dirty="0"/>
              <a:t>Direct + Indirect effect</a:t>
            </a:r>
          </a:p>
        </p:txBody>
      </p:sp>
      <p:cxnSp>
        <p:nvCxnSpPr>
          <p:cNvPr id="30" name="Straight Arrow Connector 29">
            <a:extLst>
              <a:ext uri="{FF2B5EF4-FFF2-40B4-BE49-F238E27FC236}">
                <a16:creationId xmlns:a16="http://schemas.microsoft.com/office/drawing/2014/main" id="{BA5BEC49-583C-C0F0-5806-52BF8BC9BF8E}"/>
              </a:ext>
            </a:extLst>
          </p:cNvPr>
          <p:cNvCxnSpPr>
            <a:cxnSpLocks/>
            <a:stCxn id="28" idx="1"/>
          </p:cNvCxnSpPr>
          <p:nvPr/>
        </p:nvCxnSpPr>
        <p:spPr>
          <a:xfrm flipH="1" flipV="1">
            <a:off x="3254147" y="4849141"/>
            <a:ext cx="4788353" cy="857928"/>
          </a:xfrm>
          <a:prstGeom prst="straightConnector1">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66" name="TextBox 65">
            <a:extLst>
              <a:ext uri="{FF2B5EF4-FFF2-40B4-BE49-F238E27FC236}">
                <a16:creationId xmlns:a16="http://schemas.microsoft.com/office/drawing/2014/main" id="{2D0B5034-A46C-9743-9D68-507AAF584E99}"/>
              </a:ext>
            </a:extLst>
          </p:cNvPr>
          <p:cNvSpPr txBox="1"/>
          <p:nvPr/>
        </p:nvSpPr>
        <p:spPr>
          <a:xfrm>
            <a:off x="0" y="0"/>
            <a:ext cx="7224889" cy="276999"/>
          </a:xfrm>
          <a:prstGeom prst="rect">
            <a:avLst/>
          </a:prstGeom>
          <a:noFill/>
        </p:spPr>
        <p:txBody>
          <a:bodyPr wrap="square" rtlCol="0">
            <a:spAutoFit/>
          </a:bodyPr>
          <a:lstStyle/>
          <a:p>
            <a:r>
              <a:rPr lang="en-SG" sz="1200" i="1" dirty="0">
                <a:solidFill>
                  <a:schemeClr val="bg1">
                    <a:lumMod val="65000"/>
                  </a:schemeClr>
                </a:solidFill>
                <a:latin typeface="Arial" panose="020B0604020202020204" pitchFamily="34" charset="0"/>
                <a:cs typeface="Arial" panose="020B0604020202020204" pitchFamily="34" charset="0"/>
              </a:rPr>
              <a:t>[Restricted] For workshop participants only, not for distribution.</a:t>
            </a:r>
          </a:p>
        </p:txBody>
      </p:sp>
    </p:spTree>
    <p:extLst>
      <p:ext uri="{BB962C8B-B14F-4D97-AF65-F5344CB8AC3E}">
        <p14:creationId xmlns:p14="http://schemas.microsoft.com/office/powerpoint/2010/main" val="1970594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28" grpId="0" animBg="1"/>
    </p:bldLst>
  </p:timing>
</p:sld>
</file>

<file path=ppt/slides/slide19.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A2C006DB-667A-85D0-E869-F58273237304}"/>
            </a:ext>
          </a:extLst>
        </p:cNvPr>
        <p:cNvGrpSpPr/>
        <p:nvPr/>
      </p:nvGrpSpPr>
      <p:grpSpPr>
        <a:xfrm>
          <a:off x="0" y="0"/>
          <a:ext cx="0" cy="0"/>
          <a:chOff x="0" y="0"/>
          <a:chExt cx="0" cy="0"/>
        </a:xfrm>
      </p:grpSpPr>
      <p:sp>
        <p:nvSpPr>
          <p:cNvPr id="49" name="TextBox 48">
            <a:extLst>
              <a:ext uri="{FF2B5EF4-FFF2-40B4-BE49-F238E27FC236}">
                <a16:creationId xmlns:a16="http://schemas.microsoft.com/office/drawing/2014/main" id="{11196CA6-B59B-72FD-1D33-3211A12B0933}"/>
              </a:ext>
            </a:extLst>
          </p:cNvPr>
          <p:cNvSpPr txBox="1"/>
          <p:nvPr/>
        </p:nvSpPr>
        <p:spPr>
          <a:xfrm>
            <a:off x="685800" y="2922814"/>
            <a:ext cx="10820400" cy="3935186"/>
          </a:xfrm>
          <a:prstGeom prst="rect">
            <a:avLst/>
          </a:prstGeom>
          <a:solidFill>
            <a:schemeClr val="bg1"/>
          </a:solidFill>
        </p:spPr>
        <p:txBody>
          <a:bodyPr wrap="square" rtlCol="0">
            <a:spAutoFit/>
          </a:bodyPr>
          <a:lstStyle/>
          <a:p>
            <a:endParaRPr lang="en-US" dirty="0"/>
          </a:p>
        </p:txBody>
      </p:sp>
      <p:sp useBgFill="1">
        <p:nvSpPr>
          <p:cNvPr id="8" name="Rectangle 7">
            <a:extLst>
              <a:ext uri="{FF2B5EF4-FFF2-40B4-BE49-F238E27FC236}">
                <a16:creationId xmlns:a16="http://schemas.microsoft.com/office/drawing/2014/main" id="{AE1B06CE-236C-DBC2-4AE4-D57A45E909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ill Sans MT"/>
              <a:ea typeface="+mn-ea"/>
              <a:cs typeface="+mn-cs"/>
            </a:endParaRPr>
          </a:p>
        </p:txBody>
      </p:sp>
      <p:sp>
        <p:nvSpPr>
          <p:cNvPr id="10" name="Rectangle 9">
            <a:extLst>
              <a:ext uri="{FF2B5EF4-FFF2-40B4-BE49-F238E27FC236}">
                <a16:creationId xmlns:a16="http://schemas.microsoft.com/office/drawing/2014/main" id="{A1E701BE-9D8F-F676-B2C7-6490B3A61C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ill Sans MT"/>
              <a:ea typeface="+mn-ea"/>
              <a:cs typeface="+mn-cs"/>
            </a:endParaRPr>
          </a:p>
        </p:txBody>
      </p:sp>
      <p:sp useBgFill="1">
        <p:nvSpPr>
          <p:cNvPr id="12" name="Rectangle 11">
            <a:extLst>
              <a:ext uri="{FF2B5EF4-FFF2-40B4-BE49-F238E27FC236}">
                <a16:creationId xmlns:a16="http://schemas.microsoft.com/office/drawing/2014/main" id="{50B3FCE5-A97A-EF80-6823-6081A875B2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 y="685800"/>
            <a:ext cx="10820400" cy="5486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ill Sans MT"/>
              <a:ea typeface="+mn-ea"/>
              <a:cs typeface="+mn-cs"/>
            </a:endParaRPr>
          </a:p>
        </p:txBody>
      </p:sp>
      <p:sp>
        <p:nvSpPr>
          <p:cNvPr id="2" name="Title 1">
            <a:extLst>
              <a:ext uri="{FF2B5EF4-FFF2-40B4-BE49-F238E27FC236}">
                <a16:creationId xmlns:a16="http://schemas.microsoft.com/office/drawing/2014/main" id="{AF42412C-28B7-0A7D-0F74-B7EC7E10505A}"/>
              </a:ext>
            </a:extLst>
          </p:cNvPr>
          <p:cNvSpPr>
            <a:spLocks noGrp="1"/>
          </p:cNvSpPr>
          <p:nvPr>
            <p:ph type="title"/>
          </p:nvPr>
        </p:nvSpPr>
        <p:spPr>
          <a:xfrm>
            <a:off x="1352549" y="-298718"/>
            <a:ext cx="9486901" cy="1010088"/>
          </a:xfrm>
        </p:spPr>
        <p:txBody>
          <a:bodyPr anchor="b">
            <a:normAutofit/>
          </a:bodyPr>
          <a:lstStyle/>
          <a:p>
            <a:pPr algn="ctr"/>
            <a:r>
              <a:rPr lang="en-SG" dirty="0">
                <a:solidFill>
                  <a:schemeClr val="bg1"/>
                </a:solidFill>
              </a:rPr>
              <a:t>Treatment-mediator interaction</a:t>
            </a:r>
          </a:p>
        </p:txBody>
      </p:sp>
      <p:pic>
        <p:nvPicPr>
          <p:cNvPr id="4" name="Picture 3">
            <a:extLst>
              <a:ext uri="{FF2B5EF4-FFF2-40B4-BE49-F238E27FC236}">
                <a16:creationId xmlns:a16="http://schemas.microsoft.com/office/drawing/2014/main" id="{D661A632-9C3D-F9D9-F3FF-910ED1780DB1}"/>
              </a:ext>
            </a:extLst>
          </p:cNvPr>
          <p:cNvPicPr>
            <a:picLocks noChangeAspect="1"/>
          </p:cNvPicPr>
          <p:nvPr/>
        </p:nvPicPr>
        <p:blipFill>
          <a:blip r:embed="rId3"/>
          <a:srcRect b="17047"/>
          <a:stretch>
            <a:fillRect/>
          </a:stretch>
        </p:blipFill>
        <p:spPr>
          <a:xfrm>
            <a:off x="435660" y="658755"/>
            <a:ext cx="11320677" cy="5856132"/>
          </a:xfrm>
          <a:prstGeom prst="rect">
            <a:avLst/>
          </a:prstGeom>
        </p:spPr>
      </p:pic>
      <p:pic>
        <p:nvPicPr>
          <p:cNvPr id="5" name="Picture 4">
            <a:extLst>
              <a:ext uri="{FF2B5EF4-FFF2-40B4-BE49-F238E27FC236}">
                <a16:creationId xmlns:a16="http://schemas.microsoft.com/office/drawing/2014/main" id="{0D94DCC7-73C9-C111-CAE6-4A231938295D}"/>
              </a:ext>
            </a:extLst>
          </p:cNvPr>
          <p:cNvPicPr>
            <a:picLocks noChangeAspect="1"/>
          </p:cNvPicPr>
          <p:nvPr/>
        </p:nvPicPr>
        <p:blipFill>
          <a:blip r:embed="rId4"/>
          <a:srcRect l="-166" t="-6033" r="40279" b="213"/>
          <a:stretch>
            <a:fillRect/>
          </a:stretch>
        </p:blipFill>
        <p:spPr>
          <a:xfrm>
            <a:off x="7366195" y="1559469"/>
            <a:ext cx="4265073" cy="1727864"/>
          </a:xfrm>
          <a:prstGeom prst="rect">
            <a:avLst/>
          </a:prstGeom>
          <a:ln w="38100">
            <a:solidFill>
              <a:schemeClr val="tx1"/>
            </a:solidFill>
          </a:ln>
        </p:spPr>
      </p:pic>
      <p:cxnSp>
        <p:nvCxnSpPr>
          <p:cNvPr id="6" name="Straight Arrow Connector 5">
            <a:extLst>
              <a:ext uri="{FF2B5EF4-FFF2-40B4-BE49-F238E27FC236}">
                <a16:creationId xmlns:a16="http://schemas.microsoft.com/office/drawing/2014/main" id="{37810173-ABC9-2A3D-0904-D1AEE7608B18}"/>
              </a:ext>
            </a:extLst>
          </p:cNvPr>
          <p:cNvCxnSpPr>
            <a:cxnSpLocks/>
            <a:stCxn id="7" idx="0"/>
            <a:endCxn id="5" idx="2"/>
          </p:cNvCxnSpPr>
          <p:nvPr/>
        </p:nvCxnSpPr>
        <p:spPr>
          <a:xfrm flipH="1" flipV="1">
            <a:off x="9498732" y="3287333"/>
            <a:ext cx="636942" cy="900714"/>
          </a:xfrm>
          <a:prstGeom prst="straightConnector1">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7" name="TextBox 6">
            <a:extLst>
              <a:ext uri="{FF2B5EF4-FFF2-40B4-BE49-F238E27FC236}">
                <a16:creationId xmlns:a16="http://schemas.microsoft.com/office/drawing/2014/main" id="{369BB1CD-D15F-68A8-E03D-8C25B0FFC272}"/>
              </a:ext>
            </a:extLst>
          </p:cNvPr>
          <p:cNvSpPr txBox="1"/>
          <p:nvPr/>
        </p:nvSpPr>
        <p:spPr>
          <a:xfrm>
            <a:off x="8886423" y="4188047"/>
            <a:ext cx="2498501" cy="1754326"/>
          </a:xfrm>
          <a:prstGeom prst="rect">
            <a:avLst/>
          </a:prstGeom>
          <a:solidFill>
            <a:schemeClr val="accent6">
              <a:lumMod val="20000"/>
              <a:lumOff val="80000"/>
            </a:schemeClr>
          </a:solidFill>
        </p:spPr>
        <p:txBody>
          <a:bodyPr wrap="square" rtlCol="0">
            <a:spAutoFit/>
          </a:bodyPr>
          <a:lstStyle/>
          <a:p>
            <a:r>
              <a:rPr lang="en-US" b="1" dirty="0"/>
              <a:t>Mediation effect differs by baseline income group!</a:t>
            </a:r>
          </a:p>
          <a:p>
            <a:endParaRPr lang="en-US" b="1" dirty="0"/>
          </a:p>
          <a:p>
            <a:r>
              <a:rPr lang="en-US" b="1" dirty="0"/>
              <a:t>Treatment-mediator interaction exists</a:t>
            </a:r>
            <a:endParaRPr lang="en-US" dirty="0"/>
          </a:p>
        </p:txBody>
      </p:sp>
      <p:sp>
        <p:nvSpPr>
          <p:cNvPr id="21" name="TextBox 20">
            <a:extLst>
              <a:ext uri="{FF2B5EF4-FFF2-40B4-BE49-F238E27FC236}">
                <a16:creationId xmlns:a16="http://schemas.microsoft.com/office/drawing/2014/main" id="{7E625C1D-1258-9E33-828A-8EAC207F2907}"/>
              </a:ext>
            </a:extLst>
          </p:cNvPr>
          <p:cNvSpPr txBox="1"/>
          <p:nvPr/>
        </p:nvSpPr>
        <p:spPr>
          <a:xfrm>
            <a:off x="0" y="0"/>
            <a:ext cx="7224889" cy="276999"/>
          </a:xfrm>
          <a:prstGeom prst="rect">
            <a:avLst/>
          </a:prstGeom>
          <a:noFill/>
        </p:spPr>
        <p:txBody>
          <a:bodyPr wrap="square" rtlCol="0">
            <a:spAutoFit/>
          </a:bodyPr>
          <a:lstStyle/>
          <a:p>
            <a:r>
              <a:rPr lang="en-SG" sz="1200" i="1" dirty="0">
                <a:solidFill>
                  <a:schemeClr val="bg1">
                    <a:lumMod val="65000"/>
                  </a:schemeClr>
                </a:solidFill>
                <a:latin typeface="Arial" panose="020B0604020202020204" pitchFamily="34" charset="0"/>
                <a:cs typeface="Arial" panose="020B0604020202020204" pitchFamily="34" charset="0"/>
              </a:rPr>
              <a:t>[Restricted] For workshop participants only, not for distribution.</a:t>
            </a:r>
          </a:p>
        </p:txBody>
      </p:sp>
    </p:spTree>
    <p:extLst>
      <p:ext uri="{BB962C8B-B14F-4D97-AF65-F5344CB8AC3E}">
        <p14:creationId xmlns:p14="http://schemas.microsoft.com/office/powerpoint/2010/main" val="1511231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6ABA6D0-3E7F-DE61-40D2-958DCD39B668}"/>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EED4CE9-B33F-70B5-1F48-81496147B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ill Sans MT"/>
              <a:ea typeface="+mn-ea"/>
              <a:cs typeface="+mn-cs"/>
            </a:endParaRPr>
          </a:p>
        </p:txBody>
      </p:sp>
      <p:sp>
        <p:nvSpPr>
          <p:cNvPr id="10" name="Rectangle 9">
            <a:extLst>
              <a:ext uri="{FF2B5EF4-FFF2-40B4-BE49-F238E27FC236}">
                <a16:creationId xmlns:a16="http://schemas.microsoft.com/office/drawing/2014/main" id="{0ED35948-EC7E-5959-0EED-DC1CD777D5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ill Sans MT"/>
              <a:ea typeface="+mn-ea"/>
              <a:cs typeface="+mn-cs"/>
            </a:endParaRPr>
          </a:p>
        </p:txBody>
      </p:sp>
      <p:sp useBgFill="1">
        <p:nvSpPr>
          <p:cNvPr id="12" name="Rectangle 11">
            <a:extLst>
              <a:ext uri="{FF2B5EF4-FFF2-40B4-BE49-F238E27FC236}">
                <a16:creationId xmlns:a16="http://schemas.microsoft.com/office/drawing/2014/main" id="{4AA85B72-34D1-1112-0E27-A8C14762DA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 y="685800"/>
            <a:ext cx="10820400" cy="5486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ill Sans MT"/>
              <a:ea typeface="+mn-ea"/>
              <a:cs typeface="+mn-cs"/>
            </a:endParaRPr>
          </a:p>
        </p:txBody>
      </p:sp>
      <p:sp>
        <p:nvSpPr>
          <p:cNvPr id="35" name="Title 1">
            <a:extLst>
              <a:ext uri="{FF2B5EF4-FFF2-40B4-BE49-F238E27FC236}">
                <a16:creationId xmlns:a16="http://schemas.microsoft.com/office/drawing/2014/main" id="{2111D72E-A0C2-BD51-A39D-615BD24E4F20}"/>
              </a:ext>
            </a:extLst>
          </p:cNvPr>
          <p:cNvSpPr txBox="1">
            <a:spLocks/>
          </p:cNvSpPr>
          <p:nvPr/>
        </p:nvSpPr>
        <p:spPr>
          <a:xfrm>
            <a:off x="1371599" y="1010097"/>
            <a:ext cx="9486901" cy="101008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kern="1200" cap="all" spc="300" baseline="0">
                <a:solidFill>
                  <a:schemeClr val="tx2"/>
                </a:solidFill>
                <a:latin typeface="+mj-lt"/>
                <a:ea typeface="+mj-ea"/>
                <a:cs typeface="+mj-cs"/>
              </a:defRPr>
            </a:lvl1pPr>
          </a:lstStyle>
          <a:p>
            <a:pPr algn="ctr"/>
            <a:r>
              <a:rPr lang="en-SG" dirty="0"/>
              <a:t>Mediation (binary outcome)</a:t>
            </a:r>
          </a:p>
        </p:txBody>
      </p:sp>
      <p:pic>
        <p:nvPicPr>
          <p:cNvPr id="2" name="Picture 1">
            <a:extLst>
              <a:ext uri="{FF2B5EF4-FFF2-40B4-BE49-F238E27FC236}">
                <a16:creationId xmlns:a16="http://schemas.microsoft.com/office/drawing/2014/main" id="{073AC2BC-A2E7-50ED-4584-FD7CA1B74303}"/>
              </a:ext>
            </a:extLst>
          </p:cNvPr>
          <p:cNvPicPr>
            <a:picLocks noChangeAspect="1"/>
          </p:cNvPicPr>
          <p:nvPr/>
        </p:nvPicPr>
        <p:blipFill>
          <a:blip r:embed="rId3"/>
          <a:stretch>
            <a:fillRect/>
          </a:stretch>
        </p:blipFill>
        <p:spPr>
          <a:xfrm>
            <a:off x="0" y="3171605"/>
            <a:ext cx="12192000" cy="1673411"/>
          </a:xfrm>
          <a:prstGeom prst="rect">
            <a:avLst/>
          </a:prstGeom>
        </p:spPr>
      </p:pic>
      <p:sp>
        <p:nvSpPr>
          <p:cNvPr id="9" name="TextBox 8">
            <a:extLst>
              <a:ext uri="{FF2B5EF4-FFF2-40B4-BE49-F238E27FC236}">
                <a16:creationId xmlns:a16="http://schemas.microsoft.com/office/drawing/2014/main" id="{42EB3B45-A0B4-7449-AEC8-2FF3ADF41543}"/>
              </a:ext>
            </a:extLst>
          </p:cNvPr>
          <p:cNvSpPr txBox="1"/>
          <p:nvPr/>
        </p:nvSpPr>
        <p:spPr>
          <a:xfrm>
            <a:off x="2324100" y="2344482"/>
            <a:ext cx="2824843" cy="430887"/>
          </a:xfrm>
          <a:prstGeom prst="rect">
            <a:avLst/>
          </a:prstGeom>
          <a:solidFill>
            <a:schemeClr val="accent6">
              <a:lumMod val="20000"/>
              <a:lumOff val="80000"/>
            </a:schemeClr>
          </a:solidFill>
        </p:spPr>
        <p:txBody>
          <a:bodyPr wrap="square" rtlCol="0">
            <a:spAutoFit/>
          </a:bodyPr>
          <a:lstStyle/>
          <a:p>
            <a:pPr algn="ctr"/>
            <a:r>
              <a:rPr lang="en-US" sz="2200" dirty="0"/>
              <a:t>Logistic regression</a:t>
            </a:r>
            <a:endParaRPr lang="en-SG" sz="2200" dirty="0"/>
          </a:p>
        </p:txBody>
      </p:sp>
      <p:cxnSp>
        <p:nvCxnSpPr>
          <p:cNvPr id="11" name="Straight Arrow Connector 10">
            <a:extLst>
              <a:ext uri="{FF2B5EF4-FFF2-40B4-BE49-F238E27FC236}">
                <a16:creationId xmlns:a16="http://schemas.microsoft.com/office/drawing/2014/main" id="{B65C4127-6F27-5518-36BC-C6FC0560DEEA}"/>
              </a:ext>
            </a:extLst>
          </p:cNvPr>
          <p:cNvCxnSpPr>
            <a:cxnSpLocks/>
            <a:stCxn id="9" idx="2"/>
          </p:cNvCxnSpPr>
          <p:nvPr/>
        </p:nvCxnSpPr>
        <p:spPr>
          <a:xfrm flipH="1">
            <a:off x="2481943" y="2775369"/>
            <a:ext cx="1254579" cy="653631"/>
          </a:xfrm>
          <a:prstGeom prst="straightConnector1">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0" name="TextBox 19">
            <a:extLst>
              <a:ext uri="{FF2B5EF4-FFF2-40B4-BE49-F238E27FC236}">
                <a16:creationId xmlns:a16="http://schemas.microsoft.com/office/drawing/2014/main" id="{367CE0AF-B681-D919-D489-16492A0C77CC}"/>
              </a:ext>
            </a:extLst>
          </p:cNvPr>
          <p:cNvSpPr txBox="1"/>
          <p:nvPr/>
        </p:nvSpPr>
        <p:spPr>
          <a:xfrm>
            <a:off x="4284617" y="5226988"/>
            <a:ext cx="3187337" cy="677108"/>
          </a:xfrm>
          <a:prstGeom prst="rect">
            <a:avLst/>
          </a:prstGeom>
          <a:solidFill>
            <a:schemeClr val="accent6">
              <a:lumMod val="20000"/>
              <a:lumOff val="80000"/>
            </a:schemeClr>
          </a:solidFill>
        </p:spPr>
        <p:txBody>
          <a:bodyPr wrap="square" lIns="0" tIns="0" rIns="0" bIns="0" rtlCol="0">
            <a:spAutoFit/>
          </a:bodyPr>
          <a:lstStyle/>
          <a:p>
            <a:r>
              <a:rPr lang="en-US" sz="2200" dirty="0"/>
              <a:t>Intervention (High income)</a:t>
            </a:r>
            <a:endParaRPr lang="en-US" sz="2200" b="0" dirty="0"/>
          </a:p>
          <a:p>
            <a:r>
              <a:rPr lang="en-US" sz="2200" dirty="0"/>
              <a:t>Control (Low income)</a:t>
            </a:r>
          </a:p>
        </p:txBody>
      </p:sp>
      <p:cxnSp>
        <p:nvCxnSpPr>
          <p:cNvPr id="21" name="Straight Arrow Connector 20">
            <a:extLst>
              <a:ext uri="{FF2B5EF4-FFF2-40B4-BE49-F238E27FC236}">
                <a16:creationId xmlns:a16="http://schemas.microsoft.com/office/drawing/2014/main" id="{60314E28-FC58-4970-6129-B80C09DFF909}"/>
              </a:ext>
            </a:extLst>
          </p:cNvPr>
          <p:cNvCxnSpPr>
            <a:cxnSpLocks/>
            <a:stCxn id="20" idx="0"/>
          </p:cNvCxnSpPr>
          <p:nvPr/>
        </p:nvCxnSpPr>
        <p:spPr>
          <a:xfrm flipH="1" flipV="1">
            <a:off x="5726905" y="4216900"/>
            <a:ext cx="151381" cy="1010088"/>
          </a:xfrm>
          <a:prstGeom prst="straightConnector1">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6" name="TextBox 25">
            <a:extLst>
              <a:ext uri="{FF2B5EF4-FFF2-40B4-BE49-F238E27FC236}">
                <a16:creationId xmlns:a16="http://schemas.microsoft.com/office/drawing/2014/main" id="{3232C59E-E496-B62F-EBE8-B08B320B7D79}"/>
              </a:ext>
            </a:extLst>
          </p:cNvPr>
          <p:cNvSpPr txBox="1"/>
          <p:nvPr/>
        </p:nvSpPr>
        <p:spPr>
          <a:xfrm>
            <a:off x="0" y="0"/>
            <a:ext cx="7224889" cy="276999"/>
          </a:xfrm>
          <a:prstGeom prst="rect">
            <a:avLst/>
          </a:prstGeom>
          <a:noFill/>
        </p:spPr>
        <p:txBody>
          <a:bodyPr wrap="square" rtlCol="0">
            <a:spAutoFit/>
          </a:bodyPr>
          <a:lstStyle/>
          <a:p>
            <a:r>
              <a:rPr lang="en-SG" sz="1200" i="1" dirty="0">
                <a:solidFill>
                  <a:schemeClr val="bg1">
                    <a:lumMod val="65000"/>
                  </a:schemeClr>
                </a:solidFill>
                <a:latin typeface="Arial" panose="020B0604020202020204" pitchFamily="34" charset="0"/>
                <a:cs typeface="Arial" panose="020B0604020202020204" pitchFamily="34" charset="0"/>
              </a:rPr>
              <a:t>[Restricted] For workshop participants only, not for distribution.</a:t>
            </a:r>
          </a:p>
        </p:txBody>
      </p:sp>
    </p:spTree>
    <p:extLst>
      <p:ext uri="{BB962C8B-B14F-4D97-AF65-F5344CB8AC3E}">
        <p14:creationId xmlns:p14="http://schemas.microsoft.com/office/powerpoint/2010/main" val="2255158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20"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FF9146B-4CCD-4CDB-AB9C-458005307E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ill Sans MT"/>
              <a:ea typeface="+mn-ea"/>
              <a:cs typeface="+mn-cs"/>
            </a:endParaRPr>
          </a:p>
        </p:txBody>
      </p:sp>
      <p:sp>
        <p:nvSpPr>
          <p:cNvPr id="10" name="Rectangle 9">
            <a:extLst>
              <a:ext uri="{FF2B5EF4-FFF2-40B4-BE49-F238E27FC236}">
                <a16:creationId xmlns:a16="http://schemas.microsoft.com/office/drawing/2014/main" id="{5E1FEFA6-7D4F-4746-AE64-D4D52FE76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ill Sans MT"/>
              <a:ea typeface="+mn-ea"/>
              <a:cs typeface="+mn-cs"/>
            </a:endParaRPr>
          </a:p>
        </p:txBody>
      </p:sp>
      <p:sp useBgFill="1">
        <p:nvSpPr>
          <p:cNvPr id="12" name="Rectangle 11">
            <a:extLst>
              <a:ext uri="{FF2B5EF4-FFF2-40B4-BE49-F238E27FC236}">
                <a16:creationId xmlns:a16="http://schemas.microsoft.com/office/drawing/2014/main" id="{BF8DA3CF-9D4B-403A-9AD4-BB177DAB6C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 y="685800"/>
            <a:ext cx="10820400" cy="5486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ill Sans MT"/>
              <a:ea typeface="+mn-ea"/>
              <a:cs typeface="+mn-cs"/>
            </a:endParaRPr>
          </a:p>
        </p:txBody>
      </p:sp>
      <p:sp>
        <p:nvSpPr>
          <p:cNvPr id="2" name="Title 1">
            <a:extLst>
              <a:ext uri="{FF2B5EF4-FFF2-40B4-BE49-F238E27FC236}">
                <a16:creationId xmlns:a16="http://schemas.microsoft.com/office/drawing/2014/main" id="{8B85B467-8696-47E3-883B-CFDC97DC7581}"/>
              </a:ext>
            </a:extLst>
          </p:cNvPr>
          <p:cNvSpPr>
            <a:spLocks noGrp="1"/>
          </p:cNvSpPr>
          <p:nvPr>
            <p:ph type="title"/>
          </p:nvPr>
        </p:nvSpPr>
        <p:spPr>
          <a:xfrm>
            <a:off x="1371599" y="1010097"/>
            <a:ext cx="9486901" cy="1010088"/>
          </a:xfrm>
        </p:spPr>
        <p:txBody>
          <a:bodyPr anchor="b">
            <a:normAutofit/>
          </a:bodyPr>
          <a:lstStyle/>
          <a:p>
            <a:pPr algn="ctr"/>
            <a:r>
              <a:rPr lang="en-SG" dirty="0"/>
              <a:t>Counterfactual theory</a:t>
            </a:r>
          </a:p>
        </p:txBody>
      </p:sp>
      <p:sp>
        <p:nvSpPr>
          <p:cNvPr id="3" name="Content Placeholder 2">
            <a:extLst>
              <a:ext uri="{FF2B5EF4-FFF2-40B4-BE49-F238E27FC236}">
                <a16:creationId xmlns:a16="http://schemas.microsoft.com/office/drawing/2014/main" id="{30330FA1-3034-401C-9222-94ADB733BDB6}"/>
              </a:ext>
            </a:extLst>
          </p:cNvPr>
          <p:cNvSpPr>
            <a:spLocks noGrp="1"/>
          </p:cNvSpPr>
          <p:nvPr>
            <p:ph idx="1"/>
          </p:nvPr>
        </p:nvSpPr>
        <p:spPr>
          <a:xfrm>
            <a:off x="1371600" y="2206257"/>
            <a:ext cx="9769642" cy="3864918"/>
          </a:xfrm>
        </p:spPr>
        <p:txBody>
          <a:bodyPr>
            <a:normAutofit/>
          </a:bodyPr>
          <a:lstStyle/>
          <a:p>
            <a:pPr>
              <a:lnSpc>
                <a:spcPct val="90000"/>
              </a:lnSpc>
            </a:pPr>
            <a:r>
              <a:rPr lang="en-SG" dirty="0">
                <a:solidFill>
                  <a:schemeClr val="tx1"/>
                </a:solidFill>
                <a:latin typeface="Times-Roman"/>
              </a:rPr>
              <a:t>Natural direct effect (NDE)</a:t>
            </a:r>
            <a:br>
              <a:rPr lang="en-SG" sz="1700" dirty="0">
                <a:solidFill>
                  <a:schemeClr val="tx1"/>
                </a:solidFill>
                <a:latin typeface="Times-Roman"/>
              </a:rPr>
            </a:br>
            <a:r>
              <a:rPr lang="en-SG" sz="1800" dirty="0">
                <a:solidFill>
                  <a:schemeClr val="tx1"/>
                </a:solidFill>
                <a:latin typeface="Times-Roman"/>
              </a:rPr>
              <a:t>“</a:t>
            </a:r>
            <a:r>
              <a:rPr lang="en-US" sz="1800" b="0" i="0" dirty="0">
                <a:solidFill>
                  <a:schemeClr val="tx1"/>
                </a:solidFill>
                <a:effectLst/>
                <a:latin typeface="Times-Roman"/>
              </a:rPr>
              <a:t>how much the outcome would change if the exposure were set at level </a:t>
            </a:r>
            <a:r>
              <a:rPr lang="en-US" sz="1800" b="0" i="1" dirty="0">
                <a:solidFill>
                  <a:schemeClr val="tx1"/>
                </a:solidFill>
                <a:effectLst/>
                <a:latin typeface="Times-Roman"/>
              </a:rPr>
              <a:t>a=1 </a:t>
            </a:r>
            <a:r>
              <a:rPr lang="en-US" sz="1800" b="0" i="0" dirty="0">
                <a:solidFill>
                  <a:schemeClr val="tx1"/>
                </a:solidFill>
                <a:effectLst/>
                <a:latin typeface="Times-Roman"/>
              </a:rPr>
              <a:t>versus level </a:t>
            </a:r>
            <a:r>
              <a:rPr lang="en-US" sz="1800" b="0" i="1" dirty="0">
                <a:solidFill>
                  <a:schemeClr val="tx1"/>
                </a:solidFill>
                <a:effectLst/>
                <a:latin typeface="Times-Roman"/>
              </a:rPr>
              <a:t>a</a:t>
            </a:r>
            <a:r>
              <a:rPr lang="en-US" sz="1800" b="0" i="0" dirty="0">
                <a:solidFill>
                  <a:schemeClr val="tx1"/>
                </a:solidFill>
                <a:effectLst/>
                <a:latin typeface="Times-Roman"/>
              </a:rPr>
              <a:t>*=0 but for each individual the mediator were kept at the level it would have taken in the absence of the exposure</a:t>
            </a:r>
            <a:r>
              <a:rPr lang="en-US" sz="1800" dirty="0">
                <a:solidFill>
                  <a:schemeClr val="tx1"/>
                </a:solidFill>
                <a:latin typeface="Times-Roman"/>
              </a:rPr>
              <a:t>”</a:t>
            </a:r>
            <a:endParaRPr lang="en-SG" sz="1800" dirty="0">
              <a:solidFill>
                <a:schemeClr val="tx1"/>
              </a:solidFill>
              <a:latin typeface="Times-Roman"/>
            </a:endParaRPr>
          </a:p>
          <a:p>
            <a:pPr>
              <a:lnSpc>
                <a:spcPct val="90000"/>
              </a:lnSpc>
            </a:pPr>
            <a:r>
              <a:rPr lang="en-SG" dirty="0">
                <a:solidFill>
                  <a:schemeClr val="tx1"/>
                </a:solidFill>
                <a:latin typeface="Times-Roman"/>
              </a:rPr>
              <a:t>Natural indirect effect (NIE)</a:t>
            </a:r>
            <a:br>
              <a:rPr lang="en-SG" sz="1700" dirty="0">
                <a:solidFill>
                  <a:schemeClr val="tx1"/>
                </a:solidFill>
                <a:latin typeface="Times-Roman"/>
              </a:rPr>
            </a:br>
            <a:r>
              <a:rPr lang="en-SG" sz="1800" dirty="0">
                <a:solidFill>
                  <a:schemeClr val="tx1"/>
                </a:solidFill>
                <a:latin typeface="Times-Roman"/>
              </a:rPr>
              <a:t>“</a:t>
            </a:r>
            <a:r>
              <a:rPr lang="en-US" sz="1800" b="0" i="0" dirty="0">
                <a:solidFill>
                  <a:schemeClr val="tx1"/>
                </a:solidFill>
                <a:effectLst/>
                <a:latin typeface="Times-Roman"/>
              </a:rPr>
              <a:t>how much the outcome would change on average if the exposure were controlled at level </a:t>
            </a:r>
            <a:r>
              <a:rPr lang="en-US" sz="1800" b="0" i="1" dirty="0">
                <a:solidFill>
                  <a:schemeClr val="tx1"/>
                </a:solidFill>
                <a:effectLst/>
                <a:latin typeface="Times-Roman"/>
              </a:rPr>
              <a:t>a</a:t>
            </a:r>
            <a:r>
              <a:rPr lang="en-US" sz="1800" dirty="0">
                <a:solidFill>
                  <a:schemeClr val="tx1"/>
                </a:solidFill>
                <a:latin typeface="Times-Roman"/>
              </a:rPr>
              <a:t>=</a:t>
            </a:r>
            <a:r>
              <a:rPr lang="en-US" sz="1800" b="0" i="1" dirty="0">
                <a:solidFill>
                  <a:schemeClr val="tx1"/>
                </a:solidFill>
                <a:effectLst/>
                <a:latin typeface="Times-Roman"/>
              </a:rPr>
              <a:t>1</a:t>
            </a:r>
            <a:r>
              <a:rPr lang="en-US" sz="1800" b="0" i="0" dirty="0">
                <a:solidFill>
                  <a:schemeClr val="tx1"/>
                </a:solidFill>
                <a:effectLst/>
                <a:latin typeface="Times-Roman"/>
              </a:rPr>
              <a:t>, but the mediator were changed from the level it would take if </a:t>
            </a:r>
            <a:r>
              <a:rPr lang="en-US" sz="1800" b="0" i="1" dirty="0">
                <a:solidFill>
                  <a:schemeClr val="tx1"/>
                </a:solidFill>
                <a:effectLst/>
                <a:latin typeface="Times-Roman"/>
              </a:rPr>
              <a:t>a</a:t>
            </a:r>
            <a:r>
              <a:rPr lang="en-US" sz="1800" b="0" i="0" dirty="0">
                <a:solidFill>
                  <a:schemeClr val="tx1"/>
                </a:solidFill>
                <a:effectLst/>
                <a:latin typeface="Times-Roman"/>
              </a:rPr>
              <a:t>*=0 to the level it would take if </a:t>
            </a:r>
            <a:r>
              <a:rPr lang="en-US" sz="1800" b="0" i="1" dirty="0">
                <a:solidFill>
                  <a:schemeClr val="tx1"/>
                </a:solidFill>
                <a:effectLst/>
                <a:latin typeface="Times-Roman"/>
              </a:rPr>
              <a:t>a</a:t>
            </a:r>
            <a:r>
              <a:rPr lang="en-US" sz="1800" dirty="0">
                <a:solidFill>
                  <a:schemeClr val="tx1"/>
                </a:solidFill>
                <a:latin typeface="Times-Roman"/>
              </a:rPr>
              <a:t>=</a:t>
            </a:r>
            <a:r>
              <a:rPr lang="en-US" sz="1800" b="0" i="1" dirty="0">
                <a:solidFill>
                  <a:schemeClr val="tx1"/>
                </a:solidFill>
                <a:effectLst/>
                <a:latin typeface="Times-Roman"/>
              </a:rPr>
              <a:t>1”</a:t>
            </a:r>
            <a:r>
              <a:rPr lang="en-US" sz="1800" dirty="0">
                <a:solidFill>
                  <a:schemeClr val="tx1"/>
                </a:solidFill>
                <a:latin typeface="Times-Roman"/>
              </a:rPr>
              <a:t> </a:t>
            </a:r>
          </a:p>
          <a:p>
            <a:pPr>
              <a:lnSpc>
                <a:spcPct val="90000"/>
              </a:lnSpc>
            </a:pPr>
            <a:r>
              <a:rPr lang="en-SG" dirty="0">
                <a:solidFill>
                  <a:schemeClr val="tx1"/>
                </a:solidFill>
                <a:latin typeface="Times-Roman"/>
              </a:rPr>
              <a:t>T</a:t>
            </a:r>
            <a:r>
              <a:rPr lang="en-SG" i="0" dirty="0">
                <a:solidFill>
                  <a:schemeClr val="tx1"/>
                </a:solidFill>
                <a:effectLst/>
                <a:latin typeface="Times-Roman"/>
              </a:rPr>
              <a:t>otal effect (</a:t>
            </a:r>
            <a:r>
              <a:rPr lang="en-SG" i="1" dirty="0">
                <a:solidFill>
                  <a:schemeClr val="tx1"/>
                </a:solidFill>
                <a:effectLst/>
                <a:latin typeface="Times-Roman"/>
              </a:rPr>
              <a:t>TE</a:t>
            </a:r>
            <a:r>
              <a:rPr lang="en-SG" i="0" dirty="0">
                <a:solidFill>
                  <a:schemeClr val="tx1"/>
                </a:solidFill>
                <a:effectLst/>
                <a:latin typeface="Times-Roman"/>
              </a:rPr>
              <a:t>)</a:t>
            </a:r>
            <a:r>
              <a:rPr lang="en-SG" dirty="0">
                <a:solidFill>
                  <a:schemeClr val="tx1"/>
                </a:solidFill>
                <a:latin typeface="Times-Roman"/>
              </a:rPr>
              <a:t> </a:t>
            </a:r>
            <a:br>
              <a:rPr lang="en-SG" sz="1400" dirty="0">
                <a:solidFill>
                  <a:schemeClr val="tx1"/>
                </a:solidFill>
                <a:latin typeface="Times-Roman"/>
              </a:rPr>
            </a:br>
            <a:r>
              <a:rPr lang="en-SG" sz="1900" dirty="0">
                <a:solidFill>
                  <a:schemeClr val="tx1"/>
                </a:solidFill>
                <a:latin typeface="Times-Roman"/>
              </a:rPr>
              <a:t>“</a:t>
            </a:r>
            <a:r>
              <a:rPr lang="en-US" sz="1900" b="0" i="0" dirty="0">
                <a:solidFill>
                  <a:schemeClr val="tx1"/>
                </a:solidFill>
                <a:effectLst/>
                <a:latin typeface="Times-Roman"/>
                <a:cs typeface="Times New Roman" panose="02020603050405020304" pitchFamily="18" charset="0"/>
              </a:rPr>
              <a:t>how much the outcome would change overall for a change in the exposure from level </a:t>
            </a:r>
            <a:r>
              <a:rPr lang="en-US" sz="1900" b="0" i="1" dirty="0">
                <a:solidFill>
                  <a:schemeClr val="tx1"/>
                </a:solidFill>
                <a:effectLst/>
                <a:latin typeface="Times-Roman"/>
                <a:cs typeface="Times New Roman" panose="02020603050405020304" pitchFamily="18" charset="0"/>
              </a:rPr>
              <a:t>a</a:t>
            </a:r>
            <a:r>
              <a:rPr lang="en-US" sz="1900" b="0" i="0" dirty="0">
                <a:solidFill>
                  <a:schemeClr val="tx1"/>
                </a:solidFill>
                <a:effectLst/>
                <a:latin typeface="Times-Roman"/>
                <a:cs typeface="Times New Roman" panose="02020603050405020304" pitchFamily="18" charset="0"/>
              </a:rPr>
              <a:t>*=0 to level </a:t>
            </a:r>
            <a:r>
              <a:rPr lang="en-US" sz="1900" b="0" i="1" dirty="0">
                <a:solidFill>
                  <a:schemeClr val="tx1"/>
                </a:solidFill>
                <a:effectLst/>
                <a:latin typeface="Times-Roman"/>
                <a:cs typeface="Times New Roman" panose="02020603050405020304" pitchFamily="18" charset="0"/>
              </a:rPr>
              <a:t>a=</a:t>
            </a:r>
            <a:r>
              <a:rPr lang="en-US" sz="1900" b="0" i="0" dirty="0">
                <a:solidFill>
                  <a:schemeClr val="tx1"/>
                </a:solidFill>
                <a:effectLst/>
                <a:latin typeface="Times-Roman"/>
                <a:cs typeface="Times New Roman" panose="02020603050405020304" pitchFamily="18" charset="0"/>
              </a:rPr>
              <a:t>1”</a:t>
            </a:r>
            <a:endParaRPr lang="en-SG" sz="1900" dirty="0">
              <a:solidFill>
                <a:schemeClr val="tx1"/>
              </a:solidFill>
              <a:latin typeface="Times-Roman"/>
              <a:cs typeface="Times New Roman" panose="02020603050405020304" pitchFamily="18" charset="0"/>
            </a:endParaRPr>
          </a:p>
        </p:txBody>
      </p:sp>
      <p:sp>
        <p:nvSpPr>
          <p:cNvPr id="7" name="TextBox 6">
            <a:extLst>
              <a:ext uri="{FF2B5EF4-FFF2-40B4-BE49-F238E27FC236}">
                <a16:creationId xmlns:a16="http://schemas.microsoft.com/office/drawing/2014/main" id="{87F40A8F-5F88-11EB-B038-F1C2319D6D22}"/>
              </a:ext>
            </a:extLst>
          </p:cNvPr>
          <p:cNvSpPr txBox="1"/>
          <p:nvPr/>
        </p:nvSpPr>
        <p:spPr>
          <a:xfrm>
            <a:off x="0" y="6246639"/>
            <a:ext cx="12192000" cy="584775"/>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SG" sz="1600" b="0" i="0" u="none" strike="noStrike" kern="1200" cap="none" spc="0" normalizeH="0" baseline="0" noProof="0" dirty="0">
                <a:ln>
                  <a:noFill/>
                </a:ln>
                <a:solidFill>
                  <a:srgbClr val="FFFFFF"/>
                </a:solidFill>
                <a:effectLst/>
                <a:uLnTx/>
                <a:uFillTx/>
                <a:latin typeface="Times-Roman"/>
                <a:ea typeface="+mn-ea"/>
                <a:cs typeface="+mn-cs"/>
              </a:rPr>
              <a:t>Valeri, L., &amp; </a:t>
            </a:r>
            <a:r>
              <a:rPr kumimoji="0" lang="en-SG" sz="1600" b="0" i="0" u="none" strike="noStrike" kern="1200" cap="none" spc="0" normalizeH="0" baseline="0" noProof="0" dirty="0" err="1">
                <a:ln>
                  <a:noFill/>
                </a:ln>
                <a:solidFill>
                  <a:srgbClr val="FFFFFF"/>
                </a:solidFill>
                <a:effectLst/>
                <a:uLnTx/>
                <a:uFillTx/>
                <a:latin typeface="Times-Roman"/>
                <a:ea typeface="+mn-ea"/>
                <a:cs typeface="+mn-cs"/>
              </a:rPr>
              <a:t>Vanderweele</a:t>
            </a:r>
            <a:r>
              <a:rPr kumimoji="0" lang="en-SG" sz="1600" b="0" i="0" u="none" strike="noStrike" kern="1200" cap="none" spc="0" normalizeH="0" baseline="0" noProof="0" dirty="0">
                <a:ln>
                  <a:noFill/>
                </a:ln>
                <a:solidFill>
                  <a:srgbClr val="FFFFFF"/>
                </a:solidFill>
                <a:effectLst/>
                <a:uLnTx/>
                <a:uFillTx/>
                <a:latin typeface="Times-Roman"/>
                <a:ea typeface="+mn-ea"/>
                <a:cs typeface="+mn-cs"/>
              </a:rPr>
              <a:t>, T. J. (2013). Mediation analysis allowing for exposure-mediator interactions and causal interpretation: theoretical assumptions and implementation with SAS and SPSS macros. </a:t>
            </a:r>
            <a:r>
              <a:rPr kumimoji="0" lang="en-SG" sz="1600" b="0" i="1" u="none" strike="noStrike" kern="1200" cap="none" spc="0" normalizeH="0" baseline="0" noProof="0" dirty="0">
                <a:ln>
                  <a:noFill/>
                </a:ln>
                <a:solidFill>
                  <a:srgbClr val="FFFFFF"/>
                </a:solidFill>
                <a:effectLst/>
                <a:uLnTx/>
                <a:uFillTx/>
                <a:latin typeface="Times-Roman"/>
                <a:ea typeface="+mn-ea"/>
                <a:cs typeface="+mn-cs"/>
              </a:rPr>
              <a:t>Psychological methods</a:t>
            </a:r>
            <a:r>
              <a:rPr kumimoji="0" lang="en-SG" sz="1600" b="0" i="0" u="none" strike="noStrike" kern="1200" cap="none" spc="0" normalizeH="0" baseline="0" noProof="0" dirty="0">
                <a:ln>
                  <a:noFill/>
                </a:ln>
                <a:solidFill>
                  <a:srgbClr val="FFFFFF"/>
                </a:solidFill>
                <a:effectLst/>
                <a:uLnTx/>
                <a:uFillTx/>
                <a:latin typeface="Times-Roman"/>
                <a:ea typeface="+mn-ea"/>
                <a:cs typeface="+mn-cs"/>
              </a:rPr>
              <a:t>, </a:t>
            </a:r>
            <a:r>
              <a:rPr kumimoji="0" lang="en-SG" sz="1600" b="0" i="1" u="none" strike="noStrike" kern="1200" cap="none" spc="0" normalizeH="0" baseline="0" noProof="0" dirty="0">
                <a:ln>
                  <a:noFill/>
                </a:ln>
                <a:solidFill>
                  <a:srgbClr val="FFFFFF"/>
                </a:solidFill>
                <a:effectLst/>
                <a:uLnTx/>
                <a:uFillTx/>
                <a:latin typeface="Times-Roman"/>
                <a:ea typeface="+mn-ea"/>
                <a:cs typeface="+mn-cs"/>
              </a:rPr>
              <a:t>18</a:t>
            </a:r>
            <a:r>
              <a:rPr kumimoji="0" lang="en-SG" sz="1600" b="0" i="0" u="none" strike="noStrike" kern="1200" cap="none" spc="0" normalizeH="0" baseline="0" noProof="0" dirty="0">
                <a:ln>
                  <a:noFill/>
                </a:ln>
                <a:solidFill>
                  <a:srgbClr val="FFFFFF"/>
                </a:solidFill>
                <a:effectLst/>
                <a:uLnTx/>
                <a:uFillTx/>
                <a:latin typeface="Times-Roman"/>
                <a:ea typeface="+mn-ea"/>
                <a:cs typeface="+mn-cs"/>
              </a:rPr>
              <a:t>(2), 137–150. https://doi.org/10.1037/a0031034</a:t>
            </a:r>
          </a:p>
        </p:txBody>
      </p:sp>
      <p:sp>
        <p:nvSpPr>
          <p:cNvPr id="4" name="TextBox 3">
            <a:extLst>
              <a:ext uri="{FF2B5EF4-FFF2-40B4-BE49-F238E27FC236}">
                <a16:creationId xmlns:a16="http://schemas.microsoft.com/office/drawing/2014/main" id="{A44E7275-0E17-52EF-75AE-68E4E6C7D804}"/>
              </a:ext>
            </a:extLst>
          </p:cNvPr>
          <p:cNvSpPr txBox="1"/>
          <p:nvPr/>
        </p:nvSpPr>
        <p:spPr>
          <a:xfrm>
            <a:off x="0" y="0"/>
            <a:ext cx="7224889" cy="276999"/>
          </a:xfrm>
          <a:prstGeom prst="rect">
            <a:avLst/>
          </a:prstGeom>
          <a:noFill/>
        </p:spPr>
        <p:txBody>
          <a:bodyPr wrap="square" rtlCol="0">
            <a:spAutoFit/>
          </a:bodyPr>
          <a:lstStyle/>
          <a:p>
            <a:r>
              <a:rPr lang="en-SG" sz="1200" i="1" dirty="0">
                <a:solidFill>
                  <a:schemeClr val="bg1">
                    <a:lumMod val="65000"/>
                  </a:schemeClr>
                </a:solidFill>
                <a:latin typeface="Arial" panose="020B0604020202020204" pitchFamily="34" charset="0"/>
                <a:cs typeface="Arial" panose="020B0604020202020204" pitchFamily="34" charset="0"/>
              </a:rPr>
              <a:t>[Restricted] For workshop participants only, not for distribution.</a:t>
            </a:r>
          </a:p>
        </p:txBody>
      </p:sp>
    </p:spTree>
    <p:extLst>
      <p:ext uri="{BB962C8B-B14F-4D97-AF65-F5344CB8AC3E}">
        <p14:creationId xmlns:p14="http://schemas.microsoft.com/office/powerpoint/2010/main" val="39491082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52A300A5-CCEB-9A55-EEED-6EF6973C8E95}"/>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DB8C774-51F1-66BB-0FB6-CA4CC7369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ill Sans MT"/>
              <a:ea typeface="+mn-ea"/>
              <a:cs typeface="+mn-cs"/>
            </a:endParaRPr>
          </a:p>
        </p:txBody>
      </p:sp>
      <p:sp>
        <p:nvSpPr>
          <p:cNvPr id="10" name="Rectangle 9">
            <a:extLst>
              <a:ext uri="{FF2B5EF4-FFF2-40B4-BE49-F238E27FC236}">
                <a16:creationId xmlns:a16="http://schemas.microsoft.com/office/drawing/2014/main" id="{FB8D4F98-6443-22C0-5588-149103E29D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ill Sans MT"/>
              <a:ea typeface="+mn-ea"/>
              <a:cs typeface="+mn-cs"/>
            </a:endParaRPr>
          </a:p>
        </p:txBody>
      </p:sp>
      <p:sp useBgFill="1">
        <p:nvSpPr>
          <p:cNvPr id="12" name="Rectangle 11">
            <a:extLst>
              <a:ext uri="{FF2B5EF4-FFF2-40B4-BE49-F238E27FC236}">
                <a16:creationId xmlns:a16="http://schemas.microsoft.com/office/drawing/2014/main" id="{FD639633-39CE-5004-A816-C165A8A691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 y="685800"/>
            <a:ext cx="10820400" cy="5486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ill Sans MT"/>
              <a:ea typeface="+mn-ea"/>
              <a:cs typeface="+mn-cs"/>
            </a:endParaRPr>
          </a:p>
        </p:txBody>
      </p:sp>
      <p:sp>
        <p:nvSpPr>
          <p:cNvPr id="2" name="Title 1">
            <a:extLst>
              <a:ext uri="{FF2B5EF4-FFF2-40B4-BE49-F238E27FC236}">
                <a16:creationId xmlns:a16="http://schemas.microsoft.com/office/drawing/2014/main" id="{7E2D052B-2011-F8EA-3B07-355A810BFF58}"/>
              </a:ext>
            </a:extLst>
          </p:cNvPr>
          <p:cNvSpPr>
            <a:spLocks noGrp="1"/>
          </p:cNvSpPr>
          <p:nvPr>
            <p:ph type="title"/>
          </p:nvPr>
        </p:nvSpPr>
        <p:spPr>
          <a:xfrm>
            <a:off x="1371599" y="1010097"/>
            <a:ext cx="9486901" cy="1010088"/>
          </a:xfrm>
        </p:spPr>
        <p:txBody>
          <a:bodyPr anchor="b">
            <a:normAutofit/>
          </a:bodyPr>
          <a:lstStyle/>
          <a:p>
            <a:pPr algn="ctr"/>
            <a:r>
              <a:rPr lang="en-SG" dirty="0"/>
              <a:t>Counterfactual theory</a:t>
            </a:r>
          </a:p>
        </p:txBody>
      </p:sp>
      <p:sp>
        <p:nvSpPr>
          <p:cNvPr id="3" name="Content Placeholder 2">
            <a:extLst>
              <a:ext uri="{FF2B5EF4-FFF2-40B4-BE49-F238E27FC236}">
                <a16:creationId xmlns:a16="http://schemas.microsoft.com/office/drawing/2014/main" id="{FBD02E4C-9E7B-24A2-1178-B7F072F4992C}"/>
              </a:ext>
            </a:extLst>
          </p:cNvPr>
          <p:cNvSpPr>
            <a:spLocks noGrp="1"/>
          </p:cNvSpPr>
          <p:nvPr>
            <p:ph idx="1"/>
          </p:nvPr>
        </p:nvSpPr>
        <p:spPr>
          <a:xfrm>
            <a:off x="1371600" y="2206257"/>
            <a:ext cx="9769642" cy="3864918"/>
          </a:xfrm>
        </p:spPr>
        <p:txBody>
          <a:bodyPr>
            <a:normAutofit/>
          </a:bodyPr>
          <a:lstStyle/>
          <a:p>
            <a:pPr>
              <a:lnSpc>
                <a:spcPct val="90000"/>
              </a:lnSpc>
            </a:pPr>
            <a:r>
              <a:rPr lang="en-SG" dirty="0">
                <a:solidFill>
                  <a:schemeClr val="tx1"/>
                </a:solidFill>
                <a:latin typeface="Times-Roman"/>
              </a:rPr>
              <a:t>Controlled direct effect (CDE)</a:t>
            </a:r>
            <a:br>
              <a:rPr lang="en-SG" dirty="0">
                <a:solidFill>
                  <a:schemeClr val="tx1"/>
                </a:solidFill>
                <a:latin typeface="Times-Roman"/>
              </a:rPr>
            </a:br>
            <a:r>
              <a:rPr lang="en-SG" dirty="0">
                <a:solidFill>
                  <a:schemeClr val="tx1"/>
                </a:solidFill>
                <a:latin typeface="Times-Roman"/>
              </a:rPr>
              <a:t>“</a:t>
            </a:r>
            <a:r>
              <a:rPr lang="en-US" dirty="0">
                <a:solidFill>
                  <a:schemeClr val="tx1"/>
                </a:solidFill>
                <a:latin typeface="Times-Roman"/>
              </a:rPr>
              <a:t>how much the outcome would change on average if the mediator were controlled at level </a:t>
            </a:r>
            <a:r>
              <a:rPr lang="en-US" i="1" dirty="0">
                <a:solidFill>
                  <a:schemeClr val="tx1"/>
                </a:solidFill>
                <a:latin typeface="Times-Roman"/>
              </a:rPr>
              <a:t>m </a:t>
            </a:r>
            <a:r>
              <a:rPr lang="en-US" dirty="0">
                <a:solidFill>
                  <a:schemeClr val="tx1"/>
                </a:solidFill>
                <a:latin typeface="Times-Roman"/>
              </a:rPr>
              <a:t>uniformly in the population, but the treatment were changed from level </a:t>
            </a:r>
            <a:r>
              <a:rPr lang="en-US" i="1" dirty="0">
                <a:solidFill>
                  <a:schemeClr val="tx1"/>
                </a:solidFill>
                <a:latin typeface="Times-Roman"/>
              </a:rPr>
              <a:t>a</a:t>
            </a:r>
            <a:r>
              <a:rPr lang="en-US" dirty="0">
                <a:solidFill>
                  <a:schemeClr val="tx1"/>
                </a:solidFill>
                <a:latin typeface="Times-Roman"/>
              </a:rPr>
              <a:t>* = 0 to level </a:t>
            </a:r>
            <a:r>
              <a:rPr lang="en-US" i="1" dirty="0">
                <a:solidFill>
                  <a:schemeClr val="tx1"/>
                </a:solidFill>
                <a:latin typeface="Times-Roman"/>
              </a:rPr>
              <a:t>a =</a:t>
            </a:r>
            <a:r>
              <a:rPr lang="en-US" dirty="0">
                <a:solidFill>
                  <a:schemeClr val="tx1"/>
                </a:solidFill>
                <a:latin typeface="Times-Roman"/>
              </a:rPr>
              <a:t>1”</a:t>
            </a:r>
            <a:endParaRPr lang="en-SG" dirty="0">
              <a:solidFill>
                <a:schemeClr val="tx1"/>
              </a:solidFill>
              <a:latin typeface="Times-Roman"/>
            </a:endParaRPr>
          </a:p>
        </p:txBody>
      </p:sp>
      <p:sp>
        <p:nvSpPr>
          <p:cNvPr id="7" name="TextBox 6">
            <a:extLst>
              <a:ext uri="{FF2B5EF4-FFF2-40B4-BE49-F238E27FC236}">
                <a16:creationId xmlns:a16="http://schemas.microsoft.com/office/drawing/2014/main" id="{04C083AB-71FA-DCCE-D7BB-25E6BB5C85A8}"/>
              </a:ext>
            </a:extLst>
          </p:cNvPr>
          <p:cNvSpPr txBox="1"/>
          <p:nvPr/>
        </p:nvSpPr>
        <p:spPr>
          <a:xfrm>
            <a:off x="0" y="6246639"/>
            <a:ext cx="12192000" cy="584775"/>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SG" sz="1600" b="0" i="0" u="none" strike="noStrike" kern="1200" cap="none" spc="0" normalizeH="0" baseline="0" noProof="0" dirty="0">
                <a:ln>
                  <a:noFill/>
                </a:ln>
                <a:solidFill>
                  <a:srgbClr val="FFFFFF"/>
                </a:solidFill>
                <a:effectLst/>
                <a:uLnTx/>
                <a:uFillTx/>
                <a:latin typeface="Times-Roman"/>
                <a:ea typeface="+mn-ea"/>
                <a:cs typeface="+mn-cs"/>
              </a:rPr>
              <a:t>Valeri, L., &amp; </a:t>
            </a:r>
            <a:r>
              <a:rPr kumimoji="0" lang="en-SG" sz="1600" b="0" i="0" u="none" strike="noStrike" kern="1200" cap="none" spc="0" normalizeH="0" baseline="0" noProof="0" dirty="0" err="1">
                <a:ln>
                  <a:noFill/>
                </a:ln>
                <a:solidFill>
                  <a:srgbClr val="FFFFFF"/>
                </a:solidFill>
                <a:effectLst/>
                <a:uLnTx/>
                <a:uFillTx/>
                <a:latin typeface="Times-Roman"/>
                <a:ea typeface="+mn-ea"/>
                <a:cs typeface="+mn-cs"/>
              </a:rPr>
              <a:t>Vanderweele</a:t>
            </a:r>
            <a:r>
              <a:rPr kumimoji="0" lang="en-SG" sz="1600" b="0" i="0" u="none" strike="noStrike" kern="1200" cap="none" spc="0" normalizeH="0" baseline="0" noProof="0" dirty="0">
                <a:ln>
                  <a:noFill/>
                </a:ln>
                <a:solidFill>
                  <a:srgbClr val="FFFFFF"/>
                </a:solidFill>
                <a:effectLst/>
                <a:uLnTx/>
                <a:uFillTx/>
                <a:latin typeface="Times-Roman"/>
                <a:ea typeface="+mn-ea"/>
                <a:cs typeface="+mn-cs"/>
              </a:rPr>
              <a:t>, T. J. (2013). Mediation analysis allowing for exposure-mediator interactions and causal interpretation: theoretical assumptions and implementation with SAS and SPSS macros. </a:t>
            </a:r>
            <a:r>
              <a:rPr kumimoji="0" lang="en-SG" sz="1600" b="0" i="1" u="none" strike="noStrike" kern="1200" cap="none" spc="0" normalizeH="0" baseline="0" noProof="0" dirty="0">
                <a:ln>
                  <a:noFill/>
                </a:ln>
                <a:solidFill>
                  <a:srgbClr val="FFFFFF"/>
                </a:solidFill>
                <a:effectLst/>
                <a:uLnTx/>
                <a:uFillTx/>
                <a:latin typeface="Times-Roman"/>
                <a:ea typeface="+mn-ea"/>
                <a:cs typeface="+mn-cs"/>
              </a:rPr>
              <a:t>Psychological methods</a:t>
            </a:r>
            <a:r>
              <a:rPr kumimoji="0" lang="en-SG" sz="1600" b="0" i="0" u="none" strike="noStrike" kern="1200" cap="none" spc="0" normalizeH="0" baseline="0" noProof="0" dirty="0">
                <a:ln>
                  <a:noFill/>
                </a:ln>
                <a:solidFill>
                  <a:srgbClr val="FFFFFF"/>
                </a:solidFill>
                <a:effectLst/>
                <a:uLnTx/>
                <a:uFillTx/>
                <a:latin typeface="Times-Roman"/>
                <a:ea typeface="+mn-ea"/>
                <a:cs typeface="+mn-cs"/>
              </a:rPr>
              <a:t>, </a:t>
            </a:r>
            <a:r>
              <a:rPr kumimoji="0" lang="en-SG" sz="1600" b="0" i="1" u="none" strike="noStrike" kern="1200" cap="none" spc="0" normalizeH="0" baseline="0" noProof="0" dirty="0">
                <a:ln>
                  <a:noFill/>
                </a:ln>
                <a:solidFill>
                  <a:srgbClr val="FFFFFF"/>
                </a:solidFill>
                <a:effectLst/>
                <a:uLnTx/>
                <a:uFillTx/>
                <a:latin typeface="Times-Roman"/>
                <a:ea typeface="+mn-ea"/>
                <a:cs typeface="+mn-cs"/>
              </a:rPr>
              <a:t>18</a:t>
            </a:r>
            <a:r>
              <a:rPr kumimoji="0" lang="en-SG" sz="1600" b="0" i="0" u="none" strike="noStrike" kern="1200" cap="none" spc="0" normalizeH="0" baseline="0" noProof="0" dirty="0">
                <a:ln>
                  <a:noFill/>
                </a:ln>
                <a:solidFill>
                  <a:srgbClr val="FFFFFF"/>
                </a:solidFill>
                <a:effectLst/>
                <a:uLnTx/>
                <a:uFillTx/>
                <a:latin typeface="Times-Roman"/>
                <a:ea typeface="+mn-ea"/>
                <a:cs typeface="+mn-cs"/>
              </a:rPr>
              <a:t>(2), 137–150. https://doi.org/10.1037/a0031034</a:t>
            </a:r>
          </a:p>
        </p:txBody>
      </p:sp>
      <p:sp>
        <p:nvSpPr>
          <p:cNvPr id="4" name="TextBox 3">
            <a:extLst>
              <a:ext uri="{FF2B5EF4-FFF2-40B4-BE49-F238E27FC236}">
                <a16:creationId xmlns:a16="http://schemas.microsoft.com/office/drawing/2014/main" id="{6E999AE2-B9A9-DBB5-48C4-1540F0D97E59}"/>
              </a:ext>
            </a:extLst>
          </p:cNvPr>
          <p:cNvSpPr txBox="1"/>
          <p:nvPr/>
        </p:nvSpPr>
        <p:spPr>
          <a:xfrm>
            <a:off x="0" y="0"/>
            <a:ext cx="7224889" cy="276999"/>
          </a:xfrm>
          <a:prstGeom prst="rect">
            <a:avLst/>
          </a:prstGeom>
          <a:noFill/>
        </p:spPr>
        <p:txBody>
          <a:bodyPr wrap="square" rtlCol="0">
            <a:spAutoFit/>
          </a:bodyPr>
          <a:lstStyle/>
          <a:p>
            <a:r>
              <a:rPr lang="en-SG" sz="1200" i="1" dirty="0">
                <a:solidFill>
                  <a:schemeClr val="bg1">
                    <a:lumMod val="65000"/>
                  </a:schemeClr>
                </a:solidFill>
                <a:latin typeface="Arial" panose="020B0604020202020204" pitchFamily="34" charset="0"/>
                <a:cs typeface="Arial" panose="020B0604020202020204" pitchFamily="34" charset="0"/>
              </a:rPr>
              <a:t>[Restricted] For workshop participants only, not for distribution.</a:t>
            </a:r>
          </a:p>
        </p:txBody>
      </p:sp>
    </p:spTree>
    <p:extLst>
      <p:ext uri="{BB962C8B-B14F-4D97-AF65-F5344CB8AC3E}">
        <p14:creationId xmlns:p14="http://schemas.microsoft.com/office/powerpoint/2010/main" val="9079588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A38CABF-106B-FD23-98A4-EC7D8739D088}"/>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E8AA8AF-334D-153F-7479-31B8AB3B19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ill Sans MT"/>
              <a:ea typeface="+mn-ea"/>
              <a:cs typeface="+mn-cs"/>
            </a:endParaRPr>
          </a:p>
        </p:txBody>
      </p:sp>
      <p:sp>
        <p:nvSpPr>
          <p:cNvPr id="10" name="Rectangle 9">
            <a:extLst>
              <a:ext uri="{FF2B5EF4-FFF2-40B4-BE49-F238E27FC236}">
                <a16:creationId xmlns:a16="http://schemas.microsoft.com/office/drawing/2014/main" id="{D82492A5-A9F0-301E-D3F6-BFE77A74E7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ill Sans MT"/>
              <a:ea typeface="+mn-ea"/>
              <a:cs typeface="+mn-cs"/>
            </a:endParaRPr>
          </a:p>
        </p:txBody>
      </p:sp>
      <p:sp useBgFill="1">
        <p:nvSpPr>
          <p:cNvPr id="12" name="Rectangle 11">
            <a:extLst>
              <a:ext uri="{FF2B5EF4-FFF2-40B4-BE49-F238E27FC236}">
                <a16:creationId xmlns:a16="http://schemas.microsoft.com/office/drawing/2014/main" id="{E8482F86-D98E-8CDB-B37B-B236372BB5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 y="685800"/>
            <a:ext cx="10820400" cy="5486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ill Sans MT"/>
              <a:ea typeface="+mn-ea"/>
              <a:cs typeface="+mn-cs"/>
            </a:endParaRPr>
          </a:p>
        </p:txBody>
      </p:sp>
      <p:sp>
        <p:nvSpPr>
          <p:cNvPr id="2" name="Title 1">
            <a:extLst>
              <a:ext uri="{FF2B5EF4-FFF2-40B4-BE49-F238E27FC236}">
                <a16:creationId xmlns:a16="http://schemas.microsoft.com/office/drawing/2014/main" id="{611ADE79-B5A1-CB73-2CD2-DF1447BD0DCA}"/>
              </a:ext>
            </a:extLst>
          </p:cNvPr>
          <p:cNvSpPr>
            <a:spLocks noGrp="1"/>
          </p:cNvSpPr>
          <p:nvPr>
            <p:ph type="title"/>
          </p:nvPr>
        </p:nvSpPr>
        <p:spPr>
          <a:xfrm>
            <a:off x="1352549" y="-298718"/>
            <a:ext cx="9486901" cy="1010088"/>
          </a:xfrm>
        </p:spPr>
        <p:txBody>
          <a:bodyPr anchor="b">
            <a:normAutofit/>
          </a:bodyPr>
          <a:lstStyle/>
          <a:p>
            <a:pPr algn="ctr"/>
            <a:r>
              <a:rPr lang="en-SG" dirty="0">
                <a:solidFill>
                  <a:schemeClr val="bg1"/>
                </a:solidFill>
              </a:rPr>
              <a:t>Mediation (binary outcome)</a:t>
            </a:r>
          </a:p>
        </p:txBody>
      </p:sp>
      <p:pic>
        <p:nvPicPr>
          <p:cNvPr id="5" name="Picture 4">
            <a:extLst>
              <a:ext uri="{FF2B5EF4-FFF2-40B4-BE49-F238E27FC236}">
                <a16:creationId xmlns:a16="http://schemas.microsoft.com/office/drawing/2014/main" id="{E4CE5280-8424-C8F4-50D2-ED99BB5928C5}"/>
              </a:ext>
            </a:extLst>
          </p:cNvPr>
          <p:cNvPicPr>
            <a:picLocks noChangeAspect="1"/>
          </p:cNvPicPr>
          <p:nvPr/>
        </p:nvPicPr>
        <p:blipFill>
          <a:blip r:embed="rId3"/>
          <a:stretch>
            <a:fillRect/>
          </a:stretch>
        </p:blipFill>
        <p:spPr>
          <a:xfrm>
            <a:off x="373151" y="685800"/>
            <a:ext cx="11445695" cy="5503554"/>
          </a:xfrm>
          <a:prstGeom prst="rect">
            <a:avLst/>
          </a:prstGeom>
        </p:spPr>
      </p:pic>
      <mc:AlternateContent xmlns:mc="http://schemas.openxmlformats.org/markup-compatibility/2006">
        <mc:Choice xmlns:a14="http://schemas.microsoft.com/office/drawing/2010/main" Requires="a14">
          <p:sp>
            <p:nvSpPr>
              <p:cNvPr id="21" name="TextBox 20">
                <a:extLst>
                  <a:ext uri="{FF2B5EF4-FFF2-40B4-BE49-F238E27FC236}">
                    <a16:creationId xmlns:a16="http://schemas.microsoft.com/office/drawing/2014/main" id="{923089FC-D3F2-BBF2-25C6-967129705B9B}"/>
                  </a:ext>
                </a:extLst>
              </p:cNvPr>
              <p:cNvSpPr txBox="1"/>
              <p:nvPr/>
            </p:nvSpPr>
            <p:spPr>
              <a:xfrm>
                <a:off x="8095625" y="0"/>
                <a:ext cx="4101500" cy="2852832"/>
              </a:xfrm>
              <a:prstGeom prst="rect">
                <a:avLst/>
              </a:prstGeom>
              <a:solidFill>
                <a:schemeClr val="accent6">
                  <a:lumMod val="20000"/>
                  <a:lumOff val="80000"/>
                </a:schemeClr>
              </a:solidFill>
            </p:spPr>
            <p:txBody>
              <a:bodyPr wrap="square" rtlCol="0">
                <a:spAutoFit/>
              </a:bodyPr>
              <a:lstStyle/>
              <a:p>
                <a:r>
                  <a:rPr lang="en-US" b="1" dirty="0"/>
                  <a:t>Natural indirect effect (low income)</a:t>
                </a:r>
                <a:r>
                  <a:rPr lang="en-US" dirty="0"/>
                  <a:t>: </a:t>
                </a:r>
                <a14:m>
                  <m:oMath xmlns:m="http://schemas.openxmlformats.org/officeDocument/2006/math">
                    <m:r>
                      <a:rPr lang="en-US" i="1">
                        <a:latin typeface="Cambria Math" panose="02040503050406030204" pitchFamily="18" charset="0"/>
                      </a:rPr>
                      <m:t>𝑌</m:t>
                    </m:r>
                    <m:d>
                      <m:dPr>
                        <m:begChr m:val="{"/>
                        <m:endChr m:val="}"/>
                        <m:ctrlPr>
                          <a:rPr lang="en-US" i="1">
                            <a:latin typeface="Cambria Math" panose="02040503050406030204" pitchFamily="18" charset="0"/>
                          </a:rPr>
                        </m:ctrlPr>
                      </m:dPr>
                      <m:e>
                        <m:r>
                          <a:rPr lang="en-US" i="1">
                            <a:latin typeface="Cambria Math" panose="02040503050406030204" pitchFamily="18" charset="0"/>
                          </a:rPr>
                          <m:t>0, </m:t>
                        </m:r>
                        <m:r>
                          <a:rPr lang="en-US" i="1">
                            <a:latin typeface="Cambria Math" panose="02040503050406030204" pitchFamily="18" charset="0"/>
                          </a:rPr>
                          <m:t>𝑀</m:t>
                        </m:r>
                        <m:d>
                          <m:dPr>
                            <m:ctrlPr>
                              <a:rPr lang="en-US" i="1">
                                <a:latin typeface="Cambria Math" panose="02040503050406030204" pitchFamily="18" charset="0"/>
                              </a:rPr>
                            </m:ctrlPr>
                          </m:dPr>
                          <m:e>
                            <m:r>
                              <a:rPr lang="en-US" i="1">
                                <a:latin typeface="Cambria Math" panose="02040503050406030204" pitchFamily="18" charset="0"/>
                              </a:rPr>
                              <m:t>1</m:t>
                            </m:r>
                          </m:e>
                        </m:d>
                      </m:e>
                    </m:d>
                    <m:r>
                      <a:rPr lang="en-US" i="1">
                        <a:latin typeface="Cambria Math" panose="02040503050406030204" pitchFamily="18" charset="0"/>
                      </a:rPr>
                      <m:t> −</m:t>
                    </m:r>
                    <m:r>
                      <a:rPr lang="en-US" i="1">
                        <a:latin typeface="Cambria Math" panose="02040503050406030204" pitchFamily="18" charset="0"/>
                      </a:rPr>
                      <m:t>𝑌</m:t>
                    </m:r>
                    <m:d>
                      <m:dPr>
                        <m:begChr m:val="{"/>
                        <m:endChr m:val="}"/>
                        <m:ctrlPr>
                          <a:rPr lang="en-US" i="1">
                            <a:latin typeface="Cambria Math" panose="02040503050406030204" pitchFamily="18" charset="0"/>
                          </a:rPr>
                        </m:ctrlPr>
                      </m:dPr>
                      <m:e>
                        <m:r>
                          <a:rPr lang="en-US" i="1">
                            <a:latin typeface="Cambria Math" panose="02040503050406030204" pitchFamily="18" charset="0"/>
                          </a:rPr>
                          <m:t>0, </m:t>
                        </m:r>
                        <m:r>
                          <a:rPr lang="en-US" i="1">
                            <a:latin typeface="Cambria Math" panose="02040503050406030204" pitchFamily="18" charset="0"/>
                          </a:rPr>
                          <m:t>𝑀</m:t>
                        </m:r>
                        <m:d>
                          <m:dPr>
                            <m:ctrlPr>
                              <a:rPr lang="en-US" i="1">
                                <a:latin typeface="Cambria Math" panose="02040503050406030204" pitchFamily="18" charset="0"/>
                              </a:rPr>
                            </m:ctrlPr>
                          </m:dPr>
                          <m:e>
                            <m:r>
                              <a:rPr lang="en-US" i="1">
                                <a:latin typeface="Cambria Math" panose="02040503050406030204" pitchFamily="18" charset="0"/>
                              </a:rPr>
                              <m:t>0</m:t>
                            </m:r>
                          </m:e>
                        </m:d>
                      </m:e>
                    </m:d>
                  </m:oMath>
                </a14:m>
                <a:endParaRPr lang="en-US" i="1" dirty="0">
                  <a:latin typeface="Cambria Math" panose="02040503050406030204" pitchFamily="18" charset="0"/>
                </a:endParaRPr>
              </a:p>
              <a:p>
                <a14:m>
                  <m:oMathPara xmlns:m="http://schemas.openxmlformats.org/officeDocument/2006/math">
                    <m:oMathParaPr>
                      <m:jc m:val="centerGroup"/>
                    </m:oMathParaPr>
                    <m:oMath xmlns:m="http://schemas.openxmlformats.org/officeDocument/2006/math">
                      <m:r>
                        <m:rPr>
                          <m:nor/>
                        </m:rPr>
                        <a:rPr lang="en-US" dirty="0"/>
                        <m:t>M</m:t>
                      </m:r>
                      <m:r>
                        <m:rPr>
                          <m:nor/>
                        </m:rPr>
                        <a:rPr lang="en-US" dirty="0"/>
                        <m:t>(1): </m:t>
                      </m:r>
                      <m:r>
                        <m:rPr>
                          <m:nor/>
                        </m:rPr>
                        <a:rPr lang="en-US" b="0" i="0" dirty="0" smtClean="0"/>
                        <m:t>potential</m:t>
                      </m:r>
                      <m:r>
                        <m:rPr>
                          <m:nor/>
                        </m:rPr>
                        <a:rPr lang="en-US" b="0" i="0" dirty="0" smtClean="0"/>
                        <m:t> </m:t>
                      </m:r>
                      <m:r>
                        <m:rPr>
                          <m:nor/>
                        </m:rPr>
                        <a:rPr lang="en-US" dirty="0"/>
                        <m:t>sugar</m:t>
                      </m:r>
                      <m:r>
                        <m:rPr>
                          <m:nor/>
                        </m:rPr>
                        <a:rPr lang="en-US" dirty="0"/>
                        <m:t> </m:t>
                      </m:r>
                      <m:r>
                        <m:rPr>
                          <m:nor/>
                        </m:rPr>
                        <a:rPr lang="en-US" dirty="0"/>
                        <m:t>consumption</m:t>
                      </m:r>
                      <m:r>
                        <m:rPr>
                          <m:nor/>
                        </m:rPr>
                        <a:rPr lang="en-US" dirty="0"/>
                        <m:t> </m:t>
                      </m:r>
                      <m:r>
                        <m:rPr>
                          <m:nor/>
                        </m:rPr>
                        <a:rPr lang="en-US" dirty="0"/>
                        <m:t>level</m:t>
                      </m:r>
                      <m:r>
                        <m:rPr>
                          <m:nor/>
                        </m:rPr>
                        <a:rPr lang="en-US" dirty="0"/>
                        <m:t> </m:t>
                      </m:r>
                      <m:r>
                        <m:rPr>
                          <m:nor/>
                        </m:rPr>
                        <a:rPr lang="en-US" dirty="0"/>
                        <m:t>for</m:t>
                      </m:r>
                      <m:r>
                        <m:rPr>
                          <m:nor/>
                        </m:rPr>
                        <a:rPr lang="en-US" dirty="0"/>
                        <m:t> </m:t>
                      </m:r>
                      <m:r>
                        <m:rPr>
                          <m:nor/>
                        </m:rPr>
                        <a:rPr lang="en-US" b="0" i="0" dirty="0" smtClean="0"/>
                        <m:t>high</m:t>
                      </m:r>
                      <m:r>
                        <m:rPr>
                          <m:nor/>
                        </m:rPr>
                        <a:rPr lang="en-US" b="0" i="0" dirty="0" smtClean="0"/>
                        <m:t> </m:t>
                      </m:r>
                      <m:r>
                        <m:rPr>
                          <m:nor/>
                        </m:rPr>
                        <a:rPr lang="en-US" b="0" i="0" dirty="0" smtClean="0"/>
                        <m:t>income</m:t>
                      </m:r>
                      <m:r>
                        <m:rPr>
                          <m:nor/>
                        </m:rPr>
                        <a:rPr lang="en-US" b="0" i="0" dirty="0" smtClean="0"/>
                        <m:t>, </m:t>
                      </m:r>
                      <m:r>
                        <m:rPr>
                          <m:nor/>
                        </m:rPr>
                        <a:rPr lang="en-US" dirty="0"/>
                        <m:t>M</m:t>
                      </m:r>
                      <m:r>
                        <m:rPr>
                          <m:nor/>
                        </m:rPr>
                        <a:rPr lang="en-US" dirty="0"/>
                        <m:t>(0): </m:t>
                      </m:r>
                      <m:r>
                        <m:rPr>
                          <m:nor/>
                        </m:rPr>
                        <a:rPr lang="en-US" b="0" i="0" dirty="0" smtClean="0"/>
                        <m:t>potential</m:t>
                      </m:r>
                      <m:r>
                        <m:rPr>
                          <m:nor/>
                        </m:rPr>
                        <a:rPr lang="en-US" dirty="0"/>
                        <m:t> </m:t>
                      </m:r>
                      <m:r>
                        <m:rPr>
                          <m:nor/>
                        </m:rPr>
                        <a:rPr lang="en-US" dirty="0"/>
                        <m:t>sugar</m:t>
                      </m:r>
                      <m:r>
                        <m:rPr>
                          <m:nor/>
                        </m:rPr>
                        <a:rPr lang="en-US" dirty="0"/>
                        <m:t> </m:t>
                      </m:r>
                      <m:r>
                        <m:rPr>
                          <m:nor/>
                        </m:rPr>
                        <a:rPr lang="en-US" dirty="0"/>
                        <m:t>level</m:t>
                      </m:r>
                      <m:r>
                        <m:rPr>
                          <m:nor/>
                        </m:rPr>
                        <a:rPr lang="en-US" dirty="0"/>
                        <m:t> </m:t>
                      </m:r>
                      <m:r>
                        <m:rPr>
                          <m:nor/>
                        </m:rPr>
                        <a:rPr lang="en-US" dirty="0"/>
                        <m:t>for</m:t>
                      </m:r>
                      <m:r>
                        <m:rPr>
                          <m:nor/>
                        </m:rPr>
                        <a:rPr lang="en-US" dirty="0"/>
                        <m:t> </m:t>
                      </m:r>
                      <m:r>
                        <m:rPr>
                          <m:nor/>
                        </m:rPr>
                        <a:rPr lang="en-US" b="0" i="0" dirty="0" smtClean="0"/>
                        <m:t>low</m:t>
                      </m:r>
                      <m:r>
                        <m:rPr>
                          <m:nor/>
                        </m:rPr>
                        <a:rPr lang="en-US" b="0" i="0" dirty="0" smtClean="0"/>
                        <m:t> </m:t>
                      </m:r>
                      <m:r>
                        <m:rPr>
                          <m:nor/>
                        </m:rPr>
                        <a:rPr lang="en-US" b="0" i="0" dirty="0" smtClean="0"/>
                        <m:t>income</m:t>
                      </m:r>
                    </m:oMath>
                  </m:oMathPara>
                </a14:m>
                <a:br>
                  <a:rPr lang="en-US" dirty="0"/>
                </a:br>
                <a:r>
                  <a:rPr lang="en-SG" dirty="0"/>
                  <a:t>If we set income as high income, the effect of income on caries prevalence that was solely attributed to changes in sugar consumption was -3.0pp (95% CI = -5.0pp - -1.5pp). </a:t>
                </a:r>
                <a:endParaRPr lang="en-US" dirty="0"/>
              </a:p>
            </p:txBody>
          </p:sp>
        </mc:Choice>
        <mc:Fallback>
          <p:sp>
            <p:nvSpPr>
              <p:cNvPr id="21" name="TextBox 20">
                <a:extLst>
                  <a:ext uri="{FF2B5EF4-FFF2-40B4-BE49-F238E27FC236}">
                    <a16:creationId xmlns:a16="http://schemas.microsoft.com/office/drawing/2014/main" id="{923089FC-D3F2-BBF2-25C6-967129705B9B}"/>
                  </a:ext>
                </a:extLst>
              </p:cNvPr>
              <p:cNvSpPr txBox="1">
                <a:spLocks noRot="1" noChangeAspect="1" noMove="1" noResize="1" noEditPoints="1" noAdjustHandles="1" noChangeArrowheads="1" noChangeShapeType="1" noTextEdit="1"/>
              </p:cNvSpPr>
              <p:nvPr/>
            </p:nvSpPr>
            <p:spPr>
              <a:xfrm>
                <a:off x="8095625" y="0"/>
                <a:ext cx="4101500" cy="2852832"/>
              </a:xfrm>
              <a:prstGeom prst="rect">
                <a:avLst/>
              </a:prstGeom>
              <a:blipFill>
                <a:blip r:embed="rId4"/>
                <a:stretch>
                  <a:fillRect l="-1235" t="-889" r="-2469" b="-2222"/>
                </a:stretch>
              </a:blipFill>
            </p:spPr>
            <p:txBody>
              <a:bodyPr/>
              <a:lstStyle/>
              <a:p>
                <a:r>
                  <a:rPr lang="en-US">
                    <a:noFill/>
                  </a:rPr>
                  <a:t> </a:t>
                </a:r>
              </a:p>
            </p:txBody>
          </p:sp>
        </mc:Fallback>
      </mc:AlternateContent>
      <p:cxnSp>
        <p:nvCxnSpPr>
          <p:cNvPr id="22" name="Straight Arrow Connector 21">
            <a:extLst>
              <a:ext uri="{FF2B5EF4-FFF2-40B4-BE49-F238E27FC236}">
                <a16:creationId xmlns:a16="http://schemas.microsoft.com/office/drawing/2014/main" id="{FC82A466-14B2-8F14-082D-7A8DA665A819}"/>
              </a:ext>
            </a:extLst>
          </p:cNvPr>
          <p:cNvCxnSpPr>
            <a:cxnSpLocks/>
            <a:stCxn id="21" idx="1"/>
          </p:cNvCxnSpPr>
          <p:nvPr/>
        </p:nvCxnSpPr>
        <p:spPr>
          <a:xfrm flipH="1">
            <a:off x="4144440" y="1426416"/>
            <a:ext cx="3951185" cy="760824"/>
          </a:xfrm>
          <a:prstGeom prst="straightConnector1">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6" name="Straight Arrow Connector 35">
            <a:extLst>
              <a:ext uri="{FF2B5EF4-FFF2-40B4-BE49-F238E27FC236}">
                <a16:creationId xmlns:a16="http://schemas.microsoft.com/office/drawing/2014/main" id="{97FF0CAF-C54C-99D6-227D-00D04BF9C81F}"/>
              </a:ext>
            </a:extLst>
          </p:cNvPr>
          <p:cNvCxnSpPr>
            <a:cxnSpLocks/>
          </p:cNvCxnSpPr>
          <p:nvPr/>
        </p:nvCxnSpPr>
        <p:spPr>
          <a:xfrm flipV="1">
            <a:off x="2423765" y="3053443"/>
            <a:ext cx="825621" cy="1773232"/>
          </a:xfrm>
          <a:prstGeom prst="straightConnector1">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2" name="Straight Arrow Connector 61">
            <a:extLst>
              <a:ext uri="{FF2B5EF4-FFF2-40B4-BE49-F238E27FC236}">
                <a16:creationId xmlns:a16="http://schemas.microsoft.com/office/drawing/2014/main" id="{C7AB1007-36EE-C1D1-126A-74AF24CAFB26}"/>
              </a:ext>
            </a:extLst>
          </p:cNvPr>
          <p:cNvCxnSpPr>
            <a:cxnSpLocks/>
          </p:cNvCxnSpPr>
          <p:nvPr/>
        </p:nvCxnSpPr>
        <p:spPr>
          <a:xfrm flipH="1" flipV="1">
            <a:off x="4144440" y="2717935"/>
            <a:ext cx="2779993" cy="2125894"/>
          </a:xfrm>
          <a:prstGeom prst="straightConnector1">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mc:Choice xmlns:a14="http://schemas.microsoft.com/office/drawing/2010/main" Requires="a14">
          <p:sp>
            <p:nvSpPr>
              <p:cNvPr id="71" name="TextBox 70">
                <a:extLst>
                  <a:ext uri="{FF2B5EF4-FFF2-40B4-BE49-F238E27FC236}">
                    <a16:creationId xmlns:a16="http://schemas.microsoft.com/office/drawing/2014/main" id="{FCEB2871-C4CE-9ED3-2FD1-AECB25C66746}"/>
                  </a:ext>
                </a:extLst>
              </p:cNvPr>
              <p:cNvSpPr txBox="1"/>
              <p:nvPr/>
            </p:nvSpPr>
            <p:spPr>
              <a:xfrm>
                <a:off x="8082642" y="2855886"/>
                <a:ext cx="4180114" cy="2031325"/>
              </a:xfrm>
              <a:prstGeom prst="rect">
                <a:avLst/>
              </a:prstGeom>
              <a:solidFill>
                <a:schemeClr val="accent6">
                  <a:lumMod val="20000"/>
                  <a:lumOff val="80000"/>
                </a:schemeClr>
              </a:solidFill>
            </p:spPr>
            <p:txBody>
              <a:bodyPr wrap="square" rtlCol="0">
                <a:spAutoFit/>
              </a:bodyPr>
              <a:lstStyle/>
              <a:p>
                <a:r>
                  <a:rPr lang="en-US" b="1" dirty="0"/>
                  <a:t>Natural indirect effect (high income)</a:t>
                </a:r>
                <a:r>
                  <a:rPr lang="en-US" dirty="0"/>
                  <a:t>: </a:t>
                </a:r>
                <a14:m>
                  <m:oMath xmlns:m="http://schemas.openxmlformats.org/officeDocument/2006/math">
                    <m:r>
                      <a:rPr lang="en-US" i="1">
                        <a:latin typeface="Cambria Math" panose="02040503050406030204" pitchFamily="18" charset="0"/>
                      </a:rPr>
                      <m:t>𝑌</m:t>
                    </m:r>
                    <m:d>
                      <m:dPr>
                        <m:begChr m:val="{"/>
                        <m:endChr m:val="}"/>
                        <m:ctrlPr>
                          <a:rPr lang="en-US" i="1">
                            <a:latin typeface="Cambria Math" panose="02040503050406030204" pitchFamily="18" charset="0"/>
                          </a:rPr>
                        </m:ctrlPr>
                      </m:dPr>
                      <m:e>
                        <m:r>
                          <a:rPr lang="en-US" b="0" i="1" smtClean="0">
                            <a:latin typeface="Cambria Math" panose="02040503050406030204" pitchFamily="18" charset="0"/>
                          </a:rPr>
                          <m:t>1,</m:t>
                        </m:r>
                        <m:r>
                          <a:rPr lang="en-US" i="1">
                            <a:latin typeface="Cambria Math" panose="02040503050406030204" pitchFamily="18" charset="0"/>
                          </a:rPr>
                          <m:t> </m:t>
                        </m:r>
                        <m:r>
                          <a:rPr lang="en-US" i="1">
                            <a:latin typeface="Cambria Math" panose="02040503050406030204" pitchFamily="18" charset="0"/>
                          </a:rPr>
                          <m:t>𝑀</m:t>
                        </m:r>
                        <m:d>
                          <m:dPr>
                            <m:ctrlPr>
                              <a:rPr lang="en-US" i="1">
                                <a:latin typeface="Cambria Math" panose="02040503050406030204" pitchFamily="18" charset="0"/>
                              </a:rPr>
                            </m:ctrlPr>
                          </m:dPr>
                          <m:e>
                            <m:r>
                              <a:rPr lang="en-US" i="1">
                                <a:latin typeface="Cambria Math" panose="02040503050406030204" pitchFamily="18" charset="0"/>
                              </a:rPr>
                              <m:t>1</m:t>
                            </m:r>
                          </m:e>
                        </m:d>
                      </m:e>
                    </m:d>
                    <m:r>
                      <a:rPr lang="en-US" i="1">
                        <a:latin typeface="Cambria Math" panose="02040503050406030204" pitchFamily="18" charset="0"/>
                      </a:rPr>
                      <m:t> −</m:t>
                    </m:r>
                    <m:r>
                      <a:rPr lang="en-US" i="1">
                        <a:latin typeface="Cambria Math" panose="02040503050406030204" pitchFamily="18" charset="0"/>
                      </a:rPr>
                      <m:t>𝑌</m:t>
                    </m:r>
                    <m:d>
                      <m:dPr>
                        <m:begChr m:val="{"/>
                        <m:endChr m:val="}"/>
                        <m:ctrlPr>
                          <a:rPr lang="en-US" i="1">
                            <a:latin typeface="Cambria Math" panose="02040503050406030204" pitchFamily="18" charset="0"/>
                          </a:rPr>
                        </m:ctrlPr>
                      </m:dPr>
                      <m:e>
                        <m:r>
                          <a:rPr lang="en-US" b="0" i="1" smtClean="0">
                            <a:latin typeface="Cambria Math" panose="02040503050406030204" pitchFamily="18" charset="0"/>
                          </a:rPr>
                          <m:t>1</m:t>
                        </m:r>
                        <m:r>
                          <a:rPr lang="en-US" i="1">
                            <a:latin typeface="Cambria Math" panose="02040503050406030204" pitchFamily="18" charset="0"/>
                          </a:rPr>
                          <m:t>, </m:t>
                        </m:r>
                        <m:r>
                          <a:rPr lang="en-US" i="1">
                            <a:latin typeface="Cambria Math" panose="02040503050406030204" pitchFamily="18" charset="0"/>
                          </a:rPr>
                          <m:t>𝑀</m:t>
                        </m:r>
                        <m:d>
                          <m:dPr>
                            <m:ctrlPr>
                              <a:rPr lang="en-US" i="1">
                                <a:latin typeface="Cambria Math" panose="02040503050406030204" pitchFamily="18" charset="0"/>
                              </a:rPr>
                            </m:ctrlPr>
                          </m:dPr>
                          <m:e>
                            <m:r>
                              <a:rPr lang="en-US" i="1">
                                <a:latin typeface="Cambria Math" panose="02040503050406030204" pitchFamily="18" charset="0"/>
                              </a:rPr>
                              <m:t>0</m:t>
                            </m:r>
                          </m:e>
                        </m:d>
                      </m:e>
                    </m:d>
                  </m:oMath>
                </a14:m>
                <a:br>
                  <a:rPr lang="en-US" dirty="0"/>
                </a:br>
                <a:r>
                  <a:rPr lang="en-SG" dirty="0"/>
                  <a:t>If we set income as low income, the effect of income on caries prevalence that was solely attributed to changes in sugar consumption was -2.3pp (95% CI = -9.6pp - -7.3pp).</a:t>
                </a:r>
                <a:endParaRPr lang="en-US" dirty="0"/>
              </a:p>
            </p:txBody>
          </p:sp>
        </mc:Choice>
        <mc:Fallback>
          <p:sp>
            <p:nvSpPr>
              <p:cNvPr id="71" name="TextBox 70">
                <a:extLst>
                  <a:ext uri="{FF2B5EF4-FFF2-40B4-BE49-F238E27FC236}">
                    <a16:creationId xmlns:a16="http://schemas.microsoft.com/office/drawing/2014/main" id="{FCEB2871-C4CE-9ED3-2FD1-AECB25C66746}"/>
                  </a:ext>
                </a:extLst>
              </p:cNvPr>
              <p:cNvSpPr txBox="1">
                <a:spLocks noRot="1" noChangeAspect="1" noMove="1" noResize="1" noEditPoints="1" noAdjustHandles="1" noChangeArrowheads="1" noChangeShapeType="1" noTextEdit="1"/>
              </p:cNvSpPr>
              <p:nvPr/>
            </p:nvSpPr>
            <p:spPr>
              <a:xfrm>
                <a:off x="8082642" y="2855886"/>
                <a:ext cx="4180114" cy="2031325"/>
              </a:xfrm>
              <a:prstGeom prst="rect">
                <a:avLst/>
              </a:prstGeom>
              <a:blipFill>
                <a:blip r:embed="rId5"/>
                <a:stretch>
                  <a:fillRect l="-1212" t="-1242" r="-1515" b="-3727"/>
                </a:stretch>
              </a:blipFill>
            </p:spPr>
            <p:txBody>
              <a:bodyPr/>
              <a:lstStyle/>
              <a:p>
                <a:r>
                  <a:rPr lang="en-US">
                    <a:noFill/>
                  </a:rPr>
                  <a:t> </a:t>
                </a:r>
              </a:p>
            </p:txBody>
          </p:sp>
        </mc:Fallback>
      </mc:AlternateContent>
      <p:cxnSp>
        <p:nvCxnSpPr>
          <p:cNvPr id="72" name="Straight Arrow Connector 71">
            <a:extLst>
              <a:ext uri="{FF2B5EF4-FFF2-40B4-BE49-F238E27FC236}">
                <a16:creationId xmlns:a16="http://schemas.microsoft.com/office/drawing/2014/main" id="{CCED8822-7392-D3EC-A41A-EC9EC2DC93C2}"/>
              </a:ext>
            </a:extLst>
          </p:cNvPr>
          <p:cNvCxnSpPr>
            <a:cxnSpLocks/>
            <a:stCxn id="71" idx="1"/>
          </p:cNvCxnSpPr>
          <p:nvPr/>
        </p:nvCxnSpPr>
        <p:spPr>
          <a:xfrm flipH="1" flipV="1">
            <a:off x="4144440" y="2453191"/>
            <a:ext cx="3938202" cy="1418358"/>
          </a:xfrm>
          <a:prstGeom prst="straightConnector1">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16" name="TextBox 115">
            <a:extLst>
              <a:ext uri="{FF2B5EF4-FFF2-40B4-BE49-F238E27FC236}">
                <a16:creationId xmlns:a16="http://schemas.microsoft.com/office/drawing/2014/main" id="{10F9BD07-0522-617B-79D1-F88D70EC1964}"/>
              </a:ext>
            </a:extLst>
          </p:cNvPr>
          <p:cNvSpPr txBox="1"/>
          <p:nvPr/>
        </p:nvSpPr>
        <p:spPr>
          <a:xfrm>
            <a:off x="-115271" y="6280432"/>
            <a:ext cx="12307271" cy="584775"/>
          </a:xfrm>
          <a:prstGeom prst="rect">
            <a:avLst/>
          </a:prstGeom>
          <a:noFill/>
        </p:spPr>
        <p:txBody>
          <a:bodyPr wrap="square">
            <a:spAutoFit/>
          </a:bodyPr>
          <a:lstStyle/>
          <a:p>
            <a:pPr algn="r"/>
            <a:r>
              <a:rPr lang="en-SG" sz="1600" b="0" i="0" u="none" strike="noStrike" dirty="0">
                <a:solidFill>
                  <a:schemeClr val="bg1"/>
                </a:solidFill>
                <a:effectLst/>
                <a:latin typeface="Roboto Mono Web"/>
              </a:rPr>
              <a:t>Byeon, S., &amp; Lee, W. (2023). An Introduction to Causal Mediation Analysis With a Comparison of 2 R Packages. </a:t>
            </a:r>
            <a:r>
              <a:rPr lang="en-SG" sz="1600" b="0" i="1" u="none" strike="noStrike" dirty="0">
                <a:solidFill>
                  <a:schemeClr val="bg1"/>
                </a:solidFill>
                <a:effectLst/>
                <a:latin typeface="Roboto Mono Web"/>
              </a:rPr>
              <a:t>Journal of preventive medicine and public health = </a:t>
            </a:r>
            <a:r>
              <a:rPr lang="en-SG" sz="1600" b="0" i="1" u="none" strike="noStrike" dirty="0" err="1">
                <a:solidFill>
                  <a:schemeClr val="bg1"/>
                </a:solidFill>
                <a:effectLst/>
                <a:latin typeface="Roboto Mono Web"/>
              </a:rPr>
              <a:t>Yebang</a:t>
            </a:r>
            <a:r>
              <a:rPr lang="en-SG" sz="1600" b="0" i="1" u="none" strike="noStrike" dirty="0">
                <a:solidFill>
                  <a:schemeClr val="bg1"/>
                </a:solidFill>
                <a:effectLst/>
                <a:latin typeface="Roboto Mono Web"/>
              </a:rPr>
              <a:t> </a:t>
            </a:r>
            <a:r>
              <a:rPr lang="en-SG" sz="1600" b="0" i="1" u="none" strike="noStrike" dirty="0" err="1">
                <a:solidFill>
                  <a:schemeClr val="bg1"/>
                </a:solidFill>
                <a:effectLst/>
                <a:latin typeface="Roboto Mono Web"/>
              </a:rPr>
              <a:t>Uihakhoe</a:t>
            </a:r>
            <a:r>
              <a:rPr lang="en-SG" sz="1600" b="0" i="1" u="none" strike="noStrike" dirty="0">
                <a:solidFill>
                  <a:schemeClr val="bg1"/>
                </a:solidFill>
                <a:effectLst/>
                <a:latin typeface="Roboto Mono Web"/>
              </a:rPr>
              <a:t> chi</a:t>
            </a:r>
            <a:r>
              <a:rPr lang="en-SG" sz="1600" b="0" i="0" u="none" strike="noStrike" dirty="0">
                <a:solidFill>
                  <a:schemeClr val="bg1"/>
                </a:solidFill>
                <a:effectLst/>
                <a:latin typeface="Roboto Mono Web"/>
              </a:rPr>
              <a:t>, </a:t>
            </a:r>
            <a:r>
              <a:rPr lang="en-SG" sz="1600" b="0" i="1" u="none" strike="noStrike" dirty="0">
                <a:solidFill>
                  <a:schemeClr val="bg1"/>
                </a:solidFill>
                <a:effectLst/>
                <a:latin typeface="Roboto Mono Web"/>
              </a:rPr>
              <a:t>56</a:t>
            </a:r>
            <a:r>
              <a:rPr lang="en-SG" sz="1600" b="0" i="0" u="none" strike="noStrike" dirty="0">
                <a:solidFill>
                  <a:schemeClr val="bg1"/>
                </a:solidFill>
                <a:effectLst/>
                <a:latin typeface="Roboto Mono Web"/>
              </a:rPr>
              <a:t>(4), 303–311. https://</a:t>
            </a:r>
            <a:r>
              <a:rPr lang="en-SG" sz="1600" b="0" i="0" u="none" strike="noStrike" dirty="0" err="1">
                <a:solidFill>
                  <a:schemeClr val="bg1"/>
                </a:solidFill>
                <a:effectLst/>
                <a:latin typeface="Roboto Mono Web"/>
              </a:rPr>
              <a:t>doi.org</a:t>
            </a:r>
            <a:r>
              <a:rPr lang="en-SG" sz="1600" b="0" i="0" u="none" strike="noStrike" dirty="0">
                <a:solidFill>
                  <a:schemeClr val="bg1"/>
                </a:solidFill>
                <a:effectLst/>
                <a:latin typeface="Roboto Mono Web"/>
              </a:rPr>
              <a:t>/10.3961/jpmph.23.189</a:t>
            </a:r>
            <a:endParaRPr lang="en-US" sz="1600" dirty="0">
              <a:solidFill>
                <a:schemeClr val="bg1"/>
              </a:solidFill>
            </a:endParaRPr>
          </a:p>
        </p:txBody>
      </p:sp>
      <p:sp>
        <p:nvSpPr>
          <p:cNvPr id="117" name="TextBox 116">
            <a:extLst>
              <a:ext uri="{FF2B5EF4-FFF2-40B4-BE49-F238E27FC236}">
                <a16:creationId xmlns:a16="http://schemas.microsoft.com/office/drawing/2014/main" id="{CE15A2CA-2325-2EDC-4C5F-2BAA0DEED01B}"/>
              </a:ext>
            </a:extLst>
          </p:cNvPr>
          <p:cNvSpPr txBox="1"/>
          <p:nvPr/>
        </p:nvSpPr>
        <p:spPr>
          <a:xfrm>
            <a:off x="223320" y="4826675"/>
            <a:ext cx="4400890" cy="2031325"/>
          </a:xfrm>
          <a:prstGeom prst="rect">
            <a:avLst/>
          </a:prstGeom>
          <a:solidFill>
            <a:schemeClr val="accent6">
              <a:lumMod val="20000"/>
              <a:lumOff val="80000"/>
            </a:schemeClr>
          </a:solidFill>
        </p:spPr>
        <p:txBody>
          <a:bodyPr wrap="square" rtlCol="0">
            <a:spAutoFit/>
          </a:bodyPr>
          <a:lstStyle/>
          <a:p>
            <a:r>
              <a:rPr lang="en-US" b="1" dirty="0"/>
              <a:t>Natural direct effect (high income)</a:t>
            </a:r>
            <a:r>
              <a:rPr lang="en-US" dirty="0"/>
              <a:t>: </a:t>
            </a:r>
            <a:br>
              <a:rPr lang="en-US" dirty="0"/>
            </a:br>
            <a:r>
              <a:rPr lang="en-SG" dirty="0"/>
              <a:t>Had participants switched to high income, compared to low income, they would on average have a lower prevalence of caries by 7.7pp (95% CI = 5.0pp - 9.8pp), had sugar consumption levels stayed at the level that would have been observed for high income</a:t>
            </a:r>
            <a:endParaRPr lang="en-US" dirty="0"/>
          </a:p>
        </p:txBody>
      </p:sp>
      <p:sp>
        <p:nvSpPr>
          <p:cNvPr id="118" name="TextBox 117">
            <a:extLst>
              <a:ext uri="{FF2B5EF4-FFF2-40B4-BE49-F238E27FC236}">
                <a16:creationId xmlns:a16="http://schemas.microsoft.com/office/drawing/2014/main" id="{2F35B12B-F5CE-AF60-4575-DBA6CDFC951B}"/>
              </a:ext>
            </a:extLst>
          </p:cNvPr>
          <p:cNvSpPr txBox="1"/>
          <p:nvPr/>
        </p:nvSpPr>
        <p:spPr>
          <a:xfrm>
            <a:off x="4723988" y="4843829"/>
            <a:ext cx="4400890" cy="2031325"/>
          </a:xfrm>
          <a:prstGeom prst="rect">
            <a:avLst/>
          </a:prstGeom>
          <a:solidFill>
            <a:schemeClr val="accent6">
              <a:lumMod val="20000"/>
              <a:lumOff val="80000"/>
            </a:schemeClr>
          </a:solidFill>
        </p:spPr>
        <p:txBody>
          <a:bodyPr wrap="square" rtlCol="0">
            <a:spAutoFit/>
          </a:bodyPr>
          <a:lstStyle/>
          <a:p>
            <a:r>
              <a:rPr lang="en-US" b="1" dirty="0"/>
              <a:t>Natural direct effect (low income)</a:t>
            </a:r>
            <a:r>
              <a:rPr lang="en-US" dirty="0"/>
              <a:t>: </a:t>
            </a:r>
            <a:br>
              <a:rPr lang="en-US" dirty="0"/>
            </a:br>
            <a:r>
              <a:rPr lang="en-SG" dirty="0"/>
              <a:t>Had participants switched to high income, compared to low income, they would on average have a lower prevalence of caries by 2.3pp (95% CI = 1.3pp - 3.2pp), had sugar consumption levels stayed at the level that would have been observed for low income</a:t>
            </a:r>
            <a:endParaRPr lang="en-US" dirty="0"/>
          </a:p>
        </p:txBody>
      </p:sp>
      <p:sp>
        <p:nvSpPr>
          <p:cNvPr id="119" name="TextBox 118">
            <a:extLst>
              <a:ext uri="{FF2B5EF4-FFF2-40B4-BE49-F238E27FC236}">
                <a16:creationId xmlns:a16="http://schemas.microsoft.com/office/drawing/2014/main" id="{C9A4A683-F755-9022-A49E-1AC97B6C6472}"/>
              </a:ext>
            </a:extLst>
          </p:cNvPr>
          <p:cNvSpPr txBox="1"/>
          <p:nvPr/>
        </p:nvSpPr>
        <p:spPr>
          <a:xfrm>
            <a:off x="0" y="0"/>
            <a:ext cx="7224889" cy="276999"/>
          </a:xfrm>
          <a:prstGeom prst="rect">
            <a:avLst/>
          </a:prstGeom>
          <a:noFill/>
        </p:spPr>
        <p:txBody>
          <a:bodyPr wrap="square" rtlCol="0">
            <a:spAutoFit/>
          </a:bodyPr>
          <a:lstStyle/>
          <a:p>
            <a:r>
              <a:rPr lang="en-SG" sz="1200" i="1" dirty="0">
                <a:solidFill>
                  <a:schemeClr val="bg1">
                    <a:lumMod val="65000"/>
                  </a:schemeClr>
                </a:solidFill>
                <a:latin typeface="Arial" panose="020B0604020202020204" pitchFamily="34" charset="0"/>
                <a:cs typeface="Arial" panose="020B0604020202020204" pitchFamily="34" charset="0"/>
              </a:rPr>
              <a:t>[Restricted] For workshop participants only, not for distribution.</a:t>
            </a:r>
          </a:p>
        </p:txBody>
      </p:sp>
    </p:spTree>
    <p:extLst>
      <p:ext uri="{BB962C8B-B14F-4D97-AF65-F5344CB8AC3E}">
        <p14:creationId xmlns:p14="http://schemas.microsoft.com/office/powerpoint/2010/main" val="3354614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2"/>
                                        </p:tgtEl>
                                        <p:attrNameLst>
                                          <p:attrName>style.visibility</p:attrName>
                                        </p:attrNameLst>
                                      </p:cBhvr>
                                      <p:to>
                                        <p:strVal val="visible"/>
                                      </p:to>
                                    </p:set>
                                  </p:childTnLst>
                                </p:cTn>
                              </p:par>
                              <p:par>
                                <p:cTn id="15" presetID="1" presetClass="exit" presetSubtype="0" fill="hold" grpId="0" nodeType="withEffect">
                                  <p:stCondLst>
                                    <p:cond delay="0"/>
                                  </p:stCondLst>
                                  <p:childTnLst>
                                    <p:set>
                                      <p:cBhvr>
                                        <p:cTn id="16" dur="1" fill="hold">
                                          <p:stCondLst>
                                            <p:cond delay="0"/>
                                          </p:stCondLst>
                                        </p:cTn>
                                        <p:tgtEl>
                                          <p:spTgt spid="116"/>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71" grpId="0" animBg="1"/>
      <p:bldP spid="116" grpId="0"/>
      <p:bldP spid="117" grpId="0" animBg="1"/>
      <p:bldP spid="118"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4578B25-EE13-9B18-2067-6C176D12D823}"/>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B18495B-932E-6E65-145D-197A3E41D4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ill Sans MT"/>
              <a:ea typeface="+mn-ea"/>
              <a:cs typeface="+mn-cs"/>
            </a:endParaRPr>
          </a:p>
        </p:txBody>
      </p:sp>
      <p:sp>
        <p:nvSpPr>
          <p:cNvPr id="10" name="Rectangle 9">
            <a:extLst>
              <a:ext uri="{FF2B5EF4-FFF2-40B4-BE49-F238E27FC236}">
                <a16:creationId xmlns:a16="http://schemas.microsoft.com/office/drawing/2014/main" id="{C7BD5472-203C-F627-FE4D-9FABFA031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ill Sans MT"/>
              <a:ea typeface="+mn-ea"/>
              <a:cs typeface="+mn-cs"/>
            </a:endParaRPr>
          </a:p>
        </p:txBody>
      </p:sp>
      <p:sp useBgFill="1">
        <p:nvSpPr>
          <p:cNvPr id="12" name="Rectangle 11">
            <a:extLst>
              <a:ext uri="{FF2B5EF4-FFF2-40B4-BE49-F238E27FC236}">
                <a16:creationId xmlns:a16="http://schemas.microsoft.com/office/drawing/2014/main" id="{294F07F6-4678-7F95-72EE-0B61D30E8A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 y="685800"/>
            <a:ext cx="10820400" cy="5486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ill Sans MT"/>
              <a:ea typeface="+mn-ea"/>
              <a:cs typeface="+mn-cs"/>
            </a:endParaRPr>
          </a:p>
        </p:txBody>
      </p:sp>
      <p:sp>
        <p:nvSpPr>
          <p:cNvPr id="2" name="Title 1">
            <a:extLst>
              <a:ext uri="{FF2B5EF4-FFF2-40B4-BE49-F238E27FC236}">
                <a16:creationId xmlns:a16="http://schemas.microsoft.com/office/drawing/2014/main" id="{438F1B08-907A-C1F7-2FEF-8A9966CFAABF}"/>
              </a:ext>
            </a:extLst>
          </p:cNvPr>
          <p:cNvSpPr>
            <a:spLocks noGrp="1"/>
          </p:cNvSpPr>
          <p:nvPr>
            <p:ph type="title"/>
          </p:nvPr>
        </p:nvSpPr>
        <p:spPr>
          <a:xfrm>
            <a:off x="1352549" y="-298718"/>
            <a:ext cx="9486901" cy="1010088"/>
          </a:xfrm>
        </p:spPr>
        <p:txBody>
          <a:bodyPr anchor="b">
            <a:normAutofit/>
          </a:bodyPr>
          <a:lstStyle/>
          <a:p>
            <a:pPr algn="ctr"/>
            <a:r>
              <a:rPr lang="en-SG" dirty="0">
                <a:solidFill>
                  <a:schemeClr val="bg1"/>
                </a:solidFill>
              </a:rPr>
              <a:t>Mediation (binary outcome)</a:t>
            </a:r>
          </a:p>
        </p:txBody>
      </p:sp>
      <p:pic>
        <p:nvPicPr>
          <p:cNvPr id="5" name="Picture 4">
            <a:extLst>
              <a:ext uri="{FF2B5EF4-FFF2-40B4-BE49-F238E27FC236}">
                <a16:creationId xmlns:a16="http://schemas.microsoft.com/office/drawing/2014/main" id="{9888A681-1900-C23B-242C-A6352B2E572E}"/>
              </a:ext>
            </a:extLst>
          </p:cNvPr>
          <p:cNvPicPr>
            <a:picLocks noChangeAspect="1"/>
          </p:cNvPicPr>
          <p:nvPr/>
        </p:nvPicPr>
        <p:blipFill>
          <a:blip r:embed="rId3"/>
          <a:stretch>
            <a:fillRect/>
          </a:stretch>
        </p:blipFill>
        <p:spPr>
          <a:xfrm>
            <a:off x="373151" y="685800"/>
            <a:ext cx="11445695" cy="5503554"/>
          </a:xfrm>
          <a:prstGeom prst="rect">
            <a:avLst/>
          </a:prstGeom>
        </p:spPr>
      </p:pic>
      <p:sp>
        <p:nvSpPr>
          <p:cNvPr id="9" name="TextBox 8">
            <a:extLst>
              <a:ext uri="{FF2B5EF4-FFF2-40B4-BE49-F238E27FC236}">
                <a16:creationId xmlns:a16="http://schemas.microsoft.com/office/drawing/2014/main" id="{1E283246-0A99-E641-2925-5B2E8A19F377}"/>
              </a:ext>
            </a:extLst>
          </p:cNvPr>
          <p:cNvSpPr txBox="1"/>
          <p:nvPr/>
        </p:nvSpPr>
        <p:spPr>
          <a:xfrm>
            <a:off x="2420205" y="5312191"/>
            <a:ext cx="4267597" cy="1477328"/>
          </a:xfrm>
          <a:prstGeom prst="rect">
            <a:avLst/>
          </a:prstGeom>
          <a:solidFill>
            <a:schemeClr val="accent6">
              <a:lumMod val="20000"/>
              <a:lumOff val="80000"/>
            </a:schemeClr>
          </a:solidFill>
        </p:spPr>
        <p:txBody>
          <a:bodyPr wrap="square" rtlCol="0">
            <a:spAutoFit/>
          </a:bodyPr>
          <a:lstStyle/>
          <a:p>
            <a:r>
              <a:rPr lang="en-US" dirty="0"/>
              <a:t>Overall, sugar consumption explained 53.2% of the effect of income on caries prevalence (midpoint/ average of proportion mediated (control) and proportion mediated (intervention))</a:t>
            </a:r>
          </a:p>
        </p:txBody>
      </p:sp>
      <p:cxnSp>
        <p:nvCxnSpPr>
          <p:cNvPr id="19" name="Straight Arrow Connector 18">
            <a:extLst>
              <a:ext uri="{FF2B5EF4-FFF2-40B4-BE49-F238E27FC236}">
                <a16:creationId xmlns:a16="http://schemas.microsoft.com/office/drawing/2014/main" id="{356DB234-5190-0212-1A78-FEFB3910C571}"/>
              </a:ext>
            </a:extLst>
          </p:cNvPr>
          <p:cNvCxnSpPr>
            <a:cxnSpLocks/>
            <a:stCxn id="9" idx="0"/>
          </p:cNvCxnSpPr>
          <p:nvPr/>
        </p:nvCxnSpPr>
        <p:spPr>
          <a:xfrm flipH="1" flipV="1">
            <a:off x="3942037" y="4434300"/>
            <a:ext cx="611967" cy="877891"/>
          </a:xfrm>
          <a:prstGeom prst="straightConnector1">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6" name="Straight Arrow Connector 35">
            <a:extLst>
              <a:ext uri="{FF2B5EF4-FFF2-40B4-BE49-F238E27FC236}">
                <a16:creationId xmlns:a16="http://schemas.microsoft.com/office/drawing/2014/main" id="{60FAF0CF-71A5-8C75-0AE5-0A9AC7CF96BD}"/>
              </a:ext>
            </a:extLst>
          </p:cNvPr>
          <p:cNvCxnSpPr>
            <a:cxnSpLocks/>
            <a:stCxn id="38" idx="1"/>
          </p:cNvCxnSpPr>
          <p:nvPr/>
        </p:nvCxnSpPr>
        <p:spPr>
          <a:xfrm flipH="1">
            <a:off x="4133854" y="1612124"/>
            <a:ext cx="4299937" cy="1515510"/>
          </a:xfrm>
          <a:prstGeom prst="straightConnector1">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8" name="TextBox 37">
            <a:extLst>
              <a:ext uri="{FF2B5EF4-FFF2-40B4-BE49-F238E27FC236}">
                <a16:creationId xmlns:a16="http://schemas.microsoft.com/office/drawing/2014/main" id="{381AC044-0FCC-14BE-9ABC-4C8619A90997}"/>
              </a:ext>
            </a:extLst>
          </p:cNvPr>
          <p:cNvSpPr txBox="1"/>
          <p:nvPr/>
        </p:nvSpPr>
        <p:spPr>
          <a:xfrm>
            <a:off x="8433791" y="734961"/>
            <a:ext cx="3561466" cy="1754326"/>
          </a:xfrm>
          <a:prstGeom prst="rect">
            <a:avLst/>
          </a:prstGeom>
          <a:solidFill>
            <a:schemeClr val="accent6">
              <a:lumMod val="20000"/>
              <a:lumOff val="80000"/>
            </a:schemeClr>
          </a:solidFill>
        </p:spPr>
        <p:txBody>
          <a:bodyPr wrap="square" rtlCol="0">
            <a:spAutoFit/>
          </a:bodyPr>
          <a:lstStyle/>
          <a:p>
            <a:r>
              <a:rPr lang="en-US" dirty="0"/>
              <a:t>Total effect  Y(1) – Y(0)</a:t>
            </a:r>
          </a:p>
          <a:p>
            <a:r>
              <a:rPr lang="en-US" dirty="0"/>
              <a:t>= ACME (control) + ADE (treated) = ACME (treated) + ADE (control)</a:t>
            </a:r>
          </a:p>
          <a:p>
            <a:r>
              <a:rPr lang="en-US" dirty="0"/>
              <a:t>Overall, a switch from low to high income resulted in a 10.7pp reduction in prevalence of caries</a:t>
            </a:r>
          </a:p>
        </p:txBody>
      </p:sp>
      <p:sp>
        <p:nvSpPr>
          <p:cNvPr id="23" name="TextBox 22">
            <a:extLst>
              <a:ext uri="{FF2B5EF4-FFF2-40B4-BE49-F238E27FC236}">
                <a16:creationId xmlns:a16="http://schemas.microsoft.com/office/drawing/2014/main" id="{0D3CE62D-4EAF-DC09-6375-E9686FAC3E7C}"/>
              </a:ext>
            </a:extLst>
          </p:cNvPr>
          <p:cNvSpPr txBox="1"/>
          <p:nvPr/>
        </p:nvSpPr>
        <p:spPr>
          <a:xfrm>
            <a:off x="7138757" y="4561646"/>
            <a:ext cx="3700693" cy="646331"/>
          </a:xfrm>
          <a:prstGeom prst="rect">
            <a:avLst/>
          </a:prstGeom>
          <a:solidFill>
            <a:schemeClr val="accent6">
              <a:lumMod val="20000"/>
              <a:lumOff val="80000"/>
            </a:schemeClr>
          </a:solidFill>
        </p:spPr>
        <p:txBody>
          <a:bodyPr wrap="square" rtlCol="0">
            <a:spAutoFit/>
          </a:bodyPr>
          <a:lstStyle/>
          <a:p>
            <a:r>
              <a:rPr lang="en-US" dirty="0"/>
              <a:t>Midpoint/ average of ACME (control) and ACME (treated)</a:t>
            </a:r>
          </a:p>
        </p:txBody>
      </p:sp>
      <p:cxnSp>
        <p:nvCxnSpPr>
          <p:cNvPr id="24" name="Straight Arrow Connector 23">
            <a:extLst>
              <a:ext uri="{FF2B5EF4-FFF2-40B4-BE49-F238E27FC236}">
                <a16:creationId xmlns:a16="http://schemas.microsoft.com/office/drawing/2014/main" id="{DEFBD9BE-8D75-4B2E-F8DF-F07E9BBF3B09}"/>
              </a:ext>
            </a:extLst>
          </p:cNvPr>
          <p:cNvCxnSpPr>
            <a:cxnSpLocks/>
            <a:stCxn id="23" idx="1"/>
          </p:cNvCxnSpPr>
          <p:nvPr/>
        </p:nvCxnSpPr>
        <p:spPr>
          <a:xfrm flipH="1" flipV="1">
            <a:off x="4133854" y="3903212"/>
            <a:ext cx="3004903" cy="981600"/>
          </a:xfrm>
          <a:prstGeom prst="straightConnector1">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9" name="TextBox 28">
            <a:extLst>
              <a:ext uri="{FF2B5EF4-FFF2-40B4-BE49-F238E27FC236}">
                <a16:creationId xmlns:a16="http://schemas.microsoft.com/office/drawing/2014/main" id="{76F7306A-7A47-A315-C743-6E03A1AF44F3}"/>
              </a:ext>
            </a:extLst>
          </p:cNvPr>
          <p:cNvSpPr txBox="1"/>
          <p:nvPr/>
        </p:nvSpPr>
        <p:spPr>
          <a:xfrm>
            <a:off x="7642730" y="5358391"/>
            <a:ext cx="3502011" cy="646331"/>
          </a:xfrm>
          <a:prstGeom prst="rect">
            <a:avLst/>
          </a:prstGeom>
          <a:solidFill>
            <a:schemeClr val="accent6">
              <a:lumMod val="20000"/>
              <a:lumOff val="80000"/>
            </a:schemeClr>
          </a:solidFill>
        </p:spPr>
        <p:txBody>
          <a:bodyPr wrap="square" rtlCol="0">
            <a:spAutoFit/>
          </a:bodyPr>
          <a:lstStyle/>
          <a:p>
            <a:r>
              <a:rPr lang="en-US" dirty="0"/>
              <a:t>Midpoint/ average of ADE (control) and ADE (treated)</a:t>
            </a:r>
          </a:p>
        </p:txBody>
      </p:sp>
      <p:cxnSp>
        <p:nvCxnSpPr>
          <p:cNvPr id="30" name="Straight Arrow Connector 29">
            <a:extLst>
              <a:ext uri="{FF2B5EF4-FFF2-40B4-BE49-F238E27FC236}">
                <a16:creationId xmlns:a16="http://schemas.microsoft.com/office/drawing/2014/main" id="{BC314660-D010-2593-9ACC-F42579E17C07}"/>
              </a:ext>
            </a:extLst>
          </p:cNvPr>
          <p:cNvCxnSpPr>
            <a:cxnSpLocks/>
            <a:stCxn id="29" idx="1"/>
          </p:cNvCxnSpPr>
          <p:nvPr/>
        </p:nvCxnSpPr>
        <p:spPr>
          <a:xfrm flipH="1" flipV="1">
            <a:off x="4133854" y="4158062"/>
            <a:ext cx="3508876" cy="1523495"/>
          </a:xfrm>
          <a:prstGeom prst="straightConnector1">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47" name="TextBox 46">
            <a:extLst>
              <a:ext uri="{FF2B5EF4-FFF2-40B4-BE49-F238E27FC236}">
                <a16:creationId xmlns:a16="http://schemas.microsoft.com/office/drawing/2014/main" id="{D2C24DD8-6B59-0348-E248-05C78C47A20D}"/>
              </a:ext>
            </a:extLst>
          </p:cNvPr>
          <p:cNvSpPr txBox="1"/>
          <p:nvPr/>
        </p:nvSpPr>
        <p:spPr>
          <a:xfrm>
            <a:off x="8234292" y="2551261"/>
            <a:ext cx="3897203" cy="923330"/>
          </a:xfrm>
          <a:prstGeom prst="rect">
            <a:avLst/>
          </a:prstGeom>
          <a:solidFill>
            <a:schemeClr val="accent6">
              <a:lumMod val="20000"/>
              <a:lumOff val="80000"/>
            </a:schemeClr>
          </a:solidFill>
        </p:spPr>
        <p:txBody>
          <a:bodyPr wrap="square" rtlCol="0">
            <a:spAutoFit/>
          </a:bodyPr>
          <a:lstStyle/>
          <a:p>
            <a:r>
              <a:rPr lang="en-SG" dirty="0"/>
              <a:t>Proportion of effect mediated through sugar consumption when income is fixed as low income is 27.4%</a:t>
            </a:r>
            <a:endParaRPr lang="en-US" dirty="0"/>
          </a:p>
        </p:txBody>
      </p:sp>
      <p:cxnSp>
        <p:nvCxnSpPr>
          <p:cNvPr id="48" name="Straight Arrow Connector 47">
            <a:extLst>
              <a:ext uri="{FF2B5EF4-FFF2-40B4-BE49-F238E27FC236}">
                <a16:creationId xmlns:a16="http://schemas.microsoft.com/office/drawing/2014/main" id="{1AE70BED-E850-7FA6-A7E1-549C4947FD6A}"/>
              </a:ext>
            </a:extLst>
          </p:cNvPr>
          <p:cNvCxnSpPr>
            <a:cxnSpLocks/>
            <a:stCxn id="47" idx="1"/>
          </p:cNvCxnSpPr>
          <p:nvPr/>
        </p:nvCxnSpPr>
        <p:spPr>
          <a:xfrm flipH="1">
            <a:off x="4133854" y="3012926"/>
            <a:ext cx="4100438" cy="416074"/>
          </a:xfrm>
          <a:prstGeom prst="straightConnector1">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51" name="TextBox 50">
            <a:extLst>
              <a:ext uri="{FF2B5EF4-FFF2-40B4-BE49-F238E27FC236}">
                <a16:creationId xmlns:a16="http://schemas.microsoft.com/office/drawing/2014/main" id="{E3FE14D5-0343-414D-B811-1741065EF92C}"/>
              </a:ext>
            </a:extLst>
          </p:cNvPr>
          <p:cNvSpPr txBox="1"/>
          <p:nvPr/>
        </p:nvSpPr>
        <p:spPr>
          <a:xfrm>
            <a:off x="8234292" y="3592080"/>
            <a:ext cx="3897203" cy="923330"/>
          </a:xfrm>
          <a:prstGeom prst="rect">
            <a:avLst/>
          </a:prstGeom>
          <a:solidFill>
            <a:schemeClr val="accent6">
              <a:lumMod val="20000"/>
              <a:lumOff val="80000"/>
            </a:schemeClr>
          </a:solidFill>
        </p:spPr>
        <p:txBody>
          <a:bodyPr wrap="square" rtlCol="0">
            <a:spAutoFit/>
          </a:bodyPr>
          <a:lstStyle/>
          <a:p>
            <a:r>
              <a:rPr lang="en-SG" dirty="0"/>
              <a:t>Proportion of effect mediated through sugar consumption when income is fixed as high income is 79.0%</a:t>
            </a:r>
            <a:endParaRPr lang="en-US" dirty="0"/>
          </a:p>
        </p:txBody>
      </p:sp>
      <p:cxnSp>
        <p:nvCxnSpPr>
          <p:cNvPr id="52" name="Straight Arrow Connector 51">
            <a:extLst>
              <a:ext uri="{FF2B5EF4-FFF2-40B4-BE49-F238E27FC236}">
                <a16:creationId xmlns:a16="http://schemas.microsoft.com/office/drawing/2014/main" id="{CFD5F088-9DBB-2353-18D6-4240A103C561}"/>
              </a:ext>
            </a:extLst>
          </p:cNvPr>
          <p:cNvCxnSpPr>
            <a:cxnSpLocks/>
            <a:stCxn id="51" idx="1"/>
          </p:cNvCxnSpPr>
          <p:nvPr/>
        </p:nvCxnSpPr>
        <p:spPr>
          <a:xfrm flipH="1" flipV="1">
            <a:off x="4133854" y="3618277"/>
            <a:ext cx="4100438" cy="435468"/>
          </a:xfrm>
          <a:prstGeom prst="straightConnector1">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62" name="TextBox 61">
            <a:extLst>
              <a:ext uri="{FF2B5EF4-FFF2-40B4-BE49-F238E27FC236}">
                <a16:creationId xmlns:a16="http://schemas.microsoft.com/office/drawing/2014/main" id="{9E5DE979-E80A-FEC9-70E7-E1425A89A149}"/>
              </a:ext>
            </a:extLst>
          </p:cNvPr>
          <p:cNvSpPr txBox="1"/>
          <p:nvPr/>
        </p:nvSpPr>
        <p:spPr>
          <a:xfrm>
            <a:off x="0" y="0"/>
            <a:ext cx="7224889" cy="276999"/>
          </a:xfrm>
          <a:prstGeom prst="rect">
            <a:avLst/>
          </a:prstGeom>
          <a:noFill/>
        </p:spPr>
        <p:txBody>
          <a:bodyPr wrap="square" rtlCol="0">
            <a:spAutoFit/>
          </a:bodyPr>
          <a:lstStyle/>
          <a:p>
            <a:r>
              <a:rPr lang="en-SG" sz="1200" i="1" dirty="0">
                <a:solidFill>
                  <a:schemeClr val="bg1">
                    <a:lumMod val="65000"/>
                  </a:schemeClr>
                </a:solidFill>
                <a:latin typeface="Arial" panose="020B0604020202020204" pitchFamily="34" charset="0"/>
                <a:cs typeface="Arial" panose="020B0604020202020204" pitchFamily="34" charset="0"/>
              </a:rPr>
              <a:t>[Restricted] For workshop participants only, not for distribution.</a:t>
            </a:r>
          </a:p>
        </p:txBody>
      </p:sp>
    </p:spTree>
    <p:extLst>
      <p:ext uri="{BB962C8B-B14F-4D97-AF65-F5344CB8AC3E}">
        <p14:creationId xmlns:p14="http://schemas.microsoft.com/office/powerpoint/2010/main" val="570864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9"/>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38" grpId="0" animBg="1"/>
      <p:bldP spid="23" grpId="0" animBg="1"/>
      <p:bldP spid="29" grpId="0" animBg="1"/>
      <p:bldP spid="47" grpId="0" animBg="1"/>
      <p:bldP spid="51" grpId="0" animBg="1"/>
    </p:bldLst>
  </p:timing>
</p:sld>
</file>

<file path=ppt/slides/slide25.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FF9146B-4CCD-4CDB-AB9C-458005307E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E1FEFA6-7D4F-4746-AE64-D4D52FE76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Rectangle 13">
            <a:extLst>
              <a:ext uri="{FF2B5EF4-FFF2-40B4-BE49-F238E27FC236}">
                <a16:creationId xmlns:a16="http://schemas.microsoft.com/office/drawing/2014/main" id="{BF8DA3CF-9D4B-403A-9AD4-BB177DAB6C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 y="685800"/>
            <a:ext cx="10820400" cy="5486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DC5A2AAA-7374-41BB-BCE3-46F94F9DEBEB}"/>
              </a:ext>
            </a:extLst>
          </p:cNvPr>
          <p:cNvPicPr>
            <a:picLocks noChangeAspect="1"/>
          </p:cNvPicPr>
          <p:nvPr/>
        </p:nvPicPr>
        <p:blipFill>
          <a:blip r:embed="rId3"/>
          <a:stretch>
            <a:fillRect/>
          </a:stretch>
        </p:blipFill>
        <p:spPr>
          <a:xfrm>
            <a:off x="1771570" y="276999"/>
            <a:ext cx="8629479" cy="6318191"/>
          </a:xfrm>
          <a:prstGeom prst="rect">
            <a:avLst/>
          </a:prstGeom>
        </p:spPr>
      </p:pic>
      <p:sp>
        <p:nvSpPr>
          <p:cNvPr id="4" name="TextBox 3">
            <a:extLst>
              <a:ext uri="{FF2B5EF4-FFF2-40B4-BE49-F238E27FC236}">
                <a16:creationId xmlns:a16="http://schemas.microsoft.com/office/drawing/2014/main" id="{FB91D644-6EBE-F9A8-FAEF-7AFB3A7C25C1}"/>
              </a:ext>
            </a:extLst>
          </p:cNvPr>
          <p:cNvSpPr txBox="1"/>
          <p:nvPr/>
        </p:nvSpPr>
        <p:spPr>
          <a:xfrm>
            <a:off x="0" y="0"/>
            <a:ext cx="7224889" cy="276999"/>
          </a:xfrm>
          <a:prstGeom prst="rect">
            <a:avLst/>
          </a:prstGeom>
          <a:noFill/>
        </p:spPr>
        <p:txBody>
          <a:bodyPr wrap="square" rtlCol="0">
            <a:spAutoFit/>
          </a:bodyPr>
          <a:lstStyle/>
          <a:p>
            <a:r>
              <a:rPr lang="en-SG" sz="1200" i="1" dirty="0">
                <a:solidFill>
                  <a:schemeClr val="bg1">
                    <a:lumMod val="65000"/>
                  </a:schemeClr>
                </a:solidFill>
                <a:latin typeface="Arial" panose="020B0604020202020204" pitchFamily="34" charset="0"/>
                <a:cs typeface="Arial" panose="020B0604020202020204" pitchFamily="34" charset="0"/>
              </a:rPr>
              <a:t>[Restricted] For workshop participants only, not for distribution.</a:t>
            </a:r>
          </a:p>
        </p:txBody>
      </p:sp>
    </p:spTree>
    <p:extLst>
      <p:ext uri="{BB962C8B-B14F-4D97-AF65-F5344CB8AC3E}">
        <p14:creationId xmlns:p14="http://schemas.microsoft.com/office/powerpoint/2010/main" val="30727130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CDD1757F-7AB9-D25F-CAA1-575A46373263}"/>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A370EBD-B992-8683-21CF-C8B722C14E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ill Sans MT"/>
              <a:ea typeface="+mn-ea"/>
              <a:cs typeface="+mn-cs"/>
            </a:endParaRPr>
          </a:p>
        </p:txBody>
      </p:sp>
      <p:sp>
        <p:nvSpPr>
          <p:cNvPr id="10" name="Rectangle 9">
            <a:extLst>
              <a:ext uri="{FF2B5EF4-FFF2-40B4-BE49-F238E27FC236}">
                <a16:creationId xmlns:a16="http://schemas.microsoft.com/office/drawing/2014/main" id="{4AB2F6D7-7F20-25AB-DD24-180BD0659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ill Sans MT"/>
              <a:ea typeface="+mn-ea"/>
              <a:cs typeface="+mn-cs"/>
            </a:endParaRPr>
          </a:p>
        </p:txBody>
      </p:sp>
      <p:sp useBgFill="1">
        <p:nvSpPr>
          <p:cNvPr id="12" name="Rectangle 11">
            <a:extLst>
              <a:ext uri="{FF2B5EF4-FFF2-40B4-BE49-F238E27FC236}">
                <a16:creationId xmlns:a16="http://schemas.microsoft.com/office/drawing/2014/main" id="{83F7EE48-9E3C-030D-9401-55BFE57797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 y="685800"/>
            <a:ext cx="10820400" cy="5486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ill Sans MT"/>
              <a:ea typeface="+mn-ea"/>
              <a:cs typeface="+mn-cs"/>
            </a:endParaRPr>
          </a:p>
        </p:txBody>
      </p:sp>
      <p:sp>
        <p:nvSpPr>
          <p:cNvPr id="5" name="Title 1">
            <a:extLst>
              <a:ext uri="{FF2B5EF4-FFF2-40B4-BE49-F238E27FC236}">
                <a16:creationId xmlns:a16="http://schemas.microsoft.com/office/drawing/2014/main" id="{ADFB573A-EB01-2263-933C-2EB2AA5AEB72}"/>
              </a:ext>
            </a:extLst>
          </p:cNvPr>
          <p:cNvSpPr txBox="1">
            <a:spLocks/>
          </p:cNvSpPr>
          <p:nvPr/>
        </p:nvSpPr>
        <p:spPr>
          <a:xfrm>
            <a:off x="1352549" y="1299263"/>
            <a:ext cx="9486901" cy="1010088"/>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3200" kern="1200" cap="all" spc="300" baseline="0">
                <a:solidFill>
                  <a:schemeClr val="tx2"/>
                </a:solidFill>
                <a:latin typeface="+mj-lt"/>
                <a:ea typeface="+mj-ea"/>
                <a:cs typeface="+mj-cs"/>
              </a:defRPr>
            </a:lvl1pPr>
          </a:lstStyle>
          <a:p>
            <a:pPr algn="ctr"/>
            <a:r>
              <a:rPr lang="en-SG" dirty="0">
                <a:solidFill>
                  <a:srgbClr val="3D2129"/>
                </a:solidFill>
              </a:rPr>
              <a:t>Multilevel </a:t>
            </a:r>
            <a:br>
              <a:rPr lang="en-SG" dirty="0">
                <a:solidFill>
                  <a:srgbClr val="3D2129"/>
                </a:solidFill>
              </a:rPr>
            </a:br>
            <a:r>
              <a:rPr lang="en-SG" dirty="0">
                <a:solidFill>
                  <a:srgbClr val="3D2129"/>
                </a:solidFill>
              </a:rPr>
              <a:t>(group-level exposure, individual-level mediator)</a:t>
            </a:r>
          </a:p>
        </p:txBody>
      </p:sp>
      <p:sp>
        <p:nvSpPr>
          <p:cNvPr id="6" name="Content Placeholder 2">
            <a:extLst>
              <a:ext uri="{FF2B5EF4-FFF2-40B4-BE49-F238E27FC236}">
                <a16:creationId xmlns:a16="http://schemas.microsoft.com/office/drawing/2014/main" id="{8CF18D14-F91D-964F-D6EA-AD885CB6C72C}"/>
              </a:ext>
            </a:extLst>
          </p:cNvPr>
          <p:cNvSpPr>
            <a:spLocks noGrp="1"/>
          </p:cNvSpPr>
          <p:nvPr>
            <p:ph idx="1"/>
          </p:nvPr>
        </p:nvSpPr>
        <p:spPr>
          <a:xfrm>
            <a:off x="1352548" y="2631558"/>
            <a:ext cx="9486901" cy="3540642"/>
          </a:xfrm>
        </p:spPr>
        <p:txBody>
          <a:bodyPr>
            <a:normAutofit/>
          </a:bodyPr>
          <a:lstStyle/>
          <a:p>
            <a:pPr>
              <a:lnSpc>
                <a:spcPct val="90000"/>
              </a:lnSpc>
            </a:pPr>
            <a:r>
              <a:rPr lang="en-US" sz="2200" dirty="0">
                <a:solidFill>
                  <a:schemeClr val="tx1"/>
                </a:solidFill>
                <a:latin typeface="Times-Roman"/>
              </a:rPr>
              <a:t>E.g. area-level income, instead of personal income</a:t>
            </a:r>
          </a:p>
        </p:txBody>
      </p:sp>
      <p:pic>
        <p:nvPicPr>
          <p:cNvPr id="9" name="Picture 8">
            <a:extLst>
              <a:ext uri="{FF2B5EF4-FFF2-40B4-BE49-F238E27FC236}">
                <a16:creationId xmlns:a16="http://schemas.microsoft.com/office/drawing/2014/main" id="{A863B1E8-ACAA-D6D9-A923-C66DFB5252C3}"/>
              </a:ext>
            </a:extLst>
          </p:cNvPr>
          <p:cNvPicPr>
            <a:picLocks noChangeAspect="1"/>
          </p:cNvPicPr>
          <p:nvPr/>
        </p:nvPicPr>
        <p:blipFill>
          <a:blip r:embed="rId3"/>
          <a:stretch>
            <a:fillRect/>
          </a:stretch>
        </p:blipFill>
        <p:spPr>
          <a:xfrm>
            <a:off x="-1" y="3372239"/>
            <a:ext cx="12192000" cy="2111096"/>
          </a:xfrm>
          <a:prstGeom prst="rect">
            <a:avLst/>
          </a:prstGeom>
        </p:spPr>
      </p:pic>
      <p:sp>
        <p:nvSpPr>
          <p:cNvPr id="11" name="TextBox 10">
            <a:extLst>
              <a:ext uri="{FF2B5EF4-FFF2-40B4-BE49-F238E27FC236}">
                <a16:creationId xmlns:a16="http://schemas.microsoft.com/office/drawing/2014/main" id="{ECA9EC48-B4D0-D30F-623F-CF9EFF2B505D}"/>
              </a:ext>
            </a:extLst>
          </p:cNvPr>
          <p:cNvSpPr txBox="1"/>
          <p:nvPr/>
        </p:nvSpPr>
        <p:spPr>
          <a:xfrm>
            <a:off x="0" y="0"/>
            <a:ext cx="7224889" cy="276999"/>
          </a:xfrm>
          <a:prstGeom prst="rect">
            <a:avLst/>
          </a:prstGeom>
          <a:noFill/>
        </p:spPr>
        <p:txBody>
          <a:bodyPr wrap="square" rtlCol="0">
            <a:spAutoFit/>
          </a:bodyPr>
          <a:lstStyle/>
          <a:p>
            <a:r>
              <a:rPr lang="en-SG" sz="1200" i="1" dirty="0">
                <a:solidFill>
                  <a:schemeClr val="bg1">
                    <a:lumMod val="65000"/>
                  </a:schemeClr>
                </a:solidFill>
                <a:latin typeface="Arial" panose="020B0604020202020204" pitchFamily="34" charset="0"/>
                <a:cs typeface="Arial" panose="020B0604020202020204" pitchFamily="34" charset="0"/>
              </a:rPr>
              <a:t>[Restricted] For workshop participants only, not for distribution.</a:t>
            </a:r>
          </a:p>
        </p:txBody>
      </p:sp>
    </p:spTree>
    <p:extLst>
      <p:ext uri="{BB962C8B-B14F-4D97-AF65-F5344CB8AC3E}">
        <p14:creationId xmlns:p14="http://schemas.microsoft.com/office/powerpoint/2010/main" val="10636505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FF9146B-4CCD-4CDB-AB9C-458005307E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E1FEFA6-7D4F-4746-AE64-D4D52FE76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Rectangle 13">
            <a:extLst>
              <a:ext uri="{FF2B5EF4-FFF2-40B4-BE49-F238E27FC236}">
                <a16:creationId xmlns:a16="http://schemas.microsoft.com/office/drawing/2014/main" id="{BF8DA3CF-9D4B-403A-9AD4-BB177DAB6C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 y="685800"/>
            <a:ext cx="10820400" cy="5486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1548F39A-AC4E-4C4A-ABCA-B445C069F8F5}"/>
              </a:ext>
            </a:extLst>
          </p:cNvPr>
          <p:cNvSpPr>
            <a:spLocks noGrp="1"/>
          </p:cNvSpPr>
          <p:nvPr>
            <p:ph type="title"/>
          </p:nvPr>
        </p:nvSpPr>
        <p:spPr>
          <a:xfrm>
            <a:off x="1371599" y="1010097"/>
            <a:ext cx="9486901" cy="1010088"/>
          </a:xfrm>
        </p:spPr>
        <p:txBody>
          <a:bodyPr anchor="b">
            <a:normAutofit/>
          </a:bodyPr>
          <a:lstStyle/>
          <a:p>
            <a:pPr algn="ctr"/>
            <a:r>
              <a:rPr lang="en-SG" dirty="0"/>
              <a:t>CASUAL INTERPRETATION ASSUMPTIONS</a:t>
            </a:r>
          </a:p>
        </p:txBody>
      </p:sp>
      <p:sp>
        <p:nvSpPr>
          <p:cNvPr id="5" name="Content Placeholder 4">
            <a:extLst>
              <a:ext uri="{FF2B5EF4-FFF2-40B4-BE49-F238E27FC236}">
                <a16:creationId xmlns:a16="http://schemas.microsoft.com/office/drawing/2014/main" id="{C6E9CAD8-686B-4515-8CFE-46963D4C13E5}"/>
              </a:ext>
            </a:extLst>
          </p:cNvPr>
          <p:cNvSpPr>
            <a:spLocks noGrp="1"/>
          </p:cNvSpPr>
          <p:nvPr>
            <p:ph idx="1"/>
          </p:nvPr>
        </p:nvSpPr>
        <p:spPr>
          <a:xfrm>
            <a:off x="1371600" y="2206257"/>
            <a:ext cx="10018296" cy="3540642"/>
          </a:xfrm>
        </p:spPr>
        <p:txBody>
          <a:bodyPr>
            <a:normAutofit fontScale="92500" lnSpcReduction="20000"/>
          </a:bodyPr>
          <a:lstStyle/>
          <a:p>
            <a:r>
              <a:rPr lang="en-SG" dirty="0">
                <a:latin typeface="Times New Roman" panose="02020603050405020304" pitchFamily="18" charset="0"/>
                <a:cs typeface="Times New Roman" panose="02020603050405020304" pitchFamily="18" charset="0"/>
              </a:rPr>
              <a:t>Exchangeability/ </a:t>
            </a:r>
            <a:r>
              <a:rPr lang="en-SG" dirty="0" err="1">
                <a:latin typeface="Times New Roman" panose="02020603050405020304" pitchFamily="18" charset="0"/>
                <a:cs typeface="Times New Roman" panose="02020603050405020304" pitchFamily="18" charset="0"/>
              </a:rPr>
              <a:t>Ignorability</a:t>
            </a:r>
            <a:r>
              <a:rPr lang="en-SG" dirty="0">
                <a:latin typeface="Times New Roman" panose="02020603050405020304" pitchFamily="18" charset="0"/>
                <a:cs typeface="Times New Roman" panose="02020603050405020304" pitchFamily="18" charset="0"/>
              </a:rPr>
              <a:t>/ Conditional independence</a:t>
            </a:r>
          </a:p>
          <a:p>
            <a:r>
              <a:rPr lang="en-SG" dirty="0">
                <a:latin typeface="Times New Roman" panose="02020603050405020304" pitchFamily="18" charset="0"/>
                <a:cs typeface="Times New Roman" panose="02020603050405020304" pitchFamily="18" charset="0"/>
              </a:rPr>
              <a:t>Identifiability of controlled direct effect</a:t>
            </a:r>
          </a:p>
          <a:p>
            <a:pPr marL="457200" lvl="1" indent="0">
              <a:buNone/>
            </a:pPr>
            <a:r>
              <a:rPr lang="en-SG" sz="2400" dirty="0">
                <a:latin typeface="Times New Roman" panose="02020603050405020304" pitchFamily="18" charset="0"/>
                <a:cs typeface="Times New Roman" panose="02020603050405020304" pitchFamily="18" charset="0"/>
              </a:rPr>
              <a:t>(1) No unmeasured confounding of treatment-outcome relationship</a:t>
            </a:r>
          </a:p>
          <a:p>
            <a:pPr marL="457200" lvl="1" indent="0">
              <a:buNone/>
            </a:pPr>
            <a:r>
              <a:rPr lang="en-SG" sz="2400" dirty="0">
                <a:latin typeface="Times New Roman" panose="02020603050405020304" pitchFamily="18" charset="0"/>
                <a:cs typeface="Times New Roman" panose="02020603050405020304" pitchFamily="18" charset="0"/>
              </a:rPr>
              <a:t>(2) No unmeasured confounding of mediator-outcome relationship</a:t>
            </a:r>
          </a:p>
          <a:p>
            <a:r>
              <a:rPr lang="en-SG" dirty="0">
                <a:latin typeface="Times New Roman" panose="02020603050405020304" pitchFamily="18" charset="0"/>
                <a:cs typeface="Times New Roman" panose="02020603050405020304" pitchFamily="18" charset="0"/>
              </a:rPr>
              <a:t>Identifiability of natural direct &amp; indirect effects</a:t>
            </a:r>
          </a:p>
          <a:p>
            <a:pPr marL="457200" lvl="1" indent="0">
              <a:buNone/>
            </a:pPr>
            <a:r>
              <a:rPr lang="en-SG" sz="2400" dirty="0">
                <a:latin typeface="Times New Roman" panose="02020603050405020304" pitchFamily="18" charset="0"/>
                <a:cs typeface="Times New Roman" panose="02020603050405020304" pitchFamily="18" charset="0"/>
              </a:rPr>
              <a:t>(1) + (2) +</a:t>
            </a:r>
          </a:p>
          <a:p>
            <a:pPr marL="457200" lvl="1" indent="0">
              <a:buNone/>
            </a:pPr>
            <a:r>
              <a:rPr lang="en-SG" sz="2400" dirty="0">
                <a:latin typeface="Times New Roman" panose="02020603050405020304" pitchFamily="18" charset="0"/>
                <a:cs typeface="Times New Roman" panose="02020603050405020304" pitchFamily="18" charset="0"/>
              </a:rPr>
              <a:t>(3) No unmeasured confounding of treatment-mediator relationship</a:t>
            </a:r>
          </a:p>
          <a:p>
            <a:pPr marL="457200" lvl="1" indent="0">
              <a:buNone/>
            </a:pPr>
            <a:r>
              <a:rPr lang="en-SG" sz="2400" dirty="0">
                <a:latin typeface="Times New Roman" panose="02020603050405020304" pitchFamily="18" charset="0"/>
                <a:cs typeface="Times New Roman" panose="02020603050405020304" pitchFamily="18" charset="0"/>
              </a:rPr>
              <a:t>(4) No mediator-outcome confounder that is affected by treatment</a:t>
            </a:r>
          </a:p>
          <a:p>
            <a:pPr marL="457200" lvl="1" indent="0">
              <a:buNone/>
            </a:pPr>
            <a:endParaRPr lang="en-SG" sz="2400" dirty="0">
              <a:latin typeface="Times New Roman" panose="02020603050405020304" pitchFamily="18" charset="0"/>
              <a:cs typeface="Times New Roman" panose="02020603050405020304" pitchFamily="18" charset="0"/>
            </a:endParaRPr>
          </a:p>
          <a:p>
            <a:pPr marL="457200" lvl="1" indent="0">
              <a:buNone/>
            </a:pPr>
            <a:r>
              <a:rPr lang="en-SG" sz="2400" i="1" dirty="0">
                <a:latin typeface="Times New Roman" panose="02020603050405020304" pitchFamily="18" charset="0"/>
                <a:cs typeface="Times New Roman" panose="02020603050405020304" pitchFamily="18" charset="0"/>
              </a:rPr>
              <a:t>conditional on pretreatment covariates C</a:t>
            </a:r>
          </a:p>
          <a:p>
            <a:pPr marL="457200" lvl="1" indent="0">
              <a:buNone/>
            </a:pPr>
            <a:endParaRPr lang="en-SG" dirty="0"/>
          </a:p>
        </p:txBody>
      </p:sp>
      <p:sp>
        <p:nvSpPr>
          <p:cNvPr id="6" name="TextBox 5">
            <a:extLst>
              <a:ext uri="{FF2B5EF4-FFF2-40B4-BE49-F238E27FC236}">
                <a16:creationId xmlns:a16="http://schemas.microsoft.com/office/drawing/2014/main" id="{6C425F53-1AB0-57A9-8CC8-01CCE7BB4A13}"/>
              </a:ext>
            </a:extLst>
          </p:cNvPr>
          <p:cNvSpPr txBox="1"/>
          <p:nvPr/>
        </p:nvSpPr>
        <p:spPr>
          <a:xfrm>
            <a:off x="0" y="6246639"/>
            <a:ext cx="12192000" cy="584775"/>
          </a:xfrm>
          <a:prstGeom prst="rect">
            <a:avLst/>
          </a:prstGeom>
          <a:noFill/>
        </p:spPr>
        <p:txBody>
          <a:bodyPr wrap="square">
            <a:spAutoFit/>
          </a:bodyPr>
          <a:lstStyle/>
          <a:p>
            <a:pPr algn="r">
              <a:defRPr/>
            </a:pPr>
            <a:r>
              <a:rPr lang="en-SG" sz="1600" dirty="0">
                <a:solidFill>
                  <a:schemeClr val="bg1"/>
                </a:solidFill>
                <a:latin typeface="Times New Roman" panose="02020603050405020304" pitchFamily="18" charset="0"/>
                <a:cs typeface="Times New Roman" panose="02020603050405020304" pitchFamily="18" charset="0"/>
              </a:rPr>
              <a:t>Nguyen, T. Q., Schmid, I., Ogburn, E. L., &amp; Stuart, E. A. (2022). Clarifying causal mediation analysis: Effect identification via three assumptions and five potential outcomes. </a:t>
            </a:r>
            <a:r>
              <a:rPr lang="en-SG" sz="1600" i="1" dirty="0">
                <a:solidFill>
                  <a:schemeClr val="bg1"/>
                </a:solidFill>
                <a:latin typeface="Times New Roman" panose="02020603050405020304" pitchFamily="18" charset="0"/>
                <a:cs typeface="Times New Roman" panose="02020603050405020304" pitchFamily="18" charset="0"/>
              </a:rPr>
              <a:t>Journal of causal inference</a:t>
            </a:r>
            <a:r>
              <a:rPr lang="en-SG" sz="1600" dirty="0">
                <a:solidFill>
                  <a:schemeClr val="bg1"/>
                </a:solidFill>
                <a:latin typeface="Times New Roman" panose="02020603050405020304" pitchFamily="18" charset="0"/>
                <a:cs typeface="Times New Roman" panose="02020603050405020304" pitchFamily="18" charset="0"/>
              </a:rPr>
              <a:t>, </a:t>
            </a:r>
            <a:r>
              <a:rPr lang="en-SG" sz="1600" i="1" dirty="0">
                <a:solidFill>
                  <a:schemeClr val="bg1"/>
                </a:solidFill>
                <a:latin typeface="Times New Roman" panose="02020603050405020304" pitchFamily="18" charset="0"/>
                <a:cs typeface="Times New Roman" panose="02020603050405020304" pitchFamily="18" charset="0"/>
              </a:rPr>
              <a:t>10</a:t>
            </a:r>
            <a:r>
              <a:rPr lang="en-SG" sz="1600" dirty="0">
                <a:solidFill>
                  <a:schemeClr val="bg1"/>
                </a:solidFill>
                <a:latin typeface="Times New Roman" panose="02020603050405020304" pitchFamily="18" charset="0"/>
                <a:cs typeface="Times New Roman" panose="02020603050405020304" pitchFamily="18" charset="0"/>
              </a:rPr>
              <a:t>(1), 246–279. https://</a:t>
            </a:r>
            <a:r>
              <a:rPr lang="en-SG" sz="1600" dirty="0" err="1">
                <a:solidFill>
                  <a:schemeClr val="bg1"/>
                </a:solidFill>
                <a:latin typeface="Times New Roman" panose="02020603050405020304" pitchFamily="18" charset="0"/>
                <a:cs typeface="Times New Roman" panose="02020603050405020304" pitchFamily="18" charset="0"/>
              </a:rPr>
              <a:t>doi.org</a:t>
            </a:r>
            <a:r>
              <a:rPr lang="en-SG" sz="1600" dirty="0">
                <a:solidFill>
                  <a:schemeClr val="bg1"/>
                </a:solidFill>
                <a:latin typeface="Times New Roman" panose="02020603050405020304" pitchFamily="18" charset="0"/>
                <a:cs typeface="Times New Roman" panose="02020603050405020304" pitchFamily="18" charset="0"/>
              </a:rPr>
              <a:t>/10.1515/jci-2021-0049</a:t>
            </a:r>
            <a:endParaRPr lang="en-US" sz="1600" dirty="0">
              <a:solidFill>
                <a:schemeClr val="bg1"/>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2907CFA1-F4AE-0FEE-6BD9-CE0A799113FE}"/>
              </a:ext>
            </a:extLst>
          </p:cNvPr>
          <p:cNvSpPr txBox="1"/>
          <p:nvPr/>
        </p:nvSpPr>
        <p:spPr>
          <a:xfrm>
            <a:off x="0" y="0"/>
            <a:ext cx="7224889" cy="276999"/>
          </a:xfrm>
          <a:prstGeom prst="rect">
            <a:avLst/>
          </a:prstGeom>
          <a:noFill/>
        </p:spPr>
        <p:txBody>
          <a:bodyPr wrap="square" rtlCol="0">
            <a:spAutoFit/>
          </a:bodyPr>
          <a:lstStyle/>
          <a:p>
            <a:r>
              <a:rPr lang="en-SG" sz="1200" i="1" dirty="0">
                <a:solidFill>
                  <a:schemeClr val="bg1">
                    <a:lumMod val="65000"/>
                  </a:schemeClr>
                </a:solidFill>
                <a:latin typeface="Arial" panose="020B0604020202020204" pitchFamily="34" charset="0"/>
                <a:cs typeface="Arial" panose="020B0604020202020204" pitchFamily="34" charset="0"/>
              </a:rPr>
              <a:t>[Restricted] For workshop participants only, not for distribution.</a:t>
            </a:r>
          </a:p>
        </p:txBody>
      </p:sp>
    </p:spTree>
    <p:extLst>
      <p:ext uri="{BB962C8B-B14F-4D97-AF65-F5344CB8AC3E}">
        <p14:creationId xmlns:p14="http://schemas.microsoft.com/office/powerpoint/2010/main" val="150053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C602CDC-F937-A59F-43B1-602DADE6DADC}"/>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68CB25E-E867-B6C5-5091-9997046B9D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74C0C81-5A84-D1E7-5C8D-11AF29CE32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Rectangle 13">
            <a:extLst>
              <a:ext uri="{FF2B5EF4-FFF2-40B4-BE49-F238E27FC236}">
                <a16:creationId xmlns:a16="http://schemas.microsoft.com/office/drawing/2014/main" id="{F6C0F3CE-13ED-C9DE-7437-233E3C88AE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 y="685800"/>
            <a:ext cx="10820400" cy="5486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C74557FA-9E86-8821-FD0F-DDD345BE4CFB}"/>
              </a:ext>
            </a:extLst>
          </p:cNvPr>
          <p:cNvSpPr>
            <a:spLocks noGrp="1"/>
          </p:cNvSpPr>
          <p:nvPr>
            <p:ph type="title"/>
          </p:nvPr>
        </p:nvSpPr>
        <p:spPr>
          <a:xfrm>
            <a:off x="1371599" y="1010097"/>
            <a:ext cx="9486901" cy="1010088"/>
          </a:xfrm>
        </p:spPr>
        <p:txBody>
          <a:bodyPr anchor="b">
            <a:normAutofit/>
          </a:bodyPr>
          <a:lstStyle/>
          <a:p>
            <a:pPr algn="ctr"/>
            <a:r>
              <a:rPr lang="en-SG" dirty="0"/>
              <a:t>Sensitivity testing for </a:t>
            </a:r>
            <a:br>
              <a:rPr lang="en-SG" dirty="0"/>
            </a:br>
            <a:r>
              <a:rPr lang="en-SG" dirty="0"/>
              <a:t>sequential </a:t>
            </a:r>
            <a:r>
              <a:rPr lang="en-SG" dirty="0" err="1"/>
              <a:t>ignorability</a:t>
            </a:r>
            <a:endParaRPr lang="en-SG" dirty="0"/>
          </a:p>
        </p:txBody>
      </p:sp>
      <p:sp>
        <p:nvSpPr>
          <p:cNvPr id="7" name="Content Placeholder 6">
            <a:extLst>
              <a:ext uri="{FF2B5EF4-FFF2-40B4-BE49-F238E27FC236}">
                <a16:creationId xmlns:a16="http://schemas.microsoft.com/office/drawing/2014/main" id="{B730ECBD-46C4-10AB-9116-8EE33AAC7B71}"/>
              </a:ext>
            </a:extLst>
          </p:cNvPr>
          <p:cNvSpPr>
            <a:spLocks noGrp="1"/>
          </p:cNvSpPr>
          <p:nvPr>
            <p:ph idx="1"/>
          </p:nvPr>
        </p:nvSpPr>
        <p:spPr/>
        <p:txBody>
          <a:bodyPr/>
          <a:lstStyle/>
          <a:p>
            <a:endParaRPr lang="en-US"/>
          </a:p>
        </p:txBody>
      </p:sp>
      <p:pic>
        <p:nvPicPr>
          <p:cNvPr id="8" name="Picture 7">
            <a:extLst>
              <a:ext uri="{FF2B5EF4-FFF2-40B4-BE49-F238E27FC236}">
                <a16:creationId xmlns:a16="http://schemas.microsoft.com/office/drawing/2014/main" id="{3F797B19-BF20-3E57-AF4D-6DF4DADD3825}"/>
              </a:ext>
            </a:extLst>
          </p:cNvPr>
          <p:cNvPicPr>
            <a:picLocks noChangeAspect="1"/>
          </p:cNvPicPr>
          <p:nvPr/>
        </p:nvPicPr>
        <p:blipFill>
          <a:blip r:embed="rId3"/>
          <a:stretch>
            <a:fillRect/>
          </a:stretch>
        </p:blipFill>
        <p:spPr>
          <a:xfrm>
            <a:off x="-1" y="2254103"/>
            <a:ext cx="12164489" cy="3772624"/>
          </a:xfrm>
          <a:prstGeom prst="rect">
            <a:avLst/>
          </a:prstGeom>
        </p:spPr>
      </p:pic>
      <p:cxnSp>
        <p:nvCxnSpPr>
          <p:cNvPr id="9" name="Straight Arrow Connector 8">
            <a:extLst>
              <a:ext uri="{FF2B5EF4-FFF2-40B4-BE49-F238E27FC236}">
                <a16:creationId xmlns:a16="http://schemas.microsoft.com/office/drawing/2014/main" id="{C130E1BD-30F9-70DD-D84E-3E061340DA16}"/>
              </a:ext>
            </a:extLst>
          </p:cNvPr>
          <p:cNvCxnSpPr>
            <a:cxnSpLocks/>
            <a:stCxn id="11" idx="0"/>
          </p:cNvCxnSpPr>
          <p:nvPr/>
        </p:nvCxnSpPr>
        <p:spPr>
          <a:xfrm flipV="1">
            <a:off x="4029941" y="2493818"/>
            <a:ext cx="209550" cy="212167"/>
          </a:xfrm>
          <a:prstGeom prst="straightConnector1">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1" name="TextBox 10">
            <a:extLst>
              <a:ext uri="{FF2B5EF4-FFF2-40B4-BE49-F238E27FC236}">
                <a16:creationId xmlns:a16="http://schemas.microsoft.com/office/drawing/2014/main" id="{FC34DBF8-2C83-8F91-FFF6-CF8623953865}"/>
              </a:ext>
            </a:extLst>
          </p:cNvPr>
          <p:cNvSpPr txBox="1"/>
          <p:nvPr/>
        </p:nvSpPr>
        <p:spPr>
          <a:xfrm>
            <a:off x="2556164" y="2705985"/>
            <a:ext cx="2947554" cy="644034"/>
          </a:xfrm>
          <a:prstGeom prst="rect">
            <a:avLst/>
          </a:prstGeom>
          <a:solidFill>
            <a:schemeClr val="accent6">
              <a:lumMod val="20000"/>
              <a:lumOff val="80000"/>
            </a:schemeClr>
          </a:solidFill>
        </p:spPr>
        <p:txBody>
          <a:bodyPr wrap="square" rtlCol="0">
            <a:spAutoFit/>
          </a:bodyPr>
          <a:lstStyle/>
          <a:p>
            <a:r>
              <a:rPr lang="en-SG" dirty="0"/>
              <a:t>Rho will vary from −0.9 to 0.9 by 0.1 increments</a:t>
            </a:r>
          </a:p>
        </p:txBody>
      </p:sp>
      <p:cxnSp>
        <p:nvCxnSpPr>
          <p:cNvPr id="19" name="Straight Arrow Connector 18">
            <a:extLst>
              <a:ext uri="{FF2B5EF4-FFF2-40B4-BE49-F238E27FC236}">
                <a16:creationId xmlns:a16="http://schemas.microsoft.com/office/drawing/2014/main" id="{081D1CFE-1CD7-3308-3164-A950551187B5}"/>
              </a:ext>
            </a:extLst>
          </p:cNvPr>
          <p:cNvCxnSpPr>
            <a:cxnSpLocks/>
            <a:stCxn id="20" idx="0"/>
          </p:cNvCxnSpPr>
          <p:nvPr/>
        </p:nvCxnSpPr>
        <p:spPr>
          <a:xfrm flipH="1" flipV="1">
            <a:off x="6897833" y="2493818"/>
            <a:ext cx="1012247" cy="212167"/>
          </a:xfrm>
          <a:prstGeom prst="straightConnector1">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0" name="TextBox 19">
            <a:extLst>
              <a:ext uri="{FF2B5EF4-FFF2-40B4-BE49-F238E27FC236}">
                <a16:creationId xmlns:a16="http://schemas.microsoft.com/office/drawing/2014/main" id="{E20DBB36-513B-5C43-5216-ADB3346BBDF5}"/>
              </a:ext>
            </a:extLst>
          </p:cNvPr>
          <p:cNvSpPr txBox="1"/>
          <p:nvPr/>
        </p:nvSpPr>
        <p:spPr>
          <a:xfrm>
            <a:off x="5865668" y="2705985"/>
            <a:ext cx="4088824" cy="646331"/>
          </a:xfrm>
          <a:prstGeom prst="rect">
            <a:avLst/>
          </a:prstGeom>
          <a:solidFill>
            <a:schemeClr val="accent6">
              <a:lumMod val="20000"/>
              <a:lumOff val="80000"/>
            </a:schemeClr>
          </a:solidFill>
        </p:spPr>
        <p:txBody>
          <a:bodyPr wrap="square" rtlCol="0">
            <a:spAutoFit/>
          </a:bodyPr>
          <a:lstStyle/>
          <a:p>
            <a:r>
              <a:rPr lang="en-SG" dirty="0"/>
              <a:t>Sensitivity test for indirect effect (ACME)</a:t>
            </a:r>
          </a:p>
          <a:p>
            <a:r>
              <a:rPr lang="en-SG" dirty="0"/>
              <a:t>Alternatives: ”direct” (ADE), both</a:t>
            </a:r>
          </a:p>
        </p:txBody>
      </p:sp>
      <p:sp>
        <p:nvSpPr>
          <p:cNvPr id="24" name="TextBox 23">
            <a:extLst>
              <a:ext uri="{FF2B5EF4-FFF2-40B4-BE49-F238E27FC236}">
                <a16:creationId xmlns:a16="http://schemas.microsoft.com/office/drawing/2014/main" id="{B25A4D3A-8D59-E971-CC80-A10676B325CA}"/>
              </a:ext>
            </a:extLst>
          </p:cNvPr>
          <p:cNvSpPr txBox="1"/>
          <p:nvPr/>
        </p:nvSpPr>
        <p:spPr>
          <a:xfrm>
            <a:off x="3107172" y="3770672"/>
            <a:ext cx="4793092" cy="369332"/>
          </a:xfrm>
          <a:prstGeom prst="rect">
            <a:avLst/>
          </a:prstGeom>
          <a:solidFill>
            <a:schemeClr val="accent6">
              <a:lumMod val="20000"/>
              <a:lumOff val="80000"/>
            </a:schemeClr>
          </a:solidFill>
        </p:spPr>
        <p:txBody>
          <a:bodyPr wrap="square" rtlCol="0">
            <a:spAutoFit/>
          </a:bodyPr>
          <a:lstStyle/>
          <a:p>
            <a:r>
              <a:rPr lang="en-SG" dirty="0"/>
              <a:t>Confidence of ACME includes 0 when rho = 0.4</a:t>
            </a:r>
          </a:p>
        </p:txBody>
      </p:sp>
      <p:cxnSp>
        <p:nvCxnSpPr>
          <p:cNvPr id="26" name="Straight Arrow Connector 25">
            <a:extLst>
              <a:ext uri="{FF2B5EF4-FFF2-40B4-BE49-F238E27FC236}">
                <a16:creationId xmlns:a16="http://schemas.microsoft.com/office/drawing/2014/main" id="{F55B663F-4C82-4B68-EDE9-614C4B479B20}"/>
              </a:ext>
            </a:extLst>
          </p:cNvPr>
          <p:cNvCxnSpPr>
            <a:cxnSpLocks/>
            <a:stCxn id="24" idx="1"/>
          </p:cNvCxnSpPr>
          <p:nvPr/>
        </p:nvCxnSpPr>
        <p:spPr>
          <a:xfrm flipH="1">
            <a:off x="1333500" y="3955338"/>
            <a:ext cx="1773672" cy="603022"/>
          </a:xfrm>
          <a:prstGeom prst="straightConnector1">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3" name="TextBox 32">
            <a:extLst>
              <a:ext uri="{FF2B5EF4-FFF2-40B4-BE49-F238E27FC236}">
                <a16:creationId xmlns:a16="http://schemas.microsoft.com/office/drawing/2014/main" id="{59C536C3-B68A-BA62-8B52-81356A52998F}"/>
              </a:ext>
            </a:extLst>
          </p:cNvPr>
          <p:cNvSpPr txBox="1"/>
          <p:nvPr/>
        </p:nvSpPr>
        <p:spPr>
          <a:xfrm>
            <a:off x="4536504" y="5037772"/>
            <a:ext cx="3237627" cy="1477328"/>
          </a:xfrm>
          <a:prstGeom prst="rect">
            <a:avLst/>
          </a:prstGeom>
          <a:solidFill>
            <a:schemeClr val="accent6">
              <a:lumMod val="20000"/>
              <a:lumOff val="80000"/>
            </a:schemeClr>
          </a:solidFill>
        </p:spPr>
        <p:txBody>
          <a:bodyPr wrap="square" rtlCol="0">
            <a:spAutoFit/>
          </a:bodyPr>
          <a:lstStyle/>
          <a:p>
            <a:r>
              <a:rPr lang="en-SG" dirty="0"/>
              <a:t>The product of proportions of </a:t>
            </a:r>
            <a:r>
              <a:rPr lang="en-SG" u="sng" dirty="0"/>
              <a:t>residual</a:t>
            </a:r>
            <a:r>
              <a:rPr lang="en-SG" dirty="0"/>
              <a:t> variance in the mediator model and outcome models (residual confounding) required to get  ACME = 0 is 0.016</a:t>
            </a:r>
          </a:p>
        </p:txBody>
      </p:sp>
      <p:sp>
        <p:nvSpPr>
          <p:cNvPr id="34" name="TextBox 33">
            <a:extLst>
              <a:ext uri="{FF2B5EF4-FFF2-40B4-BE49-F238E27FC236}">
                <a16:creationId xmlns:a16="http://schemas.microsoft.com/office/drawing/2014/main" id="{0CC94D1E-A57C-380C-4B25-3B413A15B424}"/>
              </a:ext>
            </a:extLst>
          </p:cNvPr>
          <p:cNvSpPr txBox="1"/>
          <p:nvPr/>
        </p:nvSpPr>
        <p:spPr>
          <a:xfrm>
            <a:off x="8459931" y="5037772"/>
            <a:ext cx="3533781" cy="1200329"/>
          </a:xfrm>
          <a:prstGeom prst="rect">
            <a:avLst/>
          </a:prstGeom>
          <a:solidFill>
            <a:schemeClr val="accent6">
              <a:lumMod val="20000"/>
              <a:lumOff val="80000"/>
            </a:schemeClr>
          </a:solidFill>
        </p:spPr>
        <p:txBody>
          <a:bodyPr wrap="square" rtlCol="0">
            <a:spAutoFit/>
          </a:bodyPr>
          <a:lstStyle/>
          <a:p>
            <a:r>
              <a:rPr lang="en-SG" dirty="0"/>
              <a:t>The product of proportions of </a:t>
            </a:r>
            <a:r>
              <a:rPr lang="en-SG" u="sng" dirty="0"/>
              <a:t>total</a:t>
            </a:r>
            <a:r>
              <a:rPr lang="en-SG" dirty="0"/>
              <a:t> variance in the mediator model and outcome models required to get  ACME = 0 is 0.0077</a:t>
            </a:r>
          </a:p>
        </p:txBody>
      </p:sp>
      <p:sp>
        <p:nvSpPr>
          <p:cNvPr id="37" name="TextBox 36">
            <a:extLst>
              <a:ext uri="{FF2B5EF4-FFF2-40B4-BE49-F238E27FC236}">
                <a16:creationId xmlns:a16="http://schemas.microsoft.com/office/drawing/2014/main" id="{925DB03E-67C7-4705-6D32-4A0B2E80AE34}"/>
              </a:ext>
            </a:extLst>
          </p:cNvPr>
          <p:cNvSpPr txBox="1"/>
          <p:nvPr/>
        </p:nvSpPr>
        <p:spPr>
          <a:xfrm>
            <a:off x="8060771" y="4221902"/>
            <a:ext cx="3927749" cy="646331"/>
          </a:xfrm>
          <a:prstGeom prst="rect">
            <a:avLst/>
          </a:prstGeom>
          <a:solidFill>
            <a:schemeClr val="accent3">
              <a:lumMod val="20000"/>
              <a:lumOff val="80000"/>
            </a:schemeClr>
          </a:solidFill>
        </p:spPr>
        <p:txBody>
          <a:bodyPr wrap="square" rtlCol="0">
            <a:spAutoFit/>
          </a:bodyPr>
          <a:lstStyle/>
          <a:p>
            <a:r>
              <a:rPr lang="en-SG" dirty="0"/>
              <a:t>The higher the R^_2M*R^2_Y value, the more robust the mediation results</a:t>
            </a:r>
          </a:p>
        </p:txBody>
      </p:sp>
      <p:cxnSp>
        <p:nvCxnSpPr>
          <p:cNvPr id="38" name="Straight Arrow Connector 37">
            <a:extLst>
              <a:ext uri="{FF2B5EF4-FFF2-40B4-BE49-F238E27FC236}">
                <a16:creationId xmlns:a16="http://schemas.microsoft.com/office/drawing/2014/main" id="{B3550749-CCF6-EB3C-06D3-14CB5E458806}"/>
              </a:ext>
            </a:extLst>
          </p:cNvPr>
          <p:cNvCxnSpPr>
            <a:cxnSpLocks/>
            <a:stCxn id="33" idx="0"/>
          </p:cNvCxnSpPr>
          <p:nvPr/>
        </p:nvCxnSpPr>
        <p:spPr>
          <a:xfrm flipH="1" flipV="1">
            <a:off x="6115049" y="4825804"/>
            <a:ext cx="40269" cy="211968"/>
          </a:xfrm>
          <a:prstGeom prst="straightConnector1">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2" name="Straight Arrow Connector 41">
            <a:extLst>
              <a:ext uri="{FF2B5EF4-FFF2-40B4-BE49-F238E27FC236}">
                <a16:creationId xmlns:a16="http://schemas.microsoft.com/office/drawing/2014/main" id="{B5647D53-E807-8E9E-5A74-11F9EBE0992C}"/>
              </a:ext>
            </a:extLst>
          </p:cNvPr>
          <p:cNvCxnSpPr>
            <a:cxnSpLocks/>
          </p:cNvCxnSpPr>
          <p:nvPr/>
        </p:nvCxnSpPr>
        <p:spPr>
          <a:xfrm flipH="1" flipV="1">
            <a:off x="7526917" y="4825804"/>
            <a:ext cx="905502" cy="812132"/>
          </a:xfrm>
          <a:prstGeom prst="straightConnector1">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47" name="TextBox 46">
            <a:extLst>
              <a:ext uri="{FF2B5EF4-FFF2-40B4-BE49-F238E27FC236}">
                <a16:creationId xmlns:a16="http://schemas.microsoft.com/office/drawing/2014/main" id="{0BEE25EC-AC71-9203-0640-E284E865F414}"/>
              </a:ext>
            </a:extLst>
          </p:cNvPr>
          <p:cNvSpPr txBox="1"/>
          <p:nvPr/>
        </p:nvSpPr>
        <p:spPr>
          <a:xfrm>
            <a:off x="0" y="0"/>
            <a:ext cx="7224889" cy="276999"/>
          </a:xfrm>
          <a:prstGeom prst="rect">
            <a:avLst/>
          </a:prstGeom>
          <a:noFill/>
        </p:spPr>
        <p:txBody>
          <a:bodyPr wrap="square" rtlCol="0">
            <a:spAutoFit/>
          </a:bodyPr>
          <a:lstStyle/>
          <a:p>
            <a:r>
              <a:rPr lang="en-SG" sz="1200" i="1" dirty="0">
                <a:solidFill>
                  <a:schemeClr val="bg1">
                    <a:lumMod val="65000"/>
                  </a:schemeClr>
                </a:solidFill>
                <a:latin typeface="Arial" panose="020B0604020202020204" pitchFamily="34" charset="0"/>
                <a:cs typeface="Arial" panose="020B0604020202020204" pitchFamily="34" charset="0"/>
              </a:rPr>
              <a:t>[Restricted] For workshop participants only, not for distribution.</a:t>
            </a:r>
          </a:p>
        </p:txBody>
      </p:sp>
    </p:spTree>
    <p:extLst>
      <p:ext uri="{BB962C8B-B14F-4D97-AF65-F5344CB8AC3E}">
        <p14:creationId xmlns:p14="http://schemas.microsoft.com/office/powerpoint/2010/main" val="2436609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20" grpId="0" animBg="1"/>
      <p:bldP spid="24" grpId="0" animBg="1"/>
      <p:bldP spid="33" grpId="0" animBg="1"/>
      <p:bldP spid="34" grpId="0" animBg="1"/>
      <p:bldP spid="37"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FF9146B-4CCD-4CDB-AB9C-458005307E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E1FEFA6-7D4F-4746-AE64-D4D52FE76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Rectangle 13">
            <a:extLst>
              <a:ext uri="{FF2B5EF4-FFF2-40B4-BE49-F238E27FC236}">
                <a16:creationId xmlns:a16="http://schemas.microsoft.com/office/drawing/2014/main" id="{BF8DA3CF-9D4B-403A-9AD4-BB177DAB6C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 y="685800"/>
            <a:ext cx="10820400" cy="5486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1548F39A-AC4E-4C4A-ABCA-B445C069F8F5}"/>
              </a:ext>
            </a:extLst>
          </p:cNvPr>
          <p:cNvSpPr>
            <a:spLocks noGrp="1"/>
          </p:cNvSpPr>
          <p:nvPr>
            <p:ph type="title"/>
          </p:nvPr>
        </p:nvSpPr>
        <p:spPr>
          <a:xfrm>
            <a:off x="1371599" y="1010097"/>
            <a:ext cx="9486901" cy="1010088"/>
          </a:xfrm>
        </p:spPr>
        <p:txBody>
          <a:bodyPr anchor="b">
            <a:normAutofit/>
          </a:bodyPr>
          <a:lstStyle/>
          <a:p>
            <a:pPr algn="ctr"/>
            <a:r>
              <a:rPr lang="en-SG" dirty="0"/>
              <a:t>OTHER ASSUMPTIONS</a:t>
            </a:r>
          </a:p>
        </p:txBody>
      </p:sp>
      <p:sp>
        <p:nvSpPr>
          <p:cNvPr id="5" name="Content Placeholder 4">
            <a:extLst>
              <a:ext uri="{FF2B5EF4-FFF2-40B4-BE49-F238E27FC236}">
                <a16:creationId xmlns:a16="http://schemas.microsoft.com/office/drawing/2014/main" id="{C6E9CAD8-686B-4515-8CFE-46963D4C13E5}"/>
              </a:ext>
            </a:extLst>
          </p:cNvPr>
          <p:cNvSpPr>
            <a:spLocks noGrp="1"/>
          </p:cNvSpPr>
          <p:nvPr>
            <p:ph idx="1"/>
          </p:nvPr>
        </p:nvSpPr>
        <p:spPr>
          <a:xfrm>
            <a:off x="800100" y="2020185"/>
            <a:ext cx="10591800" cy="4169492"/>
          </a:xfrm>
        </p:spPr>
        <p:txBody>
          <a:bodyPr>
            <a:normAutofit/>
          </a:bodyPr>
          <a:lstStyle/>
          <a:p>
            <a:r>
              <a:rPr lang="en-SG" sz="2200" dirty="0">
                <a:latin typeface="Times New Roman" panose="02020603050405020304" pitchFamily="18" charset="0"/>
                <a:cs typeface="Times New Roman" panose="02020603050405020304" pitchFamily="18" charset="0"/>
              </a:rPr>
              <a:t>Time-independence</a:t>
            </a:r>
          </a:p>
          <a:p>
            <a:pPr lvl="1"/>
            <a:r>
              <a:rPr lang="en-SG" sz="2200" dirty="0">
                <a:latin typeface="Times New Roman" panose="02020603050405020304" pitchFamily="18" charset="0"/>
                <a:cs typeface="Times New Roman" panose="02020603050405020304" pitchFamily="18" charset="0"/>
              </a:rPr>
              <a:t>Fairly consistent socioeconomic position over time</a:t>
            </a:r>
          </a:p>
          <a:p>
            <a:pPr lvl="1"/>
            <a:r>
              <a:rPr lang="en-SG" sz="2200" dirty="0">
                <a:latin typeface="Times New Roman" panose="02020603050405020304" pitchFamily="18" charset="0"/>
                <a:cs typeface="Times New Roman" panose="02020603050405020304" pitchFamily="18" charset="0"/>
              </a:rPr>
              <a:t>Prospective studies</a:t>
            </a:r>
          </a:p>
          <a:p>
            <a:r>
              <a:rPr lang="en-SG" altLang="en-US" sz="2200" dirty="0">
                <a:latin typeface="Times New Roman" panose="02020603050405020304" pitchFamily="18" charset="0"/>
                <a:cs typeface="Times New Roman" panose="02020603050405020304" pitchFamily="18" charset="0"/>
              </a:rPr>
              <a:t>Correct temporal order (e.g. X</a:t>
            </a:r>
            <a:r>
              <a:rPr lang="en-SG" altLang="en-US" sz="2200" dirty="0">
                <a:latin typeface="Times New Roman" panose="02020603050405020304" pitchFamily="18" charset="0"/>
                <a:cs typeface="Times New Roman" panose="02020603050405020304" pitchFamily="18" charset="0"/>
                <a:sym typeface="Wingdings" pitchFamily="2" charset="2"/>
              </a:rPr>
              <a:t> M Y)</a:t>
            </a:r>
          </a:p>
          <a:p>
            <a:r>
              <a:rPr lang="en-SG" altLang="en-US" sz="2200" dirty="0">
                <a:solidFill>
                  <a:schemeClr val="tx1"/>
                </a:solidFill>
                <a:latin typeface="Times New Roman" panose="02020603050405020304" pitchFamily="18" charset="0"/>
                <a:cs typeface="Times New Roman" panose="02020603050405020304" pitchFamily="18" charset="0"/>
              </a:rPr>
              <a:t>Positivity/ Overlap/ Common support</a:t>
            </a:r>
          </a:p>
          <a:p>
            <a:pPr lvl="1"/>
            <a:r>
              <a:rPr lang="en-SG" altLang="en-US" sz="1800" dirty="0">
                <a:solidFill>
                  <a:schemeClr val="tx1"/>
                </a:solidFill>
                <a:latin typeface="Times New Roman" panose="02020603050405020304" pitchFamily="18" charset="0"/>
                <a:cs typeface="Times New Roman" panose="02020603050405020304" pitchFamily="18" charset="0"/>
              </a:rPr>
              <a:t>Non-zero probability of people belonging to high and low income groups given the covariates</a:t>
            </a:r>
          </a:p>
          <a:p>
            <a:pPr lvl="1"/>
            <a:r>
              <a:rPr lang="en-SG" altLang="en-US" sz="1800" dirty="0">
                <a:solidFill>
                  <a:schemeClr val="tx1"/>
                </a:solidFill>
                <a:latin typeface="Times New Roman" panose="02020603050405020304" pitchFamily="18" charset="0"/>
                <a:cs typeface="Times New Roman" panose="02020603050405020304" pitchFamily="18" charset="0"/>
              </a:rPr>
              <a:t>Non-zero probability of sugar consumption taking on different values when people switch income groups</a:t>
            </a:r>
          </a:p>
          <a:p>
            <a:r>
              <a:rPr lang="en-SG" altLang="en-US" sz="2200" dirty="0">
                <a:latin typeface="Times New Roman" panose="02020603050405020304" pitchFamily="18" charset="0"/>
                <a:cs typeface="Times New Roman" panose="02020603050405020304" pitchFamily="18" charset="0"/>
              </a:rPr>
              <a:t>Consistency/ </a:t>
            </a:r>
            <a:r>
              <a:rPr lang="en-SG" sz="2200" dirty="0">
                <a:latin typeface="Times New Roman" panose="02020603050405020304" pitchFamily="18" charset="0"/>
                <a:cs typeface="Times New Roman" panose="02020603050405020304" pitchFamily="18" charset="0"/>
              </a:rPr>
              <a:t>SUTVA (stable unit treatment value assumption)</a:t>
            </a:r>
          </a:p>
          <a:p>
            <a:pPr lvl="1"/>
            <a:r>
              <a:rPr lang="en-SG" sz="1800" dirty="0">
                <a:latin typeface="Times New Roman" panose="02020603050405020304" pitchFamily="18" charset="0"/>
                <a:cs typeface="Times New Roman" panose="02020603050405020304" pitchFamily="18" charset="0"/>
              </a:rPr>
              <a:t>Treatment for low income group (or high income group) does not affect outcome of the other group</a:t>
            </a:r>
          </a:p>
        </p:txBody>
      </p:sp>
      <p:sp>
        <p:nvSpPr>
          <p:cNvPr id="3" name="TextBox 2">
            <a:extLst>
              <a:ext uri="{FF2B5EF4-FFF2-40B4-BE49-F238E27FC236}">
                <a16:creationId xmlns:a16="http://schemas.microsoft.com/office/drawing/2014/main" id="{A061C718-05CB-90C4-6E1A-32F3DE9087C5}"/>
              </a:ext>
            </a:extLst>
          </p:cNvPr>
          <p:cNvSpPr txBox="1"/>
          <p:nvPr/>
        </p:nvSpPr>
        <p:spPr>
          <a:xfrm>
            <a:off x="0" y="0"/>
            <a:ext cx="7224889" cy="276999"/>
          </a:xfrm>
          <a:prstGeom prst="rect">
            <a:avLst/>
          </a:prstGeom>
          <a:noFill/>
        </p:spPr>
        <p:txBody>
          <a:bodyPr wrap="square" rtlCol="0">
            <a:spAutoFit/>
          </a:bodyPr>
          <a:lstStyle/>
          <a:p>
            <a:r>
              <a:rPr lang="en-SG" sz="1200" i="1" dirty="0">
                <a:solidFill>
                  <a:schemeClr val="bg1">
                    <a:lumMod val="65000"/>
                  </a:schemeClr>
                </a:solidFill>
                <a:latin typeface="Arial" panose="020B0604020202020204" pitchFamily="34" charset="0"/>
                <a:cs typeface="Arial" panose="020B0604020202020204" pitchFamily="34" charset="0"/>
              </a:rPr>
              <a:t>[Restricted] For workshop participants only, not for distribution.</a:t>
            </a:r>
          </a:p>
        </p:txBody>
      </p:sp>
      <p:sp>
        <p:nvSpPr>
          <p:cNvPr id="6" name="TextBox 5">
            <a:extLst>
              <a:ext uri="{FF2B5EF4-FFF2-40B4-BE49-F238E27FC236}">
                <a16:creationId xmlns:a16="http://schemas.microsoft.com/office/drawing/2014/main" id="{776C871B-0B39-B82E-8D90-9FBDE320E5A7}"/>
              </a:ext>
            </a:extLst>
          </p:cNvPr>
          <p:cNvSpPr txBox="1"/>
          <p:nvPr/>
        </p:nvSpPr>
        <p:spPr>
          <a:xfrm>
            <a:off x="0" y="6246639"/>
            <a:ext cx="12192000" cy="584775"/>
          </a:xfrm>
          <a:prstGeom prst="rect">
            <a:avLst/>
          </a:prstGeom>
          <a:noFill/>
        </p:spPr>
        <p:txBody>
          <a:bodyPr wrap="square">
            <a:spAutoFit/>
          </a:bodyPr>
          <a:lstStyle/>
          <a:p>
            <a:pPr algn="r">
              <a:defRPr/>
            </a:pPr>
            <a:r>
              <a:rPr lang="en-SG" sz="1600" dirty="0">
                <a:solidFill>
                  <a:schemeClr val="bg1"/>
                </a:solidFill>
                <a:latin typeface="Times New Roman" panose="02020603050405020304" pitchFamily="18" charset="0"/>
                <a:cs typeface="Times New Roman" panose="02020603050405020304" pitchFamily="18" charset="0"/>
              </a:rPr>
              <a:t>Nguyen, T. Q., Schmid, I., Ogburn, E. L., &amp; Stuart, E. A. (2022). Clarifying causal mediation analysis: Effect identification via three assumptions and five potential outcomes. </a:t>
            </a:r>
            <a:r>
              <a:rPr lang="en-SG" sz="1600" i="1" dirty="0">
                <a:solidFill>
                  <a:schemeClr val="bg1"/>
                </a:solidFill>
                <a:latin typeface="Times New Roman" panose="02020603050405020304" pitchFamily="18" charset="0"/>
                <a:cs typeface="Times New Roman" panose="02020603050405020304" pitchFamily="18" charset="0"/>
              </a:rPr>
              <a:t>Journal of causal inference</a:t>
            </a:r>
            <a:r>
              <a:rPr lang="en-SG" sz="1600" dirty="0">
                <a:solidFill>
                  <a:schemeClr val="bg1"/>
                </a:solidFill>
                <a:latin typeface="Times New Roman" panose="02020603050405020304" pitchFamily="18" charset="0"/>
                <a:cs typeface="Times New Roman" panose="02020603050405020304" pitchFamily="18" charset="0"/>
              </a:rPr>
              <a:t>, </a:t>
            </a:r>
            <a:r>
              <a:rPr lang="en-SG" sz="1600" i="1" dirty="0">
                <a:solidFill>
                  <a:schemeClr val="bg1"/>
                </a:solidFill>
                <a:latin typeface="Times New Roman" panose="02020603050405020304" pitchFamily="18" charset="0"/>
                <a:cs typeface="Times New Roman" panose="02020603050405020304" pitchFamily="18" charset="0"/>
              </a:rPr>
              <a:t>10</a:t>
            </a:r>
            <a:r>
              <a:rPr lang="en-SG" sz="1600" dirty="0">
                <a:solidFill>
                  <a:schemeClr val="bg1"/>
                </a:solidFill>
                <a:latin typeface="Times New Roman" panose="02020603050405020304" pitchFamily="18" charset="0"/>
                <a:cs typeface="Times New Roman" panose="02020603050405020304" pitchFamily="18" charset="0"/>
              </a:rPr>
              <a:t>(1), 246–279. https://</a:t>
            </a:r>
            <a:r>
              <a:rPr lang="en-SG" sz="1600" dirty="0" err="1">
                <a:solidFill>
                  <a:schemeClr val="bg1"/>
                </a:solidFill>
                <a:latin typeface="Times New Roman" panose="02020603050405020304" pitchFamily="18" charset="0"/>
                <a:cs typeface="Times New Roman" panose="02020603050405020304" pitchFamily="18" charset="0"/>
              </a:rPr>
              <a:t>doi.org</a:t>
            </a:r>
            <a:r>
              <a:rPr lang="en-SG" sz="1600" dirty="0">
                <a:solidFill>
                  <a:schemeClr val="bg1"/>
                </a:solidFill>
                <a:latin typeface="Times New Roman" panose="02020603050405020304" pitchFamily="18" charset="0"/>
                <a:cs typeface="Times New Roman" panose="02020603050405020304" pitchFamily="18" charset="0"/>
              </a:rPr>
              <a:t>/10.1515/jci-2021-0049</a:t>
            </a:r>
            <a:endParaRPr lang="en-US" sz="16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11100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57BD450-9D13-1CDE-5890-0BE8454D6585}"/>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4AAAA0C-DEDD-E0AC-2EA8-30D8A5ECBE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53CBB93-9F94-EDC8-7F9A-AB305058A8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Rectangle 13">
            <a:extLst>
              <a:ext uri="{FF2B5EF4-FFF2-40B4-BE49-F238E27FC236}">
                <a16:creationId xmlns:a16="http://schemas.microsoft.com/office/drawing/2014/main" id="{D03717EF-857E-079C-45C7-F6CA52E046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 y="685800"/>
            <a:ext cx="10820400" cy="5486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155F0DC0-3B4D-66A8-A0D2-FE2BED7E7E2D}"/>
              </a:ext>
            </a:extLst>
          </p:cNvPr>
          <p:cNvSpPr>
            <a:spLocks noGrp="1"/>
          </p:cNvSpPr>
          <p:nvPr>
            <p:ph type="title"/>
          </p:nvPr>
        </p:nvSpPr>
        <p:spPr>
          <a:xfrm>
            <a:off x="783451" y="2652549"/>
            <a:ext cx="2597728" cy="1010088"/>
          </a:xfrm>
        </p:spPr>
        <p:txBody>
          <a:bodyPr anchor="b">
            <a:normAutofit/>
          </a:bodyPr>
          <a:lstStyle/>
          <a:p>
            <a:pPr algn="ctr"/>
            <a:r>
              <a:rPr lang="en-SG" dirty="0"/>
              <a:t>some examples</a:t>
            </a:r>
          </a:p>
        </p:txBody>
      </p:sp>
      <p:sp>
        <p:nvSpPr>
          <p:cNvPr id="3" name="TextBox 2">
            <a:extLst>
              <a:ext uri="{FF2B5EF4-FFF2-40B4-BE49-F238E27FC236}">
                <a16:creationId xmlns:a16="http://schemas.microsoft.com/office/drawing/2014/main" id="{D65B47D0-5D78-593C-040E-B013BDDAC17B}"/>
              </a:ext>
            </a:extLst>
          </p:cNvPr>
          <p:cNvSpPr txBox="1"/>
          <p:nvPr/>
        </p:nvSpPr>
        <p:spPr>
          <a:xfrm>
            <a:off x="0" y="0"/>
            <a:ext cx="3105157" cy="467275"/>
          </a:xfrm>
          <a:prstGeom prst="rect">
            <a:avLst/>
          </a:prstGeom>
          <a:noFill/>
        </p:spPr>
        <p:txBody>
          <a:bodyPr wrap="square" rtlCol="0">
            <a:spAutoFit/>
          </a:bodyPr>
          <a:lstStyle/>
          <a:p>
            <a:r>
              <a:rPr lang="en-SG" sz="1200" i="1" dirty="0">
                <a:solidFill>
                  <a:schemeClr val="bg1">
                    <a:lumMod val="65000"/>
                  </a:schemeClr>
                </a:solidFill>
                <a:latin typeface="Arial" panose="020B0604020202020204" pitchFamily="34" charset="0"/>
                <a:cs typeface="Arial" panose="020B0604020202020204" pitchFamily="34" charset="0"/>
              </a:rPr>
              <a:t>[Restricted] For workshop participants only, not for distribution.</a:t>
            </a:r>
          </a:p>
        </p:txBody>
      </p:sp>
      <p:pic>
        <p:nvPicPr>
          <p:cNvPr id="8" name="Picture 7">
            <a:extLst>
              <a:ext uri="{FF2B5EF4-FFF2-40B4-BE49-F238E27FC236}">
                <a16:creationId xmlns:a16="http://schemas.microsoft.com/office/drawing/2014/main" id="{892A62F8-2E13-D180-BCF2-24FA7A502105}"/>
              </a:ext>
            </a:extLst>
          </p:cNvPr>
          <p:cNvPicPr>
            <a:picLocks noChangeAspect="1"/>
          </p:cNvPicPr>
          <p:nvPr/>
        </p:nvPicPr>
        <p:blipFill>
          <a:blip r:embed="rId3"/>
          <a:stretch>
            <a:fillRect/>
          </a:stretch>
        </p:blipFill>
        <p:spPr>
          <a:xfrm>
            <a:off x="8351239" y="0"/>
            <a:ext cx="3560164" cy="6858000"/>
          </a:xfrm>
          <a:prstGeom prst="rect">
            <a:avLst/>
          </a:prstGeom>
        </p:spPr>
      </p:pic>
      <p:pic>
        <p:nvPicPr>
          <p:cNvPr id="9" name="Picture 8">
            <a:extLst>
              <a:ext uri="{FF2B5EF4-FFF2-40B4-BE49-F238E27FC236}">
                <a16:creationId xmlns:a16="http://schemas.microsoft.com/office/drawing/2014/main" id="{3A9A27B7-7339-9CE4-C5C3-8AF1768ACE7B}"/>
              </a:ext>
            </a:extLst>
          </p:cNvPr>
          <p:cNvPicPr>
            <a:picLocks noChangeAspect="1"/>
          </p:cNvPicPr>
          <p:nvPr/>
        </p:nvPicPr>
        <p:blipFill>
          <a:blip r:embed="rId4"/>
          <a:srcRect t="11178" b="-1"/>
          <a:stretch>
            <a:fillRect/>
          </a:stretch>
        </p:blipFill>
        <p:spPr>
          <a:xfrm>
            <a:off x="3478830" y="3386"/>
            <a:ext cx="4774758" cy="6948941"/>
          </a:xfrm>
          <a:prstGeom prst="rect">
            <a:avLst/>
          </a:prstGeom>
        </p:spPr>
      </p:pic>
    </p:spTree>
    <p:extLst>
      <p:ext uri="{BB962C8B-B14F-4D97-AF65-F5344CB8AC3E}">
        <p14:creationId xmlns:p14="http://schemas.microsoft.com/office/powerpoint/2010/main" val="17726493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5BAD784-BAAF-4CC0-9F52-682A8E9667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5D401B9-9595-42B7-B197-AB5FB5C653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 y="685800"/>
            <a:ext cx="10820400" cy="5486399"/>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A571BA2-6450-5378-CDED-75C54E95CEBF}"/>
              </a:ext>
            </a:extLst>
          </p:cNvPr>
          <p:cNvSpPr>
            <a:spLocks noGrp="1"/>
          </p:cNvSpPr>
          <p:nvPr>
            <p:ph type="ctrTitle"/>
          </p:nvPr>
        </p:nvSpPr>
        <p:spPr>
          <a:xfrm>
            <a:off x="2057400" y="1371600"/>
            <a:ext cx="8115300" cy="2356338"/>
          </a:xfrm>
        </p:spPr>
        <p:txBody>
          <a:bodyPr>
            <a:normAutofit/>
          </a:bodyPr>
          <a:lstStyle/>
          <a:p>
            <a:r>
              <a:rPr lang="en-SG" sz="4000" dirty="0">
                <a:solidFill>
                  <a:schemeClr val="bg2"/>
                </a:solidFill>
              </a:rPr>
              <a:t>Thank you.</a:t>
            </a:r>
          </a:p>
        </p:txBody>
      </p:sp>
      <p:sp>
        <p:nvSpPr>
          <p:cNvPr id="5" name="Content Placeholder 4">
            <a:extLst>
              <a:ext uri="{FF2B5EF4-FFF2-40B4-BE49-F238E27FC236}">
                <a16:creationId xmlns:a16="http://schemas.microsoft.com/office/drawing/2014/main" id="{C6E9CAD8-686B-4515-8CFE-46963D4C13E5}"/>
              </a:ext>
            </a:extLst>
          </p:cNvPr>
          <p:cNvSpPr>
            <a:spLocks noGrp="1"/>
          </p:cNvSpPr>
          <p:nvPr>
            <p:ph type="subTitle" idx="1"/>
          </p:nvPr>
        </p:nvSpPr>
        <p:spPr>
          <a:xfrm>
            <a:off x="2057400" y="3962399"/>
            <a:ext cx="8115300" cy="1524003"/>
          </a:xfrm>
        </p:spPr>
        <p:txBody>
          <a:bodyPr>
            <a:normAutofit/>
          </a:bodyPr>
          <a:lstStyle/>
          <a:p>
            <a:pPr marL="0" indent="0">
              <a:buNone/>
            </a:pPr>
            <a:br>
              <a:rPr lang="en-SG" sz="2800" b="0" i="0" dirty="0">
                <a:solidFill>
                  <a:schemeClr val="bg1"/>
                </a:solidFill>
                <a:effectLst/>
                <a:latin typeface="CenturyGothic"/>
                <a:ea typeface="DengXian" panose="02010600030101010101" pitchFamily="2" charset="-122"/>
                <a:cs typeface="Calibri" panose="020F0502020204030204" pitchFamily="34" charset="0"/>
              </a:rPr>
            </a:br>
            <a:endParaRPr lang="en-SG" sz="2800" dirty="0">
              <a:solidFill>
                <a:schemeClr val="bg1"/>
              </a:solidFill>
            </a:endParaRPr>
          </a:p>
        </p:txBody>
      </p:sp>
      <p:sp>
        <p:nvSpPr>
          <p:cNvPr id="3" name="TextBox 2">
            <a:extLst>
              <a:ext uri="{FF2B5EF4-FFF2-40B4-BE49-F238E27FC236}">
                <a16:creationId xmlns:a16="http://schemas.microsoft.com/office/drawing/2014/main" id="{5A670860-334D-8D06-A698-FE0E6B24AD49}"/>
              </a:ext>
            </a:extLst>
          </p:cNvPr>
          <p:cNvSpPr txBox="1"/>
          <p:nvPr/>
        </p:nvSpPr>
        <p:spPr>
          <a:xfrm>
            <a:off x="0" y="0"/>
            <a:ext cx="7224889" cy="276999"/>
          </a:xfrm>
          <a:prstGeom prst="rect">
            <a:avLst/>
          </a:prstGeom>
          <a:noFill/>
        </p:spPr>
        <p:txBody>
          <a:bodyPr wrap="square" rtlCol="0">
            <a:spAutoFit/>
          </a:bodyPr>
          <a:lstStyle/>
          <a:p>
            <a:r>
              <a:rPr lang="en-SG" sz="1200" i="1" dirty="0">
                <a:solidFill>
                  <a:schemeClr val="bg1">
                    <a:lumMod val="65000"/>
                  </a:schemeClr>
                </a:solidFill>
                <a:latin typeface="Arial" panose="020B0604020202020204" pitchFamily="34" charset="0"/>
                <a:cs typeface="Arial" panose="020B0604020202020204" pitchFamily="34" charset="0"/>
              </a:rPr>
              <a:t>[Restricted] For workshop participants only, not for distribution.</a:t>
            </a:r>
          </a:p>
        </p:txBody>
      </p:sp>
    </p:spTree>
    <p:extLst>
      <p:ext uri="{BB962C8B-B14F-4D97-AF65-F5344CB8AC3E}">
        <p14:creationId xmlns:p14="http://schemas.microsoft.com/office/powerpoint/2010/main" val="15613842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FF9146B-4CCD-4CDB-AB9C-458005307E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E1FEFA6-7D4F-4746-AE64-D4D52FE76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Rectangle 13">
            <a:extLst>
              <a:ext uri="{FF2B5EF4-FFF2-40B4-BE49-F238E27FC236}">
                <a16:creationId xmlns:a16="http://schemas.microsoft.com/office/drawing/2014/main" id="{BF8DA3CF-9D4B-403A-9AD4-BB177DAB6C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 y="685800"/>
            <a:ext cx="10820400" cy="5486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1548F39A-AC4E-4C4A-ABCA-B445C069F8F5}"/>
              </a:ext>
            </a:extLst>
          </p:cNvPr>
          <p:cNvSpPr>
            <a:spLocks noGrp="1"/>
          </p:cNvSpPr>
          <p:nvPr>
            <p:ph type="title"/>
          </p:nvPr>
        </p:nvSpPr>
        <p:spPr>
          <a:xfrm>
            <a:off x="1371599" y="1010097"/>
            <a:ext cx="9486901" cy="1010088"/>
          </a:xfrm>
        </p:spPr>
        <p:txBody>
          <a:bodyPr anchor="b">
            <a:normAutofit/>
          </a:bodyPr>
          <a:lstStyle/>
          <a:p>
            <a:pPr algn="ctr"/>
            <a:r>
              <a:rPr lang="en-SG" dirty="0"/>
              <a:t>Traditional approaches</a:t>
            </a:r>
          </a:p>
        </p:txBody>
      </p:sp>
      <p:sp>
        <p:nvSpPr>
          <p:cNvPr id="5" name="Content Placeholder 4">
            <a:extLst>
              <a:ext uri="{FF2B5EF4-FFF2-40B4-BE49-F238E27FC236}">
                <a16:creationId xmlns:a16="http://schemas.microsoft.com/office/drawing/2014/main" id="{C6E9CAD8-686B-4515-8CFE-46963D4C13E5}"/>
              </a:ext>
            </a:extLst>
          </p:cNvPr>
          <p:cNvSpPr>
            <a:spLocks noGrp="1"/>
          </p:cNvSpPr>
          <p:nvPr>
            <p:ph idx="1"/>
          </p:nvPr>
        </p:nvSpPr>
        <p:spPr>
          <a:xfrm>
            <a:off x="1371600" y="2206257"/>
            <a:ext cx="9486901" cy="3540642"/>
          </a:xfrm>
        </p:spPr>
        <p:txBody>
          <a:bodyPr>
            <a:normAutofit fontScale="92500" lnSpcReduction="20000"/>
          </a:bodyPr>
          <a:lstStyle/>
          <a:p>
            <a:r>
              <a:rPr lang="en-SG" dirty="0"/>
              <a:t>Path analysis (Structural Equation </a:t>
            </a:r>
            <a:r>
              <a:rPr lang="en-SG" dirty="0" err="1"/>
              <a:t>Modeling</a:t>
            </a:r>
            <a:r>
              <a:rPr lang="en-SG" dirty="0"/>
              <a:t>)</a:t>
            </a:r>
          </a:p>
          <a:p>
            <a:pPr lvl="1"/>
            <a:r>
              <a:rPr lang="en-US" dirty="0"/>
              <a:t>Problem with SEM: does not adequately address issues of confounding and endogeneity in inferring causal relationships</a:t>
            </a:r>
            <a:endParaRPr lang="en-SG" dirty="0"/>
          </a:p>
          <a:p>
            <a:pPr lvl="1"/>
            <a:r>
              <a:rPr lang="en-SG" dirty="0"/>
              <a:t>Product method and difference method differ for binary outcomes</a:t>
            </a:r>
          </a:p>
          <a:p>
            <a:pPr lvl="1"/>
            <a:r>
              <a:rPr lang="en-SG" dirty="0"/>
              <a:t>No decomposition property when exposure-mediator interaction term is present</a:t>
            </a:r>
          </a:p>
          <a:p>
            <a:r>
              <a:rPr lang="en-SG" dirty="0"/>
              <a:t>Traditional approach (Baron and Kenny 1986)</a:t>
            </a:r>
          </a:p>
          <a:p>
            <a:pPr lvl="1"/>
            <a:r>
              <a:rPr lang="en-SG" dirty="0"/>
              <a:t>No confounders included</a:t>
            </a:r>
          </a:p>
          <a:p>
            <a:pPr lvl="1"/>
            <a:r>
              <a:rPr lang="en-SG" dirty="0"/>
              <a:t>For cases where linear regression is used for mediator and outcome</a:t>
            </a:r>
          </a:p>
          <a:p>
            <a:pPr lvl="1"/>
            <a:r>
              <a:rPr lang="en-SG" dirty="0"/>
              <a:t>Assume no exposure-mediator interaction</a:t>
            </a:r>
          </a:p>
          <a:p>
            <a:pPr lvl="1"/>
            <a:r>
              <a:rPr lang="en-SG" dirty="0"/>
              <a:t>Non-collapsibility of odds ratios (for binary outcomes); non-interpretable estimate</a:t>
            </a:r>
          </a:p>
          <a:p>
            <a:pPr lvl="1"/>
            <a:r>
              <a:rPr lang="en-SG" dirty="0"/>
              <a:t>Assumes no unmeasured confounding of mediator-outcome path</a:t>
            </a:r>
          </a:p>
        </p:txBody>
      </p:sp>
      <p:sp>
        <p:nvSpPr>
          <p:cNvPr id="2" name="TextBox 1">
            <a:extLst>
              <a:ext uri="{FF2B5EF4-FFF2-40B4-BE49-F238E27FC236}">
                <a16:creationId xmlns:a16="http://schemas.microsoft.com/office/drawing/2014/main" id="{D153F705-9617-6C14-20CF-C5557E41B143}"/>
              </a:ext>
            </a:extLst>
          </p:cNvPr>
          <p:cNvSpPr txBox="1"/>
          <p:nvPr/>
        </p:nvSpPr>
        <p:spPr>
          <a:xfrm>
            <a:off x="0" y="0"/>
            <a:ext cx="7224889" cy="276999"/>
          </a:xfrm>
          <a:prstGeom prst="rect">
            <a:avLst/>
          </a:prstGeom>
          <a:noFill/>
        </p:spPr>
        <p:txBody>
          <a:bodyPr wrap="square" rtlCol="0">
            <a:spAutoFit/>
          </a:bodyPr>
          <a:lstStyle/>
          <a:p>
            <a:r>
              <a:rPr lang="en-SG" sz="1200" i="1" dirty="0">
                <a:solidFill>
                  <a:schemeClr val="bg1">
                    <a:lumMod val="65000"/>
                  </a:schemeClr>
                </a:solidFill>
                <a:latin typeface="Arial" panose="020B0604020202020204" pitchFamily="34" charset="0"/>
                <a:cs typeface="Arial" panose="020B0604020202020204" pitchFamily="34" charset="0"/>
              </a:rPr>
              <a:t>[Restricted] For workshop participants only, not for distribution.</a:t>
            </a:r>
          </a:p>
        </p:txBody>
      </p:sp>
    </p:spTree>
    <p:extLst>
      <p:ext uri="{BB962C8B-B14F-4D97-AF65-F5344CB8AC3E}">
        <p14:creationId xmlns:p14="http://schemas.microsoft.com/office/powerpoint/2010/main" val="11028194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785E67B1-72A0-4761-A02E-A09E8792A7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C695F9E2-09E7-4B3C-90CF-8A938F730E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71600" y="1371600"/>
            <a:ext cx="4038600" cy="4114800"/>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Content Placeholder 8">
            <a:extLst>
              <a:ext uri="{FF2B5EF4-FFF2-40B4-BE49-F238E27FC236}">
                <a16:creationId xmlns:a16="http://schemas.microsoft.com/office/drawing/2014/main" id="{C7023EC9-5E74-40F2-834C-B1D0243BA94D}"/>
              </a:ext>
            </a:extLst>
          </p:cNvPr>
          <p:cNvPicPr>
            <a:picLocks noGrp="1" noChangeAspect="1"/>
          </p:cNvPicPr>
          <p:nvPr>
            <p:ph idx="1"/>
          </p:nvPr>
        </p:nvPicPr>
        <p:blipFill>
          <a:blip r:embed="rId3"/>
          <a:stretch>
            <a:fillRect/>
          </a:stretch>
        </p:blipFill>
        <p:spPr>
          <a:xfrm>
            <a:off x="6309735" y="4213549"/>
            <a:ext cx="5278465" cy="1293223"/>
          </a:xfrm>
          <a:prstGeom prst="rect">
            <a:avLst/>
          </a:prstGeom>
        </p:spPr>
      </p:pic>
      <p:pic>
        <p:nvPicPr>
          <p:cNvPr id="13" name="Picture 12">
            <a:extLst>
              <a:ext uri="{FF2B5EF4-FFF2-40B4-BE49-F238E27FC236}">
                <a16:creationId xmlns:a16="http://schemas.microsoft.com/office/drawing/2014/main" id="{1D9C5AD8-A496-47BD-82B7-ECDE67B6BFC2}"/>
              </a:ext>
            </a:extLst>
          </p:cNvPr>
          <p:cNvPicPr>
            <a:picLocks noChangeAspect="1"/>
          </p:cNvPicPr>
          <p:nvPr/>
        </p:nvPicPr>
        <p:blipFill rotWithShape="1">
          <a:blip r:embed="rId4"/>
          <a:srcRect t="70028" b="4106"/>
          <a:stretch/>
        </p:blipFill>
        <p:spPr>
          <a:xfrm>
            <a:off x="5697731" y="2032025"/>
            <a:ext cx="5750607" cy="855279"/>
          </a:xfrm>
          <a:prstGeom prst="rect">
            <a:avLst/>
          </a:prstGeom>
        </p:spPr>
      </p:pic>
      <p:sp>
        <p:nvSpPr>
          <p:cNvPr id="14" name="TextBox 13">
            <a:extLst>
              <a:ext uri="{FF2B5EF4-FFF2-40B4-BE49-F238E27FC236}">
                <a16:creationId xmlns:a16="http://schemas.microsoft.com/office/drawing/2014/main" id="{F36D5F03-5FAD-4019-9815-EA2035464278}"/>
              </a:ext>
            </a:extLst>
          </p:cNvPr>
          <p:cNvSpPr txBox="1"/>
          <p:nvPr/>
        </p:nvSpPr>
        <p:spPr>
          <a:xfrm>
            <a:off x="1797231" y="1720840"/>
            <a:ext cx="3187337" cy="3139321"/>
          </a:xfrm>
          <a:prstGeom prst="rect">
            <a:avLst/>
          </a:prstGeom>
          <a:noFill/>
        </p:spPr>
        <p:txBody>
          <a:bodyPr wrap="square" rtlCol="0">
            <a:spAutoFit/>
          </a:bodyPr>
          <a:lstStyle/>
          <a:p>
            <a:r>
              <a:rPr lang="en-SG" dirty="0">
                <a:solidFill>
                  <a:schemeClr val="bg1"/>
                </a:solidFill>
              </a:rPr>
              <a:t>A = treatment</a:t>
            </a:r>
            <a:br>
              <a:rPr lang="en-SG" dirty="0">
                <a:solidFill>
                  <a:schemeClr val="bg1"/>
                </a:solidFill>
              </a:rPr>
            </a:br>
            <a:r>
              <a:rPr lang="en-SG" dirty="0">
                <a:solidFill>
                  <a:schemeClr val="bg1"/>
                </a:solidFill>
              </a:rPr>
              <a:t>[a = exposure at end of study</a:t>
            </a:r>
            <a:br>
              <a:rPr lang="en-SG" dirty="0">
                <a:solidFill>
                  <a:schemeClr val="bg1"/>
                </a:solidFill>
              </a:rPr>
            </a:br>
            <a:r>
              <a:rPr lang="en-SG" dirty="0">
                <a:solidFill>
                  <a:schemeClr val="bg1"/>
                </a:solidFill>
              </a:rPr>
              <a:t>(treatment = 1)</a:t>
            </a:r>
            <a:br>
              <a:rPr lang="en-SG" dirty="0">
                <a:solidFill>
                  <a:schemeClr val="bg1"/>
                </a:solidFill>
              </a:rPr>
            </a:br>
            <a:r>
              <a:rPr lang="en-SG" dirty="0">
                <a:solidFill>
                  <a:schemeClr val="bg1"/>
                </a:solidFill>
              </a:rPr>
              <a:t>a* = exposure at baseline (treatment = 0)]</a:t>
            </a:r>
          </a:p>
          <a:p>
            <a:endParaRPr lang="en-SG" dirty="0">
              <a:solidFill>
                <a:schemeClr val="bg1"/>
              </a:solidFill>
            </a:endParaRPr>
          </a:p>
          <a:p>
            <a:r>
              <a:rPr lang="en-SG" dirty="0">
                <a:solidFill>
                  <a:schemeClr val="bg1"/>
                </a:solidFill>
              </a:rPr>
              <a:t>Y = outcome</a:t>
            </a:r>
          </a:p>
          <a:p>
            <a:endParaRPr lang="en-SG" dirty="0">
              <a:solidFill>
                <a:schemeClr val="bg1"/>
              </a:solidFill>
            </a:endParaRPr>
          </a:p>
          <a:p>
            <a:r>
              <a:rPr lang="en-SG" dirty="0">
                <a:solidFill>
                  <a:schemeClr val="bg1"/>
                </a:solidFill>
              </a:rPr>
              <a:t>M = mediator</a:t>
            </a:r>
            <a:br>
              <a:rPr lang="en-SG" dirty="0">
                <a:solidFill>
                  <a:schemeClr val="bg1"/>
                </a:solidFill>
              </a:rPr>
            </a:br>
            <a:endParaRPr lang="en-SG" dirty="0">
              <a:solidFill>
                <a:schemeClr val="bg1"/>
              </a:solidFill>
            </a:endParaRPr>
          </a:p>
          <a:p>
            <a:r>
              <a:rPr lang="en-SG" dirty="0">
                <a:solidFill>
                  <a:schemeClr val="bg1"/>
                </a:solidFill>
              </a:rPr>
              <a:t>C = additional covariates</a:t>
            </a:r>
          </a:p>
        </p:txBody>
      </p:sp>
      <p:sp>
        <p:nvSpPr>
          <p:cNvPr id="10" name="TextBox 9">
            <a:extLst>
              <a:ext uri="{FF2B5EF4-FFF2-40B4-BE49-F238E27FC236}">
                <a16:creationId xmlns:a16="http://schemas.microsoft.com/office/drawing/2014/main" id="{62A87980-BFDF-BA05-3515-2D0734B3F3C5}"/>
              </a:ext>
            </a:extLst>
          </p:cNvPr>
          <p:cNvSpPr txBox="1"/>
          <p:nvPr/>
        </p:nvSpPr>
        <p:spPr>
          <a:xfrm>
            <a:off x="0" y="6217041"/>
            <a:ext cx="12192000" cy="584775"/>
          </a:xfrm>
          <a:prstGeom prst="rect">
            <a:avLst/>
          </a:prstGeom>
          <a:noFill/>
        </p:spPr>
        <p:txBody>
          <a:bodyPr wrap="square">
            <a:spAutoFit/>
          </a:bodyPr>
          <a:lstStyle/>
          <a:p>
            <a:pPr algn="r"/>
            <a:r>
              <a:rPr lang="en-SG" sz="1600" b="0" i="0" dirty="0">
                <a:solidFill>
                  <a:srgbClr val="212121"/>
                </a:solidFill>
                <a:effectLst/>
                <a:latin typeface="Times-Roman"/>
              </a:rPr>
              <a:t>Valeri, L., &amp; </a:t>
            </a:r>
            <a:r>
              <a:rPr lang="en-SG" sz="1600" b="0" i="0" dirty="0" err="1">
                <a:solidFill>
                  <a:srgbClr val="212121"/>
                </a:solidFill>
                <a:effectLst/>
                <a:latin typeface="Times-Roman"/>
              </a:rPr>
              <a:t>Vanderweele</a:t>
            </a:r>
            <a:r>
              <a:rPr lang="en-SG" sz="1600" b="0" i="0" dirty="0">
                <a:solidFill>
                  <a:srgbClr val="212121"/>
                </a:solidFill>
                <a:effectLst/>
                <a:latin typeface="Times-Roman"/>
              </a:rPr>
              <a:t>, T. J. (2013). Mediation analysis allowing for exposure-mediator interactions and causal interpretation: theoretical assumptions and implementation with SAS and SPSS macros. </a:t>
            </a:r>
            <a:r>
              <a:rPr lang="en-SG" sz="1600" b="0" i="1" dirty="0">
                <a:solidFill>
                  <a:srgbClr val="212121"/>
                </a:solidFill>
                <a:effectLst/>
                <a:latin typeface="Times-Roman"/>
              </a:rPr>
              <a:t>Psychological methods</a:t>
            </a:r>
            <a:r>
              <a:rPr lang="en-SG" sz="1600" b="0" i="0" dirty="0">
                <a:solidFill>
                  <a:srgbClr val="212121"/>
                </a:solidFill>
                <a:effectLst/>
                <a:latin typeface="Times-Roman"/>
              </a:rPr>
              <a:t>, </a:t>
            </a:r>
            <a:r>
              <a:rPr lang="en-SG" sz="1600" b="0" i="1" dirty="0">
                <a:solidFill>
                  <a:srgbClr val="212121"/>
                </a:solidFill>
                <a:effectLst/>
                <a:latin typeface="Times-Roman"/>
              </a:rPr>
              <a:t>18</a:t>
            </a:r>
            <a:r>
              <a:rPr lang="en-SG" sz="1600" b="0" i="0" dirty="0">
                <a:solidFill>
                  <a:srgbClr val="212121"/>
                </a:solidFill>
                <a:effectLst/>
                <a:latin typeface="Times-Roman"/>
              </a:rPr>
              <a:t>(2), 137–150. https://doi.org/10.1037/a0031034</a:t>
            </a:r>
            <a:endParaRPr lang="en-SG" sz="1600" dirty="0">
              <a:latin typeface="Times-Roman"/>
            </a:endParaRPr>
          </a:p>
        </p:txBody>
      </p:sp>
      <p:pic>
        <p:nvPicPr>
          <p:cNvPr id="4" name="Picture 3">
            <a:extLst>
              <a:ext uri="{FF2B5EF4-FFF2-40B4-BE49-F238E27FC236}">
                <a16:creationId xmlns:a16="http://schemas.microsoft.com/office/drawing/2014/main" id="{86D8BAF4-D813-D76C-70E8-217C54EF8537}"/>
              </a:ext>
            </a:extLst>
          </p:cNvPr>
          <p:cNvPicPr>
            <a:picLocks noChangeAspect="1"/>
          </p:cNvPicPr>
          <p:nvPr/>
        </p:nvPicPr>
        <p:blipFill rotWithShape="1">
          <a:blip r:embed="rId5"/>
          <a:srcRect t="87499"/>
          <a:stretch/>
        </p:blipFill>
        <p:spPr>
          <a:xfrm>
            <a:off x="5580174" y="3813036"/>
            <a:ext cx="6008026" cy="404139"/>
          </a:xfrm>
          <a:prstGeom prst="rect">
            <a:avLst/>
          </a:prstGeom>
        </p:spPr>
      </p:pic>
      <p:sp>
        <p:nvSpPr>
          <p:cNvPr id="5" name="TextBox 4">
            <a:extLst>
              <a:ext uri="{FF2B5EF4-FFF2-40B4-BE49-F238E27FC236}">
                <a16:creationId xmlns:a16="http://schemas.microsoft.com/office/drawing/2014/main" id="{8DBA64CD-CAD4-8F61-4A0C-FF6B537361C0}"/>
              </a:ext>
            </a:extLst>
          </p:cNvPr>
          <p:cNvSpPr txBox="1"/>
          <p:nvPr/>
        </p:nvSpPr>
        <p:spPr>
          <a:xfrm>
            <a:off x="6160169" y="2887304"/>
            <a:ext cx="5916550" cy="923330"/>
          </a:xfrm>
          <a:prstGeom prst="rect">
            <a:avLst/>
          </a:prstGeom>
          <a:noFill/>
        </p:spPr>
        <p:txBody>
          <a:bodyPr wrap="square" rtlCol="0">
            <a:spAutoFit/>
          </a:bodyPr>
          <a:lstStyle/>
          <a:p>
            <a:r>
              <a:rPr lang="en-SG" dirty="0"/>
              <a:t>Extension of Baron and Kenny formulae for direct and indirect effects in counterfactual framework (Robins &amp; Greenland, 1992, Pearl, 2001)</a:t>
            </a:r>
          </a:p>
        </p:txBody>
      </p:sp>
      <p:sp>
        <p:nvSpPr>
          <p:cNvPr id="15" name="TextBox 14">
            <a:extLst>
              <a:ext uri="{FF2B5EF4-FFF2-40B4-BE49-F238E27FC236}">
                <a16:creationId xmlns:a16="http://schemas.microsoft.com/office/drawing/2014/main" id="{85628BA0-1934-68F3-1EFC-572CFF147664}"/>
              </a:ext>
            </a:extLst>
          </p:cNvPr>
          <p:cNvSpPr txBox="1"/>
          <p:nvPr/>
        </p:nvSpPr>
        <p:spPr>
          <a:xfrm>
            <a:off x="6123363" y="1153925"/>
            <a:ext cx="5585143" cy="923330"/>
          </a:xfrm>
          <a:prstGeom prst="rect">
            <a:avLst/>
          </a:prstGeom>
          <a:noFill/>
        </p:spPr>
        <p:txBody>
          <a:bodyPr wrap="square" rtlCol="0">
            <a:spAutoFit/>
          </a:bodyPr>
          <a:lstStyle/>
          <a:p>
            <a:r>
              <a:rPr lang="en-SG" dirty="0"/>
              <a:t>Baron and Kenny (1986) parametric approach to estimate and test for mediation (assume continuous mediator and outcome)</a:t>
            </a:r>
          </a:p>
        </p:txBody>
      </p:sp>
      <p:sp>
        <p:nvSpPr>
          <p:cNvPr id="2" name="TextBox 1">
            <a:extLst>
              <a:ext uri="{FF2B5EF4-FFF2-40B4-BE49-F238E27FC236}">
                <a16:creationId xmlns:a16="http://schemas.microsoft.com/office/drawing/2014/main" id="{97C576BA-014D-1326-8E23-0B1C1AB761DE}"/>
              </a:ext>
            </a:extLst>
          </p:cNvPr>
          <p:cNvSpPr txBox="1"/>
          <p:nvPr/>
        </p:nvSpPr>
        <p:spPr>
          <a:xfrm>
            <a:off x="0" y="0"/>
            <a:ext cx="7224889" cy="276999"/>
          </a:xfrm>
          <a:prstGeom prst="rect">
            <a:avLst/>
          </a:prstGeom>
          <a:noFill/>
        </p:spPr>
        <p:txBody>
          <a:bodyPr wrap="square" rtlCol="0">
            <a:spAutoFit/>
          </a:bodyPr>
          <a:lstStyle/>
          <a:p>
            <a:r>
              <a:rPr lang="en-SG" sz="1200" i="1" dirty="0">
                <a:solidFill>
                  <a:schemeClr val="bg1">
                    <a:lumMod val="65000"/>
                  </a:schemeClr>
                </a:solidFill>
                <a:latin typeface="Arial" panose="020B0604020202020204" pitchFamily="34" charset="0"/>
                <a:cs typeface="Arial" panose="020B0604020202020204" pitchFamily="34" charset="0"/>
              </a:rPr>
              <a:t>[Restricted] For workshop participants only, not for distribution.</a:t>
            </a:r>
          </a:p>
        </p:txBody>
      </p:sp>
    </p:spTree>
    <p:extLst>
      <p:ext uri="{BB962C8B-B14F-4D97-AF65-F5344CB8AC3E}">
        <p14:creationId xmlns:p14="http://schemas.microsoft.com/office/powerpoint/2010/main" val="42355270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632F8-B71B-ACD4-5FA9-601766B07E62}"/>
              </a:ext>
            </a:extLst>
          </p:cNvPr>
          <p:cNvSpPr>
            <a:spLocks noGrp="1"/>
          </p:cNvSpPr>
          <p:nvPr>
            <p:ph type="title"/>
          </p:nvPr>
        </p:nvSpPr>
        <p:spPr/>
        <p:txBody>
          <a:bodyPr/>
          <a:lstStyle/>
          <a:p>
            <a:r>
              <a:rPr lang="en-US" dirty="0"/>
              <a:t>Sample size calculation</a:t>
            </a:r>
          </a:p>
        </p:txBody>
      </p:sp>
      <p:sp>
        <p:nvSpPr>
          <p:cNvPr id="3" name="Content Placeholder 2">
            <a:extLst>
              <a:ext uri="{FF2B5EF4-FFF2-40B4-BE49-F238E27FC236}">
                <a16:creationId xmlns:a16="http://schemas.microsoft.com/office/drawing/2014/main" id="{1E64E52F-E632-8CA2-7A2A-6E5AAE1C4F4A}"/>
              </a:ext>
            </a:extLst>
          </p:cNvPr>
          <p:cNvSpPr>
            <a:spLocks noGrp="1"/>
          </p:cNvSpPr>
          <p:nvPr>
            <p:ph idx="1"/>
          </p:nvPr>
        </p:nvSpPr>
        <p:spPr/>
        <p:txBody>
          <a:bodyPr/>
          <a:lstStyle/>
          <a:p>
            <a:r>
              <a:rPr lang="en-SG" dirty="0"/>
              <a:t>Qin X. (2024). Sample size and power calculations for causal mediation analysis: A Tutorial and Shiny App. </a:t>
            </a:r>
            <a:r>
              <a:rPr lang="en-SG" i="1" dirty="0" err="1"/>
              <a:t>Behavior</a:t>
            </a:r>
            <a:r>
              <a:rPr lang="en-SG" i="1" dirty="0"/>
              <a:t> research methods</a:t>
            </a:r>
            <a:r>
              <a:rPr lang="en-SG" dirty="0"/>
              <a:t>, </a:t>
            </a:r>
            <a:r>
              <a:rPr lang="en-SG" i="1" dirty="0"/>
              <a:t>56</a:t>
            </a:r>
            <a:r>
              <a:rPr lang="en-SG" dirty="0"/>
              <a:t>(3), 1738–1769. https://</a:t>
            </a:r>
            <a:r>
              <a:rPr lang="en-SG" dirty="0" err="1"/>
              <a:t>doi.org</a:t>
            </a:r>
            <a:r>
              <a:rPr lang="en-SG" dirty="0"/>
              <a:t>/10.3758/s13428-023-02118-0</a:t>
            </a:r>
            <a:endParaRPr lang="en-US" dirty="0"/>
          </a:p>
        </p:txBody>
      </p:sp>
      <p:sp>
        <p:nvSpPr>
          <p:cNvPr id="4" name="TextBox 3">
            <a:extLst>
              <a:ext uri="{FF2B5EF4-FFF2-40B4-BE49-F238E27FC236}">
                <a16:creationId xmlns:a16="http://schemas.microsoft.com/office/drawing/2014/main" id="{AA755BC7-5D32-07AF-74C6-FE6D7407868F}"/>
              </a:ext>
            </a:extLst>
          </p:cNvPr>
          <p:cNvSpPr txBox="1"/>
          <p:nvPr/>
        </p:nvSpPr>
        <p:spPr>
          <a:xfrm>
            <a:off x="0" y="0"/>
            <a:ext cx="7224889" cy="276999"/>
          </a:xfrm>
          <a:prstGeom prst="rect">
            <a:avLst/>
          </a:prstGeom>
          <a:noFill/>
        </p:spPr>
        <p:txBody>
          <a:bodyPr wrap="square" rtlCol="0">
            <a:spAutoFit/>
          </a:bodyPr>
          <a:lstStyle/>
          <a:p>
            <a:r>
              <a:rPr lang="en-SG" sz="1200" i="1" dirty="0">
                <a:solidFill>
                  <a:schemeClr val="bg1">
                    <a:lumMod val="65000"/>
                  </a:schemeClr>
                </a:solidFill>
                <a:latin typeface="Arial" panose="020B0604020202020204" pitchFamily="34" charset="0"/>
                <a:cs typeface="Arial" panose="020B0604020202020204" pitchFamily="34" charset="0"/>
              </a:rPr>
              <a:t>[Restricted] For workshop participants only, not for distribution.</a:t>
            </a:r>
          </a:p>
        </p:txBody>
      </p:sp>
    </p:spTree>
    <p:extLst>
      <p:ext uri="{BB962C8B-B14F-4D97-AF65-F5344CB8AC3E}">
        <p14:creationId xmlns:p14="http://schemas.microsoft.com/office/powerpoint/2010/main" val="3933678624"/>
      </p:ext>
    </p:extLst>
  </p:cSld>
  <p:clrMapOvr>
    <a:masterClrMapping/>
  </p:clrMapOvr>
</p:sld>
</file>

<file path=ppt/theme/theme1.xml><?xml version="1.0" encoding="utf-8"?>
<a:theme xmlns:a="http://schemas.openxmlformats.org/drawingml/2006/main" name="ClassicFrameVTI">
  <a:themeElements>
    <a:clrScheme name="AnalogousFromRegularSeed_2SEEDS">
      <a:dk1>
        <a:srgbClr val="000000"/>
      </a:dk1>
      <a:lt1>
        <a:srgbClr val="FFFFFF"/>
      </a:lt1>
      <a:dk2>
        <a:srgbClr val="3D2229"/>
      </a:dk2>
      <a:lt2>
        <a:srgbClr val="E2E5E8"/>
      </a:lt2>
      <a:accent1>
        <a:srgbClr val="D56A17"/>
      </a:accent1>
      <a:accent2>
        <a:srgbClr val="E72D29"/>
      </a:accent2>
      <a:accent3>
        <a:srgbClr val="B8A221"/>
      </a:accent3>
      <a:accent4>
        <a:srgbClr val="14B4A3"/>
      </a:accent4>
      <a:accent5>
        <a:srgbClr val="29ADE7"/>
      </a:accent5>
      <a:accent6>
        <a:srgbClr val="174CD5"/>
      </a:accent6>
      <a:hlink>
        <a:srgbClr val="3F87BF"/>
      </a:hlink>
      <a:folHlink>
        <a:srgbClr val="7F7F7F"/>
      </a:folHlink>
    </a:clrScheme>
    <a:fontScheme name="Goudy and Gill Sans">
      <a:majorFont>
        <a:latin typeface="Goudy Old Style"/>
        <a:ea typeface=""/>
        <a:cs typeface=""/>
      </a:majorFont>
      <a:minorFont>
        <a:latin typeface="Gill Sans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lassicFrameVTI" id="{4FA2A165-EC65-4FB0-B019-8C8876A1D8E3}" vid="{9D78F1F1-8226-42FD-A1A3-975EDF6D60F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4BDFA824D85604A8E50DCA297A539F1" ma:contentTypeVersion="4" ma:contentTypeDescription="Create a new document." ma:contentTypeScope="" ma:versionID="6c0253fcbbc1bca2ca18ec00a81c3e73">
  <xsd:schema xmlns:xsd="http://www.w3.org/2001/XMLSchema" xmlns:xs="http://www.w3.org/2001/XMLSchema" xmlns:p="http://schemas.microsoft.com/office/2006/metadata/properties" xmlns:ns3="880bcc39-10de-46a2-b64f-d28246ae6a33" targetNamespace="http://schemas.microsoft.com/office/2006/metadata/properties" ma:root="true" ma:fieldsID="a0806f2a899a0a8bc1077f2ffd56b8ab" ns3:_="">
    <xsd:import namespace="880bcc39-10de-46a2-b64f-d28246ae6a33"/>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80bcc39-10de-46a2-b64f-d28246ae6a3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64B2190-8B6B-4781-8A06-0DB78E04B214}">
  <ds:schemaRefs>
    <ds:schemaRef ds:uri="http://schemas.microsoft.com/sharepoint/v3/contenttype/forms"/>
  </ds:schemaRefs>
</ds:datastoreItem>
</file>

<file path=customXml/itemProps2.xml><?xml version="1.0" encoding="utf-8"?>
<ds:datastoreItem xmlns:ds="http://schemas.openxmlformats.org/officeDocument/2006/customXml" ds:itemID="{93056C37-8EEF-400B-B08B-BD1A5902AE0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80bcc39-10de-46a2-b64f-d28246ae6a3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C814FC2-552E-42A3-A45A-4E07A89E9555}">
  <ds:schemaRefs>
    <ds:schemaRef ds:uri="http://schemas.openxmlformats.org/package/2006/metadata/core-properties"/>
    <ds:schemaRef ds:uri="http://purl.org/dc/elements/1.1/"/>
    <ds:schemaRef ds:uri="http://purl.org/dc/dcmitype/"/>
    <ds:schemaRef ds:uri="http://purl.org/dc/terms/"/>
    <ds:schemaRef ds:uri="880bcc39-10de-46a2-b64f-d28246ae6a33"/>
    <ds:schemaRef ds:uri="http://schemas.microsoft.com/office/2006/documentManagement/types"/>
    <ds:schemaRef ds:uri="http://schemas.microsoft.com/office/infopath/2007/PartnerControls"/>
    <ds:schemaRef ds:uri="http://www.w3.org/XML/1998/namespace"/>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otalTime>8508</TotalTime>
  <Words>5719</Words>
  <Application>Microsoft Macintosh PowerPoint</Application>
  <PresentationFormat>Widescreen</PresentationFormat>
  <Paragraphs>362</Paragraphs>
  <Slides>34</Slides>
  <Notes>30</Notes>
  <HiddenSlides>7</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34</vt:i4>
      </vt:variant>
    </vt:vector>
  </HeadingPairs>
  <TitlesOfParts>
    <vt:vector size="49" baseType="lpstr">
      <vt:lpstr>BlinkMacSystemFont</vt:lpstr>
      <vt:lpstr>CenturyGothic</vt:lpstr>
      <vt:lpstr>Roboto Mono Web</vt:lpstr>
      <vt:lpstr>Times-Italic</vt:lpstr>
      <vt:lpstr>Times-Roman</vt:lpstr>
      <vt:lpstr>Arial</vt:lpstr>
      <vt:lpstr>Arial</vt:lpstr>
      <vt:lpstr>Avenir LT W01_45 Book1475508</vt:lpstr>
      <vt:lpstr>Calibri</vt:lpstr>
      <vt:lpstr>Cambria Math</vt:lpstr>
      <vt:lpstr>Gill Sans MT</vt:lpstr>
      <vt:lpstr>Goudy Old Style</vt:lpstr>
      <vt:lpstr>Segoe UI</vt:lpstr>
      <vt:lpstr>Times New Roman</vt:lpstr>
      <vt:lpstr>ClassicFrameVTI</vt:lpstr>
      <vt:lpstr>CAUSAL MEDIATION ANALYSIS</vt:lpstr>
      <vt:lpstr>disclosure</vt:lpstr>
      <vt:lpstr>Case study - BACKGROUND</vt:lpstr>
      <vt:lpstr>Case study - Aim</vt:lpstr>
      <vt:lpstr>Case study - Aim</vt:lpstr>
      <vt:lpstr>Case study - Aim</vt:lpstr>
      <vt:lpstr>WHY CAUSAL MEDIATION?</vt:lpstr>
      <vt:lpstr>WHY CAUSAL MEDIATION?</vt:lpstr>
      <vt:lpstr>WHAT WILL BE COVERED?</vt:lpstr>
      <vt:lpstr>CAUSAL MEDIATION ANALYSIS</vt:lpstr>
      <vt:lpstr>Case study - Aim</vt:lpstr>
      <vt:lpstr>STATISTICAL ANALYSIS</vt:lpstr>
      <vt:lpstr>LOAD DATA</vt:lpstr>
      <vt:lpstr>Directed acyclic graph</vt:lpstr>
      <vt:lpstr>PowerPoint Presentation</vt:lpstr>
      <vt:lpstr>RUN MEDIATION PACKAGE</vt:lpstr>
      <vt:lpstr>PowerPoint Presentation</vt:lpstr>
      <vt:lpstr>Mediation (continuous outcome)</vt:lpstr>
      <vt:lpstr>Treatment-mediator interaction</vt:lpstr>
      <vt:lpstr>PowerPoint Presentation</vt:lpstr>
      <vt:lpstr>Counterfactual theory</vt:lpstr>
      <vt:lpstr>Counterfactual theory</vt:lpstr>
      <vt:lpstr>Mediation (binary outcome)</vt:lpstr>
      <vt:lpstr>Mediation (binary outcome)</vt:lpstr>
      <vt:lpstr>PowerPoint Presentation</vt:lpstr>
      <vt:lpstr>PowerPoint Presentation</vt:lpstr>
      <vt:lpstr>CASUAL INTERPRETATION ASSUMPTIONS</vt:lpstr>
      <vt:lpstr>Sensitivity testing for  sequential ignorability</vt:lpstr>
      <vt:lpstr>OTHER ASSUMPTIONS</vt:lpstr>
      <vt:lpstr>some examples</vt:lpstr>
      <vt:lpstr>Thank you.</vt:lpstr>
      <vt:lpstr>Traditional approaches</vt:lpstr>
      <vt:lpstr>PowerPoint Presentation</vt:lpstr>
      <vt:lpstr>Sample size calculation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Sharon Tan</dc:creator>
  <cp:lastModifiedBy>Sharon Tan</cp:lastModifiedBy>
  <cp:revision>44</cp:revision>
  <dcterms:created xsi:type="dcterms:W3CDTF">2022-05-06T09:00:04Z</dcterms:created>
  <dcterms:modified xsi:type="dcterms:W3CDTF">2026-03-20T15:27:20Z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0x01010004BDFA824D85604A8E50DCA297A539F1</vt:lpwstr>
  </property>
</Properties>
</file>